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embeddedFontLst>
    <p:embeddedFont>
      <p:font typeface="Arial Unicode MS" panose="02020500000000000000" charset="-120"/>
      <p:regular r:id="rId32"/>
    </p:embeddedFont>
    <p:embeddedFont>
      <p:font typeface="Bookman Old Style" panose="02050604050505020204" pitchFamily="18" charset="0"/>
      <p:regular r:id="rId33"/>
      <p:bold r:id="rId34"/>
      <p:italic r:id="rId35"/>
      <p:boldItalic r:id="rId36"/>
    </p:embeddedFont>
    <p:embeddedFont>
      <p:font typeface="Calibri" panose="020F0502020204030204" pitchFamily="34" charset="0"/>
      <p:regular r:id="rId37"/>
      <p:bold r:id="rId38"/>
      <p:italic r:id="rId39"/>
      <p:boldItalic r:id="rId40"/>
    </p:embeddedFont>
    <p:embeddedFont>
      <p:font typeface="Libre Franklin"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gYxiPYAMW7hTqxA/DgoCo8ETnU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93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customschemas.google.com/relationships/presentationmetadata" Target="metadata"/><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zh-TW"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標題投影片" type="title">
  <p:cSld name="TITLE">
    <p:spTree>
      <p:nvGrpSpPr>
        <p:cNvPr id="1" name="Shape 17"/>
        <p:cNvGrpSpPr/>
        <p:nvPr/>
      </p:nvGrpSpPr>
      <p:grpSpPr>
        <a:xfrm>
          <a:off x="0" y="0"/>
          <a:ext cx="0" cy="0"/>
          <a:chOff x="0" y="0"/>
          <a:chExt cx="0" cy="0"/>
        </a:xfrm>
      </p:grpSpPr>
      <p:sp>
        <p:nvSpPr>
          <p:cNvPr id="18" name="Google Shape;18;p23"/>
          <p:cNvSpPr/>
          <p:nvPr/>
        </p:nvSpPr>
        <p:spPr>
          <a:xfrm>
            <a:off x="3175" y="6400800"/>
            <a:ext cx="12188825" cy="457200"/>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3"/>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262626"/>
              </a:buClr>
              <a:buSzPts val="8000"/>
              <a:buFont typeface="MingLiu"/>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23"/>
          <p:cNvSpPr txBox="1">
            <a:spLocks noGrp="1"/>
          </p:cNvSpPr>
          <p:nvPr>
            <p:ph type="subTitle" idx="1"/>
          </p:nvPr>
        </p:nvSpPr>
        <p:spPr>
          <a:xfrm>
            <a:off x="1100051" y="4645152"/>
            <a:ext cx="10058400" cy="1143000"/>
          </a:xfrm>
          <a:prstGeom prst="rect">
            <a:avLst/>
          </a:prstGeom>
          <a:noFill/>
          <a:ln>
            <a:noFill/>
          </a:ln>
        </p:spPr>
        <p:txBody>
          <a:bodyPr spcFirstLastPara="1" wrap="square" lIns="91425" tIns="45700" rIns="91425" bIns="45700" anchor="t" anchorCtr="0">
            <a:normAutofit/>
          </a:bodyPr>
          <a:lstStyle>
            <a:lvl1pPr lvl="0" algn="l">
              <a:lnSpc>
                <a:spcPct val="110000"/>
              </a:lnSpc>
              <a:spcBef>
                <a:spcPts val="1200"/>
              </a:spcBef>
              <a:spcAft>
                <a:spcPts val="0"/>
              </a:spcAft>
              <a:buSzPts val="2400"/>
              <a:buNone/>
              <a:defRPr sz="2400" cap="none">
                <a:solidFill>
                  <a:schemeClr val="dk1"/>
                </a:solidFill>
                <a:latin typeface="Libre Franklin"/>
                <a:ea typeface="Libre Franklin"/>
                <a:cs typeface="Libre Franklin"/>
                <a:sym typeface="Libre Franklin"/>
              </a:defRPr>
            </a:lvl1pPr>
            <a:lvl2pPr lvl="1" algn="ctr">
              <a:lnSpc>
                <a:spcPct val="100000"/>
              </a:lnSpc>
              <a:spcBef>
                <a:spcPts val="200"/>
              </a:spcBef>
              <a:spcAft>
                <a:spcPts val="0"/>
              </a:spcAft>
              <a:buClr>
                <a:srgbClr val="3F3F3F"/>
              </a:buClr>
              <a:buSzPts val="2400"/>
              <a:buNone/>
              <a:defRPr sz="2400"/>
            </a:lvl2pPr>
            <a:lvl3pPr lvl="2" algn="ctr">
              <a:lnSpc>
                <a:spcPct val="100000"/>
              </a:lnSpc>
              <a:spcBef>
                <a:spcPts val="400"/>
              </a:spcBef>
              <a:spcAft>
                <a:spcPts val="0"/>
              </a:spcAft>
              <a:buClr>
                <a:srgbClr val="3F3F3F"/>
              </a:buClr>
              <a:buSzPts val="2400"/>
              <a:buNone/>
              <a:defRPr sz="2400"/>
            </a:lvl3pPr>
            <a:lvl4pPr lvl="3" algn="ctr">
              <a:lnSpc>
                <a:spcPct val="100000"/>
              </a:lnSpc>
              <a:spcBef>
                <a:spcPts val="400"/>
              </a:spcBef>
              <a:spcAft>
                <a:spcPts val="0"/>
              </a:spcAft>
              <a:buClr>
                <a:srgbClr val="3F3F3F"/>
              </a:buClr>
              <a:buSzPts val="2000"/>
              <a:buNone/>
              <a:defRPr sz="2000"/>
            </a:lvl4pPr>
            <a:lvl5pPr lvl="4" algn="ctr">
              <a:lnSpc>
                <a:spcPct val="100000"/>
              </a:lnSpc>
              <a:spcBef>
                <a:spcPts val="400"/>
              </a:spcBef>
              <a:spcAft>
                <a:spcPts val="0"/>
              </a:spcAft>
              <a:buClr>
                <a:srgbClr val="3F3F3F"/>
              </a:buClr>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cxnSp>
        <p:nvCxnSpPr>
          <p:cNvPr id="21" name="Google Shape;21;p23"/>
          <p:cNvCxnSpPr/>
          <p:nvPr/>
        </p:nvCxnSpPr>
        <p:spPr>
          <a:xfrm>
            <a:off x="1207658" y="4474741"/>
            <a:ext cx="9875520" cy="0"/>
          </a:xfrm>
          <a:prstGeom prst="straightConnector1">
            <a:avLst/>
          </a:prstGeom>
          <a:noFill/>
          <a:ln w="12700" cap="flat" cmpd="sng">
            <a:solidFill>
              <a:srgbClr val="3F3F3F"/>
            </a:solidFill>
            <a:prstDash val="solid"/>
            <a:round/>
            <a:headEnd type="none" w="sm" len="sm"/>
            <a:tailEnd type="none" w="sm" len="sm"/>
          </a:ln>
        </p:spPr>
      </p:cxnSp>
      <p:sp>
        <p:nvSpPr>
          <p:cNvPr id="22" name="Google Shape;22;p23"/>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3"/>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3"/>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標題及內容" type="obj">
  <p:cSld name="OBJECT">
    <p:spTree>
      <p:nvGrpSpPr>
        <p:cNvPr id="1" name="Shape 25"/>
        <p:cNvGrpSpPr/>
        <p:nvPr/>
      </p:nvGrpSpPr>
      <p:grpSpPr>
        <a:xfrm>
          <a:off x="0" y="0"/>
          <a:ext cx="0" cy="0"/>
          <a:chOff x="0" y="0"/>
          <a:chExt cx="0" cy="0"/>
        </a:xfrm>
      </p:grpSpPr>
      <p:sp>
        <p:nvSpPr>
          <p:cNvPr id="26" name="Google Shape;26;p2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4"/>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8" name="Google Shape;28;p24"/>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4"/>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4"/>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只有標題" type="titleOnly">
  <p:cSld name="TITLE_ONLY">
    <p:spTree>
      <p:nvGrpSpPr>
        <p:cNvPr id="1" name="Shape 31"/>
        <p:cNvGrpSpPr/>
        <p:nvPr/>
      </p:nvGrpSpPr>
      <p:grpSpPr>
        <a:xfrm>
          <a:off x="0" y="0"/>
          <a:ext cx="0" cy="0"/>
          <a:chOff x="0" y="0"/>
          <a:chExt cx="0" cy="0"/>
        </a:xfrm>
      </p:grpSpPr>
      <p:sp>
        <p:nvSpPr>
          <p:cNvPr id="32" name="Google Shape;32;p2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5"/>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章節標題" type="secHead">
  <p:cSld name="SECTION_HEADER">
    <p:bg>
      <p:bgPr>
        <a:solidFill>
          <a:schemeClr val="lt1"/>
        </a:solidFill>
        <a:effectLst/>
      </p:bgPr>
    </p:bg>
    <p:spTree>
      <p:nvGrpSpPr>
        <p:cNvPr id="1" name="Shape 36"/>
        <p:cNvGrpSpPr/>
        <p:nvPr/>
      </p:nvGrpSpPr>
      <p:grpSpPr>
        <a:xfrm>
          <a:off x="0" y="0"/>
          <a:ext cx="0" cy="0"/>
          <a:chOff x="0" y="0"/>
          <a:chExt cx="0" cy="0"/>
        </a:xfrm>
      </p:grpSpPr>
      <p:sp>
        <p:nvSpPr>
          <p:cNvPr id="37" name="Google Shape;37;p26"/>
          <p:cNvSpPr/>
          <p:nvPr/>
        </p:nvSpPr>
        <p:spPr>
          <a:xfrm>
            <a:off x="3175" y="6400800"/>
            <a:ext cx="12188825" cy="457200"/>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6"/>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262626"/>
              </a:buClr>
              <a:buSzPts val="8000"/>
              <a:buFont typeface="MingLiu"/>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6"/>
          <p:cNvSpPr txBox="1">
            <a:spLocks noGrp="1"/>
          </p:cNvSpPr>
          <p:nvPr>
            <p:ph type="body" idx="1"/>
          </p:nvPr>
        </p:nvSpPr>
        <p:spPr>
          <a:xfrm>
            <a:off x="1097280" y="4663440"/>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200"/>
              </a:spcBef>
              <a:spcAft>
                <a:spcPts val="0"/>
              </a:spcAft>
              <a:buSzPts val="2400"/>
              <a:buNone/>
              <a:defRPr sz="2400" cap="none">
                <a:solidFill>
                  <a:schemeClr val="dk1"/>
                </a:solidFill>
                <a:latin typeface="Libre Franklin"/>
                <a:ea typeface="Libre Franklin"/>
                <a:cs typeface="Libre Franklin"/>
                <a:sym typeface="Libre Franklin"/>
              </a:defRPr>
            </a:lvl1pPr>
            <a:lvl2pPr marL="914400" lvl="1" indent="-228600" algn="l">
              <a:lnSpc>
                <a:spcPct val="100000"/>
              </a:lnSpc>
              <a:spcBef>
                <a:spcPts val="200"/>
              </a:spcBef>
              <a:spcAft>
                <a:spcPts val="0"/>
              </a:spcAft>
              <a:buClr>
                <a:srgbClr val="888888"/>
              </a:buClr>
              <a:buSzPts val="1800"/>
              <a:buNone/>
              <a:defRPr sz="1800">
                <a:solidFill>
                  <a:srgbClr val="888888"/>
                </a:solidFill>
              </a:defRPr>
            </a:lvl2pPr>
            <a:lvl3pPr marL="1371600" lvl="2" indent="-228600" algn="l">
              <a:lnSpc>
                <a:spcPct val="100000"/>
              </a:lnSpc>
              <a:spcBef>
                <a:spcPts val="400"/>
              </a:spcBef>
              <a:spcAft>
                <a:spcPts val="0"/>
              </a:spcAft>
              <a:buClr>
                <a:srgbClr val="888888"/>
              </a:buClr>
              <a:buSzPts val="1600"/>
              <a:buNone/>
              <a:defRPr sz="1600">
                <a:solidFill>
                  <a:srgbClr val="888888"/>
                </a:solidFill>
              </a:defRPr>
            </a:lvl3pPr>
            <a:lvl4pPr marL="1828800" lvl="3" indent="-228600" algn="l">
              <a:lnSpc>
                <a:spcPct val="100000"/>
              </a:lnSpc>
              <a:spcBef>
                <a:spcPts val="400"/>
              </a:spcBef>
              <a:spcAft>
                <a:spcPts val="0"/>
              </a:spcAft>
              <a:buClr>
                <a:srgbClr val="888888"/>
              </a:buClr>
              <a:buSzPts val="1400"/>
              <a:buNone/>
              <a:defRPr sz="1400">
                <a:solidFill>
                  <a:srgbClr val="888888"/>
                </a:solidFill>
              </a:defRPr>
            </a:lvl4pPr>
            <a:lvl5pPr marL="2286000" lvl="4" indent="-228600" algn="l">
              <a:lnSpc>
                <a:spcPct val="100000"/>
              </a:lnSpc>
              <a:spcBef>
                <a:spcPts val="400"/>
              </a:spcBef>
              <a:spcAft>
                <a:spcPts val="0"/>
              </a:spcAft>
              <a:buClr>
                <a:srgbClr val="888888"/>
              </a:buClr>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cxnSp>
        <p:nvCxnSpPr>
          <p:cNvPr id="40" name="Google Shape;40;p26"/>
          <p:cNvCxnSpPr/>
          <p:nvPr/>
        </p:nvCxnSpPr>
        <p:spPr>
          <a:xfrm>
            <a:off x="1207658" y="4485132"/>
            <a:ext cx="9875520" cy="0"/>
          </a:xfrm>
          <a:prstGeom prst="straightConnector1">
            <a:avLst/>
          </a:prstGeom>
          <a:noFill/>
          <a:ln w="12700" cap="flat" cmpd="sng">
            <a:solidFill>
              <a:srgbClr val="3F3F3F"/>
            </a:solidFill>
            <a:prstDash val="solid"/>
            <a:round/>
            <a:headEnd type="none" w="sm" len="sm"/>
            <a:tailEnd type="none" w="sm" len="sm"/>
          </a:ln>
        </p:spPr>
      </p:cxnSp>
      <p:sp>
        <p:nvSpPr>
          <p:cNvPr id="41" name="Google Shape;41;p26"/>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6"/>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兩項內容" type="twoObj">
  <p:cSld name="TWO_OBJECTS">
    <p:spTree>
      <p:nvGrpSpPr>
        <p:cNvPr id="1" name="Shape 44"/>
        <p:cNvGrpSpPr/>
        <p:nvPr/>
      </p:nvGrpSpPr>
      <p:grpSpPr>
        <a:xfrm>
          <a:off x="0" y="0"/>
          <a:ext cx="0" cy="0"/>
          <a:chOff x="0" y="0"/>
          <a:chExt cx="0" cy="0"/>
        </a:xfrm>
      </p:grpSpPr>
      <p:sp>
        <p:nvSpPr>
          <p:cNvPr id="45" name="Google Shape;45;p2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7"/>
          <p:cNvSpPr txBox="1">
            <a:spLocks noGrp="1"/>
          </p:cNvSpPr>
          <p:nvPr>
            <p:ph type="body" idx="1"/>
          </p:nvPr>
        </p:nvSpPr>
        <p:spPr>
          <a:xfrm>
            <a:off x="1097280" y="2120900"/>
            <a:ext cx="4639736" cy="3748193"/>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7" name="Google Shape;47;p27"/>
          <p:cNvSpPr txBox="1">
            <a:spLocks noGrp="1"/>
          </p:cNvSpPr>
          <p:nvPr>
            <p:ph type="body" idx="2"/>
          </p:nvPr>
        </p:nvSpPr>
        <p:spPr>
          <a:xfrm>
            <a:off x="6515944" y="2120900"/>
            <a:ext cx="4639736" cy="3748194"/>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8" name="Google Shape;48;p27"/>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7"/>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51"/>
        <p:cNvGrpSpPr/>
        <p:nvPr/>
      </p:nvGrpSpPr>
      <p:grpSpPr>
        <a:xfrm>
          <a:off x="0" y="0"/>
          <a:ext cx="0" cy="0"/>
          <a:chOff x="0" y="0"/>
          <a:chExt cx="0" cy="0"/>
        </a:xfrm>
      </p:grpSpPr>
      <p:sp>
        <p:nvSpPr>
          <p:cNvPr id="52" name="Google Shape;52;p2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8"/>
          <p:cNvSpPr txBox="1">
            <a:spLocks noGrp="1"/>
          </p:cNvSpPr>
          <p:nvPr>
            <p:ph type="body" idx="1"/>
          </p:nvPr>
        </p:nvSpPr>
        <p:spPr>
          <a:xfrm>
            <a:off x="1097280" y="2057400"/>
            <a:ext cx="4639736"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110000"/>
              </a:lnSpc>
              <a:spcBef>
                <a:spcPts val="1200"/>
              </a:spcBef>
              <a:spcAft>
                <a:spcPts val="0"/>
              </a:spcAft>
              <a:buSzPts val="2000"/>
              <a:buNone/>
              <a:defRPr sz="2000" b="0" cap="none">
                <a:solidFill>
                  <a:schemeClr val="dk1"/>
                </a:solidFill>
              </a:defRPr>
            </a:lvl1pPr>
            <a:lvl2pPr marL="914400" lvl="1" indent="-228600" algn="l">
              <a:lnSpc>
                <a:spcPct val="100000"/>
              </a:lnSpc>
              <a:spcBef>
                <a:spcPts val="200"/>
              </a:spcBef>
              <a:spcAft>
                <a:spcPts val="0"/>
              </a:spcAft>
              <a:buClr>
                <a:srgbClr val="3F3F3F"/>
              </a:buClr>
              <a:buSzPts val="2000"/>
              <a:buNone/>
              <a:defRPr sz="2000" b="1"/>
            </a:lvl2pPr>
            <a:lvl3pPr marL="1371600" lvl="2" indent="-228600" algn="l">
              <a:lnSpc>
                <a:spcPct val="100000"/>
              </a:lnSpc>
              <a:spcBef>
                <a:spcPts val="400"/>
              </a:spcBef>
              <a:spcAft>
                <a:spcPts val="0"/>
              </a:spcAft>
              <a:buClr>
                <a:srgbClr val="3F3F3F"/>
              </a:buClr>
              <a:buSzPts val="1800"/>
              <a:buNone/>
              <a:defRPr sz="1800" b="1"/>
            </a:lvl3pPr>
            <a:lvl4pPr marL="1828800" lvl="3" indent="-228600" algn="l">
              <a:lnSpc>
                <a:spcPct val="100000"/>
              </a:lnSpc>
              <a:spcBef>
                <a:spcPts val="400"/>
              </a:spcBef>
              <a:spcAft>
                <a:spcPts val="0"/>
              </a:spcAft>
              <a:buClr>
                <a:srgbClr val="3F3F3F"/>
              </a:buClr>
              <a:buSzPts val="1600"/>
              <a:buNone/>
              <a:defRPr sz="1600" b="1"/>
            </a:lvl4pPr>
            <a:lvl5pPr marL="2286000" lvl="4" indent="-228600" algn="l">
              <a:lnSpc>
                <a:spcPct val="100000"/>
              </a:lnSpc>
              <a:spcBef>
                <a:spcPts val="400"/>
              </a:spcBef>
              <a:spcAft>
                <a:spcPts val="0"/>
              </a:spcAft>
              <a:buClr>
                <a:srgbClr val="3F3F3F"/>
              </a:buClr>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4" name="Google Shape;54;p28"/>
          <p:cNvSpPr txBox="1">
            <a:spLocks noGrp="1"/>
          </p:cNvSpPr>
          <p:nvPr>
            <p:ph type="body" idx="2"/>
          </p:nvPr>
        </p:nvSpPr>
        <p:spPr>
          <a:xfrm>
            <a:off x="1097280" y="2958274"/>
            <a:ext cx="4639736" cy="2910821"/>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5" name="Google Shape;55;p28"/>
          <p:cNvSpPr txBox="1">
            <a:spLocks noGrp="1"/>
          </p:cNvSpPr>
          <p:nvPr>
            <p:ph type="body" idx="3"/>
          </p:nvPr>
        </p:nvSpPr>
        <p:spPr>
          <a:xfrm>
            <a:off x="6515944" y="2057400"/>
            <a:ext cx="4639736"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110000"/>
              </a:lnSpc>
              <a:spcBef>
                <a:spcPts val="1200"/>
              </a:spcBef>
              <a:spcAft>
                <a:spcPts val="0"/>
              </a:spcAft>
              <a:buSzPts val="2000"/>
              <a:buNone/>
              <a:defRPr sz="2000" b="0" cap="none">
                <a:solidFill>
                  <a:schemeClr val="dk1"/>
                </a:solidFill>
              </a:defRPr>
            </a:lvl1pPr>
            <a:lvl2pPr marL="914400" lvl="1" indent="-228600" algn="l">
              <a:lnSpc>
                <a:spcPct val="100000"/>
              </a:lnSpc>
              <a:spcBef>
                <a:spcPts val="200"/>
              </a:spcBef>
              <a:spcAft>
                <a:spcPts val="0"/>
              </a:spcAft>
              <a:buClr>
                <a:srgbClr val="3F3F3F"/>
              </a:buClr>
              <a:buSzPts val="2000"/>
              <a:buNone/>
              <a:defRPr sz="2000" b="1"/>
            </a:lvl2pPr>
            <a:lvl3pPr marL="1371600" lvl="2" indent="-228600" algn="l">
              <a:lnSpc>
                <a:spcPct val="100000"/>
              </a:lnSpc>
              <a:spcBef>
                <a:spcPts val="400"/>
              </a:spcBef>
              <a:spcAft>
                <a:spcPts val="0"/>
              </a:spcAft>
              <a:buClr>
                <a:srgbClr val="3F3F3F"/>
              </a:buClr>
              <a:buSzPts val="1800"/>
              <a:buNone/>
              <a:defRPr sz="1800" b="1"/>
            </a:lvl3pPr>
            <a:lvl4pPr marL="1828800" lvl="3" indent="-228600" algn="l">
              <a:lnSpc>
                <a:spcPct val="100000"/>
              </a:lnSpc>
              <a:spcBef>
                <a:spcPts val="400"/>
              </a:spcBef>
              <a:spcAft>
                <a:spcPts val="0"/>
              </a:spcAft>
              <a:buClr>
                <a:srgbClr val="3F3F3F"/>
              </a:buClr>
              <a:buSzPts val="1600"/>
              <a:buNone/>
              <a:defRPr sz="1600" b="1"/>
            </a:lvl4pPr>
            <a:lvl5pPr marL="2286000" lvl="4" indent="-228600" algn="l">
              <a:lnSpc>
                <a:spcPct val="100000"/>
              </a:lnSpc>
              <a:spcBef>
                <a:spcPts val="400"/>
              </a:spcBef>
              <a:spcAft>
                <a:spcPts val="0"/>
              </a:spcAft>
              <a:buClr>
                <a:srgbClr val="3F3F3F"/>
              </a:buClr>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6" name="Google Shape;56;p28"/>
          <p:cNvSpPr txBox="1">
            <a:spLocks noGrp="1"/>
          </p:cNvSpPr>
          <p:nvPr>
            <p:ph type="body" idx="4"/>
          </p:nvPr>
        </p:nvSpPr>
        <p:spPr>
          <a:xfrm>
            <a:off x="6515944" y="2958273"/>
            <a:ext cx="4639736" cy="2910821"/>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7" name="Google Shape;57;p28"/>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8"/>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8"/>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空白" type="blank">
  <p:cSld name="BLANK">
    <p:spTree>
      <p:nvGrpSpPr>
        <p:cNvPr id="1" name="Shape 60"/>
        <p:cNvGrpSpPr/>
        <p:nvPr/>
      </p:nvGrpSpPr>
      <p:grpSpPr>
        <a:xfrm>
          <a:off x="0" y="0"/>
          <a:ext cx="0" cy="0"/>
          <a:chOff x="0" y="0"/>
          <a:chExt cx="0" cy="0"/>
        </a:xfrm>
      </p:grpSpPr>
      <p:sp>
        <p:nvSpPr>
          <p:cNvPr id="61" name="Google Shape;61;p29"/>
          <p:cNvSpPr/>
          <p:nvPr/>
        </p:nvSpPr>
        <p:spPr>
          <a:xfrm>
            <a:off x="3175" y="6400800"/>
            <a:ext cx="12188825" cy="457200"/>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9"/>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9"/>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9"/>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含標題的內容" type="objTx">
  <p:cSld name="OBJECT_WITH_CAPTION_TEXT">
    <p:spTree>
      <p:nvGrpSpPr>
        <p:cNvPr id="1" name="Shape 65"/>
        <p:cNvGrpSpPr/>
        <p:nvPr/>
      </p:nvGrpSpPr>
      <p:grpSpPr>
        <a:xfrm>
          <a:off x="0" y="0"/>
          <a:ext cx="0" cy="0"/>
          <a:chOff x="0" y="0"/>
          <a:chExt cx="0" cy="0"/>
        </a:xfrm>
      </p:grpSpPr>
      <p:sp>
        <p:nvSpPr>
          <p:cNvPr id="66" name="Google Shape;66;p30"/>
          <p:cNvSpPr/>
          <p:nvPr/>
        </p:nvSpPr>
        <p:spPr>
          <a:xfrm>
            <a:off x="16" y="0"/>
            <a:ext cx="4654296" cy="6858000"/>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0"/>
          <p:cNvSpPr txBox="1">
            <a:spLocks noGrp="1"/>
          </p:cNvSpPr>
          <p:nvPr>
            <p:ph type="title"/>
          </p:nvPr>
        </p:nvSpPr>
        <p:spPr>
          <a:xfrm>
            <a:off x="643466" y="786383"/>
            <a:ext cx="3517567" cy="2093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FFFF"/>
              </a:buClr>
              <a:buSzPts val="3600"/>
              <a:buFont typeface="MingLiu"/>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30"/>
          <p:cNvSpPr txBox="1">
            <a:spLocks noGrp="1"/>
          </p:cNvSpPr>
          <p:nvPr>
            <p:ph type="body" idx="1"/>
          </p:nvPr>
        </p:nvSpPr>
        <p:spPr>
          <a:xfrm>
            <a:off x="5458984" y="812799"/>
            <a:ext cx="5928344" cy="5294757"/>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9" name="Google Shape;69;p30"/>
          <p:cNvSpPr txBox="1">
            <a:spLocks noGrp="1"/>
          </p:cNvSpPr>
          <p:nvPr>
            <p:ph type="body" idx="2"/>
          </p:nvPr>
        </p:nvSpPr>
        <p:spPr>
          <a:xfrm>
            <a:off x="643465" y="3043050"/>
            <a:ext cx="3517567" cy="3064505"/>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200"/>
              </a:spcBef>
              <a:spcAft>
                <a:spcPts val="0"/>
              </a:spcAft>
              <a:buSzPts val="1800"/>
              <a:buNone/>
              <a:defRPr sz="1800">
                <a:solidFill>
                  <a:srgbClr val="FFFFFF"/>
                </a:solidFill>
              </a:defRPr>
            </a:lvl1pPr>
            <a:lvl2pPr marL="914400" lvl="1" indent="-228600" algn="l">
              <a:lnSpc>
                <a:spcPct val="100000"/>
              </a:lnSpc>
              <a:spcBef>
                <a:spcPts val="200"/>
              </a:spcBef>
              <a:spcAft>
                <a:spcPts val="0"/>
              </a:spcAft>
              <a:buClr>
                <a:srgbClr val="3F3F3F"/>
              </a:buClr>
              <a:buSzPts val="1200"/>
              <a:buNone/>
              <a:defRPr sz="1200"/>
            </a:lvl2pPr>
            <a:lvl3pPr marL="1371600" lvl="2" indent="-228600" algn="l">
              <a:lnSpc>
                <a:spcPct val="100000"/>
              </a:lnSpc>
              <a:spcBef>
                <a:spcPts val="400"/>
              </a:spcBef>
              <a:spcAft>
                <a:spcPts val="0"/>
              </a:spcAft>
              <a:buClr>
                <a:srgbClr val="3F3F3F"/>
              </a:buClr>
              <a:buSzPts val="1000"/>
              <a:buNone/>
              <a:defRPr sz="1000"/>
            </a:lvl3pPr>
            <a:lvl4pPr marL="1828800" lvl="3" indent="-228600" algn="l">
              <a:lnSpc>
                <a:spcPct val="100000"/>
              </a:lnSpc>
              <a:spcBef>
                <a:spcPts val="400"/>
              </a:spcBef>
              <a:spcAft>
                <a:spcPts val="0"/>
              </a:spcAft>
              <a:buClr>
                <a:srgbClr val="3F3F3F"/>
              </a:buClr>
              <a:buSzPts val="900"/>
              <a:buNone/>
              <a:defRPr sz="900"/>
            </a:lvl4pPr>
            <a:lvl5pPr marL="2286000" lvl="4" indent="-228600" algn="l">
              <a:lnSpc>
                <a:spcPct val="100000"/>
              </a:lnSpc>
              <a:spcBef>
                <a:spcPts val="400"/>
              </a:spcBef>
              <a:spcAft>
                <a:spcPts val="0"/>
              </a:spcAft>
              <a:buClr>
                <a:srgbClr val="3F3F3F"/>
              </a:buClr>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0" name="Google Shape;70;p30"/>
          <p:cNvSpPr txBox="1">
            <a:spLocks noGrp="1"/>
          </p:cNvSpPr>
          <p:nvPr>
            <p:ph type="dt" idx="10"/>
          </p:nvPr>
        </p:nvSpPr>
        <p:spPr>
          <a:xfrm>
            <a:off x="643464" y="6446520"/>
            <a:ext cx="351756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0"/>
          <p:cNvSpPr txBox="1">
            <a:spLocks noGrp="1"/>
          </p:cNvSpPr>
          <p:nvPr>
            <p:ph type="ftr" idx="11"/>
          </p:nvPr>
        </p:nvSpPr>
        <p:spPr>
          <a:xfrm>
            <a:off x="5458983" y="6446520"/>
            <a:ext cx="533401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0"/>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a:spcBef>
                <a:spcPts val="0"/>
              </a:spcBef>
              <a:buNone/>
              <a:defRPr sz="800">
                <a:solidFill>
                  <a:schemeClr val="dk2"/>
                </a:solidFill>
                <a:latin typeface="Arial"/>
                <a:ea typeface="Arial"/>
                <a:cs typeface="Arial"/>
                <a:sym typeface="Arial"/>
              </a:defRPr>
            </a:lvl1pPr>
            <a:lvl2pPr marL="0" marR="0" lvl="1" indent="0" algn="l">
              <a:spcBef>
                <a:spcPts val="0"/>
              </a:spcBef>
              <a:buNone/>
              <a:defRPr sz="800">
                <a:solidFill>
                  <a:schemeClr val="dk2"/>
                </a:solidFill>
                <a:latin typeface="Arial"/>
                <a:ea typeface="Arial"/>
                <a:cs typeface="Arial"/>
                <a:sym typeface="Arial"/>
              </a:defRPr>
            </a:lvl2pPr>
            <a:lvl3pPr marL="0" marR="0" lvl="2" indent="0" algn="l">
              <a:spcBef>
                <a:spcPts val="0"/>
              </a:spcBef>
              <a:buNone/>
              <a:defRPr sz="800">
                <a:solidFill>
                  <a:schemeClr val="dk2"/>
                </a:solidFill>
                <a:latin typeface="Arial"/>
                <a:ea typeface="Arial"/>
                <a:cs typeface="Arial"/>
                <a:sym typeface="Arial"/>
              </a:defRPr>
            </a:lvl3pPr>
            <a:lvl4pPr marL="0" marR="0" lvl="3" indent="0" algn="l">
              <a:spcBef>
                <a:spcPts val="0"/>
              </a:spcBef>
              <a:buNone/>
              <a:defRPr sz="800">
                <a:solidFill>
                  <a:schemeClr val="dk2"/>
                </a:solidFill>
                <a:latin typeface="Arial"/>
                <a:ea typeface="Arial"/>
                <a:cs typeface="Arial"/>
                <a:sym typeface="Arial"/>
              </a:defRPr>
            </a:lvl4pPr>
            <a:lvl5pPr marL="0" marR="0" lvl="4" indent="0" algn="l">
              <a:spcBef>
                <a:spcPts val="0"/>
              </a:spcBef>
              <a:buNone/>
              <a:defRPr sz="800">
                <a:solidFill>
                  <a:schemeClr val="dk2"/>
                </a:solidFill>
                <a:latin typeface="Arial"/>
                <a:ea typeface="Arial"/>
                <a:cs typeface="Arial"/>
                <a:sym typeface="Arial"/>
              </a:defRPr>
            </a:lvl5pPr>
            <a:lvl6pPr marL="0" marR="0" lvl="5" indent="0" algn="l">
              <a:spcBef>
                <a:spcPts val="0"/>
              </a:spcBef>
              <a:buNone/>
              <a:defRPr sz="800">
                <a:solidFill>
                  <a:schemeClr val="dk2"/>
                </a:solidFill>
                <a:latin typeface="Arial"/>
                <a:ea typeface="Arial"/>
                <a:cs typeface="Arial"/>
                <a:sym typeface="Arial"/>
              </a:defRPr>
            </a:lvl6pPr>
            <a:lvl7pPr marL="0" marR="0" lvl="6" indent="0" algn="l">
              <a:spcBef>
                <a:spcPts val="0"/>
              </a:spcBef>
              <a:buNone/>
              <a:defRPr sz="800">
                <a:solidFill>
                  <a:schemeClr val="dk2"/>
                </a:solidFill>
                <a:latin typeface="Arial"/>
                <a:ea typeface="Arial"/>
                <a:cs typeface="Arial"/>
                <a:sym typeface="Arial"/>
              </a:defRPr>
            </a:lvl7pPr>
            <a:lvl8pPr marL="0" marR="0" lvl="7" indent="0" algn="l">
              <a:spcBef>
                <a:spcPts val="0"/>
              </a:spcBef>
              <a:buNone/>
              <a:defRPr sz="800">
                <a:solidFill>
                  <a:schemeClr val="dk2"/>
                </a:solidFill>
                <a:latin typeface="Arial"/>
                <a:ea typeface="Arial"/>
                <a:cs typeface="Arial"/>
                <a:sym typeface="Arial"/>
              </a:defRPr>
            </a:lvl8pPr>
            <a:lvl9pPr marL="0" marR="0" lvl="8" indent="0" algn="l">
              <a:spcBef>
                <a:spcPts val="0"/>
              </a:spcBef>
              <a:buNone/>
              <a:defRPr sz="800">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含標題的圖片" type="picTx">
  <p:cSld name="PICTURE_WITH_CAPTION_TEXT">
    <p:spTree>
      <p:nvGrpSpPr>
        <p:cNvPr id="1" name="Shape 73"/>
        <p:cNvGrpSpPr/>
        <p:nvPr/>
      </p:nvGrpSpPr>
      <p:grpSpPr>
        <a:xfrm>
          <a:off x="0" y="0"/>
          <a:ext cx="0" cy="0"/>
          <a:chOff x="0" y="0"/>
          <a:chExt cx="0" cy="0"/>
        </a:xfrm>
      </p:grpSpPr>
      <p:sp>
        <p:nvSpPr>
          <p:cNvPr id="74" name="Google Shape;74;p31"/>
          <p:cNvSpPr/>
          <p:nvPr/>
        </p:nvSpPr>
        <p:spPr>
          <a:xfrm>
            <a:off x="0" y="4578350"/>
            <a:ext cx="12188825" cy="2279650"/>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1"/>
          <p:cNvSpPr>
            <a:spLocks noGrp="1"/>
          </p:cNvSpPr>
          <p:nvPr>
            <p:ph type="pic" idx="2"/>
          </p:nvPr>
        </p:nvSpPr>
        <p:spPr>
          <a:xfrm>
            <a:off x="15" y="0"/>
            <a:ext cx="12191985" cy="4578350"/>
          </a:xfrm>
          <a:prstGeom prst="rect">
            <a:avLst/>
          </a:prstGeom>
          <a:solidFill>
            <a:srgbClr val="D8D8D8"/>
          </a:solidFill>
          <a:ln>
            <a:noFill/>
          </a:ln>
        </p:spPr>
      </p:sp>
      <p:sp>
        <p:nvSpPr>
          <p:cNvPr id="76" name="Google Shape;76;p31"/>
          <p:cNvSpPr txBox="1">
            <a:spLocks noGrp="1"/>
          </p:cNvSpPr>
          <p:nvPr>
            <p:ph type="title"/>
          </p:nvPr>
        </p:nvSpPr>
        <p:spPr>
          <a:xfrm>
            <a:off x="1097279" y="4799362"/>
            <a:ext cx="10113645" cy="743682"/>
          </a:xfrm>
          <a:prstGeom prst="rect">
            <a:avLst/>
          </a:prstGeom>
          <a:noFill/>
          <a:ln>
            <a:noFill/>
          </a:ln>
        </p:spPr>
        <p:txBody>
          <a:bodyPr spcFirstLastPara="1" wrap="square" lIns="91425" tIns="0" rIns="91425" bIns="0" anchor="b" anchorCtr="0">
            <a:noAutofit/>
          </a:bodyPr>
          <a:lstStyle>
            <a:lvl1pPr lvl="0" algn="l">
              <a:lnSpc>
                <a:spcPct val="90000"/>
              </a:lnSpc>
              <a:spcBef>
                <a:spcPts val="0"/>
              </a:spcBef>
              <a:spcAft>
                <a:spcPts val="0"/>
              </a:spcAft>
              <a:buClr>
                <a:srgbClr val="FFFFFF"/>
              </a:buClr>
              <a:buSzPts val="3600"/>
              <a:buFont typeface="MingLiu"/>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31"/>
          <p:cNvSpPr txBox="1">
            <a:spLocks noGrp="1"/>
          </p:cNvSpPr>
          <p:nvPr>
            <p:ph type="body" idx="1"/>
          </p:nvPr>
        </p:nvSpPr>
        <p:spPr>
          <a:xfrm>
            <a:off x="1097279" y="5715000"/>
            <a:ext cx="10113264" cy="609600"/>
          </a:xfrm>
          <a:prstGeom prst="rect">
            <a:avLst/>
          </a:prstGeom>
          <a:noFill/>
          <a:ln>
            <a:noFill/>
          </a:ln>
        </p:spPr>
        <p:txBody>
          <a:bodyPr spcFirstLastPara="1" wrap="square" lIns="91425" tIns="0" rIns="91425" bIns="0" anchor="t" anchorCtr="0">
            <a:normAutofit/>
          </a:bodyPr>
          <a:lstStyle>
            <a:lvl1pPr marL="457200" lvl="0" indent="-228600" algn="l">
              <a:lnSpc>
                <a:spcPct val="110000"/>
              </a:lnSpc>
              <a:spcBef>
                <a:spcPts val="0"/>
              </a:spcBef>
              <a:spcAft>
                <a:spcPts val="0"/>
              </a:spcAft>
              <a:buSzPts val="1800"/>
              <a:buNone/>
              <a:defRPr sz="1800">
                <a:solidFill>
                  <a:srgbClr val="FFFFFF"/>
                </a:solidFill>
              </a:defRPr>
            </a:lvl1pPr>
            <a:lvl2pPr marL="914400" lvl="1" indent="-228600" algn="l">
              <a:lnSpc>
                <a:spcPct val="100000"/>
              </a:lnSpc>
              <a:spcBef>
                <a:spcPts val="600"/>
              </a:spcBef>
              <a:spcAft>
                <a:spcPts val="0"/>
              </a:spcAft>
              <a:buClr>
                <a:srgbClr val="3F3F3F"/>
              </a:buClr>
              <a:buSzPts val="1200"/>
              <a:buNone/>
              <a:defRPr sz="1200"/>
            </a:lvl2pPr>
            <a:lvl3pPr marL="1371600" lvl="2" indent="-228600" algn="l">
              <a:lnSpc>
                <a:spcPct val="100000"/>
              </a:lnSpc>
              <a:spcBef>
                <a:spcPts val="400"/>
              </a:spcBef>
              <a:spcAft>
                <a:spcPts val="0"/>
              </a:spcAft>
              <a:buClr>
                <a:srgbClr val="3F3F3F"/>
              </a:buClr>
              <a:buSzPts val="1000"/>
              <a:buNone/>
              <a:defRPr sz="1000"/>
            </a:lvl3pPr>
            <a:lvl4pPr marL="1828800" lvl="3" indent="-228600" algn="l">
              <a:lnSpc>
                <a:spcPct val="100000"/>
              </a:lnSpc>
              <a:spcBef>
                <a:spcPts val="400"/>
              </a:spcBef>
              <a:spcAft>
                <a:spcPts val="0"/>
              </a:spcAft>
              <a:buClr>
                <a:srgbClr val="3F3F3F"/>
              </a:buClr>
              <a:buSzPts val="900"/>
              <a:buNone/>
              <a:defRPr sz="900"/>
            </a:lvl4pPr>
            <a:lvl5pPr marL="2286000" lvl="4" indent="-228600" algn="l">
              <a:lnSpc>
                <a:spcPct val="100000"/>
              </a:lnSpc>
              <a:spcBef>
                <a:spcPts val="400"/>
              </a:spcBef>
              <a:spcAft>
                <a:spcPts val="0"/>
              </a:spcAft>
              <a:buClr>
                <a:srgbClr val="3F3F3F"/>
              </a:buClr>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8" name="Google Shape;78;p31"/>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1"/>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31"/>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標題及直排文字" type="vertTx">
  <p:cSld name="VERTICAL_TEXT">
    <p:spTree>
      <p:nvGrpSpPr>
        <p:cNvPr id="1" name="Shape 81"/>
        <p:cNvGrpSpPr/>
        <p:nvPr/>
      </p:nvGrpSpPr>
      <p:grpSpPr>
        <a:xfrm>
          <a:off x="0" y="0"/>
          <a:ext cx="0" cy="0"/>
          <a:chOff x="0" y="0"/>
          <a:chExt cx="0" cy="0"/>
        </a:xfrm>
      </p:grpSpPr>
      <p:sp>
        <p:nvSpPr>
          <p:cNvPr id="82" name="Google Shape;82;p3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32"/>
          <p:cNvSpPr txBox="1">
            <a:spLocks noGrp="1"/>
          </p:cNvSpPr>
          <p:nvPr>
            <p:ph type="body" idx="1"/>
          </p:nvPr>
        </p:nvSpPr>
        <p:spPr>
          <a:xfrm rot="5400000">
            <a:off x="4246035" y="-1040554"/>
            <a:ext cx="3760891" cy="10058400"/>
          </a:xfrm>
          <a:prstGeom prst="rect">
            <a:avLst/>
          </a:prstGeom>
          <a:noFill/>
          <a:ln>
            <a:noFill/>
          </a:ln>
        </p:spPr>
        <p:txBody>
          <a:bodyPr spcFirstLastPara="1" wrap="square" lIns="45700" tIns="0" rIns="45700" bIns="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4" name="Google Shape;84;p32"/>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32"/>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2"/>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直排標題及文字" type="vertTitleAndTx">
  <p:cSld name="VERTICAL_TITLE_AND_VERTICAL_TEXT">
    <p:spTree>
      <p:nvGrpSpPr>
        <p:cNvPr id="1" name="Shape 87"/>
        <p:cNvGrpSpPr/>
        <p:nvPr/>
      </p:nvGrpSpPr>
      <p:grpSpPr>
        <a:xfrm>
          <a:off x="0" y="0"/>
          <a:ext cx="0" cy="0"/>
          <a:chOff x="0" y="0"/>
          <a:chExt cx="0" cy="0"/>
        </a:xfrm>
      </p:grpSpPr>
      <p:sp>
        <p:nvSpPr>
          <p:cNvPr id="88" name="Google Shape;88;p33"/>
          <p:cNvSpPr/>
          <p:nvPr/>
        </p:nvSpPr>
        <p:spPr>
          <a:xfrm>
            <a:off x="3175" y="6400800"/>
            <a:ext cx="12188825" cy="457200"/>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3"/>
          <p:cNvSpPr txBox="1">
            <a:spLocks noGrp="1"/>
          </p:cNvSpPr>
          <p:nvPr>
            <p:ph type="title"/>
          </p:nvPr>
        </p:nvSpPr>
        <p:spPr>
          <a:xfrm rot="5400000">
            <a:off x="7159401" y="1977801"/>
            <a:ext cx="5759898" cy="26289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33"/>
          <p:cNvSpPr txBox="1">
            <a:spLocks noGrp="1"/>
          </p:cNvSpPr>
          <p:nvPr>
            <p:ph type="body" idx="1"/>
          </p:nvPr>
        </p:nvSpPr>
        <p:spPr>
          <a:xfrm rot="5400000">
            <a:off x="1825401" y="-574899"/>
            <a:ext cx="5759898" cy="7734300"/>
          </a:xfrm>
          <a:prstGeom prst="rect">
            <a:avLst/>
          </a:prstGeom>
          <a:noFill/>
          <a:ln>
            <a:noFill/>
          </a:ln>
        </p:spPr>
        <p:txBody>
          <a:bodyPr spcFirstLastPara="1" wrap="square" lIns="45700" tIns="0" rIns="45700" bIns="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1" name="Google Shape;91;p33"/>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33"/>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33"/>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2"/>
          <p:cNvSpPr/>
          <p:nvPr/>
        </p:nvSpPr>
        <p:spPr>
          <a:xfrm>
            <a:off x="3175" y="6400800"/>
            <a:ext cx="12188825" cy="457200"/>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rgbClr val="3F3F3F"/>
              </a:buClr>
              <a:buSzPts val="4700"/>
              <a:buFont typeface="MingLiu"/>
              <a:buNone/>
              <a:defRPr sz="4700" b="0" i="0" u="none" strike="noStrike" cap="none">
                <a:solidFill>
                  <a:srgbClr val="3F3F3F"/>
                </a:solidFill>
                <a:latin typeface="MingLiu"/>
                <a:ea typeface="MingLiu"/>
                <a:cs typeface="MingLiu"/>
                <a:sym typeface="MingLiu"/>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22"/>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lvl1pPr marL="457200" marR="0" lvl="0" indent="-349250" algn="l" rtl="0">
              <a:lnSpc>
                <a:spcPct val="110000"/>
              </a:lnSpc>
              <a:spcBef>
                <a:spcPts val="1200"/>
              </a:spcBef>
              <a:spcAft>
                <a:spcPts val="0"/>
              </a:spcAft>
              <a:buClr>
                <a:schemeClr val="accent1"/>
              </a:buClr>
              <a:buSzPts val="1900"/>
              <a:buFont typeface="Calibri"/>
              <a:buChar char=" "/>
              <a:defRPr sz="1900" b="0" i="0" u="none" strike="noStrike" cap="none">
                <a:solidFill>
                  <a:srgbClr val="3F3F3F"/>
                </a:solidFill>
                <a:latin typeface="Arial"/>
                <a:ea typeface="Arial"/>
                <a:cs typeface="Arial"/>
                <a:sym typeface="Arial"/>
              </a:defRPr>
            </a:lvl1pPr>
            <a:lvl2pPr marL="914400" marR="0" lvl="1" indent="-336550" algn="l" rtl="0">
              <a:lnSpc>
                <a:spcPct val="100000"/>
              </a:lnSpc>
              <a:spcBef>
                <a:spcPts val="200"/>
              </a:spcBef>
              <a:spcAft>
                <a:spcPts val="0"/>
              </a:spcAft>
              <a:buClr>
                <a:srgbClr val="3F3F3F"/>
              </a:buClr>
              <a:buSzPts val="1700"/>
              <a:buFont typeface="Calibri"/>
              <a:buChar char="◦"/>
              <a:defRPr sz="1700" b="0" i="0" u="none" strike="noStrike" cap="none">
                <a:solidFill>
                  <a:srgbClr val="3F3F3F"/>
                </a:solidFill>
                <a:latin typeface="Arial"/>
                <a:ea typeface="Arial"/>
                <a:cs typeface="Arial"/>
                <a:sym typeface="Arial"/>
              </a:defRPr>
            </a:lvl2pPr>
            <a:lvl3pPr marL="1371600" marR="0" lvl="2" indent="-311150" algn="l" rtl="0">
              <a:lnSpc>
                <a:spcPct val="100000"/>
              </a:lnSpc>
              <a:spcBef>
                <a:spcPts val="400"/>
              </a:spcBef>
              <a:spcAft>
                <a:spcPts val="0"/>
              </a:spcAft>
              <a:buClr>
                <a:srgbClr val="3F3F3F"/>
              </a:buClr>
              <a:buSzPts val="1300"/>
              <a:buFont typeface="Calibri"/>
              <a:buChar char="◦"/>
              <a:defRPr sz="1300" b="0" i="0" u="none" strike="noStrike" cap="none">
                <a:solidFill>
                  <a:srgbClr val="3F3F3F"/>
                </a:solidFill>
                <a:latin typeface="Arial"/>
                <a:ea typeface="Arial"/>
                <a:cs typeface="Arial"/>
                <a:sym typeface="Arial"/>
              </a:defRPr>
            </a:lvl3pPr>
            <a:lvl4pPr marL="1828800" marR="0" lvl="3" indent="-311150" algn="l" rtl="0">
              <a:lnSpc>
                <a:spcPct val="100000"/>
              </a:lnSpc>
              <a:spcBef>
                <a:spcPts val="400"/>
              </a:spcBef>
              <a:spcAft>
                <a:spcPts val="0"/>
              </a:spcAft>
              <a:buClr>
                <a:srgbClr val="3F3F3F"/>
              </a:buClr>
              <a:buSzPts val="1300"/>
              <a:buFont typeface="Calibri"/>
              <a:buChar char="◦"/>
              <a:defRPr sz="1300" b="0" i="0" u="none" strike="noStrike" cap="none">
                <a:solidFill>
                  <a:srgbClr val="3F3F3F"/>
                </a:solidFill>
                <a:latin typeface="Arial"/>
                <a:ea typeface="Arial"/>
                <a:cs typeface="Arial"/>
                <a:sym typeface="Arial"/>
              </a:defRPr>
            </a:lvl4pPr>
            <a:lvl5pPr marL="2286000" marR="0" lvl="4" indent="-311150" algn="l" rtl="0">
              <a:lnSpc>
                <a:spcPct val="100000"/>
              </a:lnSpc>
              <a:spcBef>
                <a:spcPts val="400"/>
              </a:spcBef>
              <a:spcAft>
                <a:spcPts val="0"/>
              </a:spcAft>
              <a:buClr>
                <a:srgbClr val="3F3F3F"/>
              </a:buClr>
              <a:buSzPts val="1300"/>
              <a:buFont typeface="Calibri"/>
              <a:buChar char="◦"/>
              <a:defRPr sz="1300" b="0" i="0" u="none" strike="noStrike" cap="none">
                <a:solidFill>
                  <a:srgbClr val="3F3F3F"/>
                </a:solidFill>
                <a:latin typeface="Arial"/>
                <a:ea typeface="Arial"/>
                <a:cs typeface="Arial"/>
                <a:sym typeface="Arial"/>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Libre Franklin"/>
                <a:ea typeface="Libre Franklin"/>
                <a:cs typeface="Libre Franklin"/>
                <a:sym typeface="Libre Franklin"/>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Libre Franklin"/>
                <a:ea typeface="Libre Franklin"/>
                <a:cs typeface="Libre Franklin"/>
                <a:sym typeface="Libre Franklin"/>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Libre Franklin"/>
                <a:ea typeface="Libre Franklin"/>
                <a:cs typeface="Libre Franklin"/>
                <a:sym typeface="Libre Franklin"/>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Libre Franklin"/>
                <a:ea typeface="Libre Franklin"/>
                <a:cs typeface="Libre Franklin"/>
                <a:sym typeface="Libre Franklin"/>
              </a:defRPr>
            </a:lvl9pPr>
          </a:lstStyle>
          <a:p>
            <a:endParaRPr/>
          </a:p>
        </p:txBody>
      </p:sp>
      <p:sp>
        <p:nvSpPr>
          <p:cNvPr id="13" name="Google Shape;13;p22"/>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800" b="0" i="0" u="none" strike="noStrike" cap="none">
                <a:solidFill>
                  <a:srgbClr val="FFFFF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14" name="Google Shape;14;p22"/>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u="none" strike="noStrike" cap="none">
                <a:solidFill>
                  <a:srgbClr val="FFFFF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15" name="Google Shape;15;p22"/>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800" b="0" i="0" u="none" strike="noStrike" cap="none">
                <a:solidFill>
                  <a:srgbClr val="FFFFFF"/>
                </a:solidFill>
                <a:latin typeface="Arial"/>
                <a:ea typeface="Arial"/>
                <a:cs typeface="Arial"/>
                <a:sym typeface="Arial"/>
              </a:defRPr>
            </a:lvl1pPr>
            <a:lvl2pPr marL="0" marR="0" lvl="1" indent="0" algn="l" rtl="0">
              <a:spcBef>
                <a:spcPts val="0"/>
              </a:spcBef>
              <a:buNone/>
              <a:defRPr sz="800" b="0" i="0" u="none" strike="noStrike" cap="none">
                <a:solidFill>
                  <a:srgbClr val="FFFFFF"/>
                </a:solidFill>
                <a:latin typeface="Arial"/>
                <a:ea typeface="Arial"/>
                <a:cs typeface="Arial"/>
                <a:sym typeface="Arial"/>
              </a:defRPr>
            </a:lvl2pPr>
            <a:lvl3pPr marL="0" marR="0" lvl="2" indent="0" algn="l" rtl="0">
              <a:spcBef>
                <a:spcPts val="0"/>
              </a:spcBef>
              <a:buNone/>
              <a:defRPr sz="800" b="0" i="0" u="none" strike="noStrike" cap="none">
                <a:solidFill>
                  <a:srgbClr val="FFFFFF"/>
                </a:solidFill>
                <a:latin typeface="Arial"/>
                <a:ea typeface="Arial"/>
                <a:cs typeface="Arial"/>
                <a:sym typeface="Arial"/>
              </a:defRPr>
            </a:lvl3pPr>
            <a:lvl4pPr marL="0" marR="0" lvl="3" indent="0" algn="l" rtl="0">
              <a:spcBef>
                <a:spcPts val="0"/>
              </a:spcBef>
              <a:buNone/>
              <a:defRPr sz="800" b="0" i="0" u="none" strike="noStrike" cap="none">
                <a:solidFill>
                  <a:srgbClr val="FFFFFF"/>
                </a:solidFill>
                <a:latin typeface="Arial"/>
                <a:ea typeface="Arial"/>
                <a:cs typeface="Arial"/>
                <a:sym typeface="Arial"/>
              </a:defRPr>
            </a:lvl4pPr>
            <a:lvl5pPr marL="0" marR="0" lvl="4" indent="0" algn="l" rtl="0">
              <a:spcBef>
                <a:spcPts val="0"/>
              </a:spcBef>
              <a:buNone/>
              <a:defRPr sz="800" b="0" i="0" u="none" strike="noStrike" cap="none">
                <a:solidFill>
                  <a:srgbClr val="FFFFFF"/>
                </a:solidFill>
                <a:latin typeface="Arial"/>
                <a:ea typeface="Arial"/>
                <a:cs typeface="Arial"/>
                <a:sym typeface="Arial"/>
              </a:defRPr>
            </a:lvl5pPr>
            <a:lvl6pPr marL="0" marR="0" lvl="5" indent="0" algn="l" rtl="0">
              <a:spcBef>
                <a:spcPts val="0"/>
              </a:spcBef>
              <a:buNone/>
              <a:defRPr sz="800" b="0" i="0" u="none" strike="noStrike" cap="none">
                <a:solidFill>
                  <a:srgbClr val="FFFFFF"/>
                </a:solidFill>
                <a:latin typeface="Arial"/>
                <a:ea typeface="Arial"/>
                <a:cs typeface="Arial"/>
                <a:sym typeface="Arial"/>
              </a:defRPr>
            </a:lvl6pPr>
            <a:lvl7pPr marL="0" marR="0" lvl="6" indent="0" algn="l" rtl="0">
              <a:spcBef>
                <a:spcPts val="0"/>
              </a:spcBef>
              <a:buNone/>
              <a:defRPr sz="800" b="0" i="0" u="none" strike="noStrike" cap="none">
                <a:solidFill>
                  <a:srgbClr val="FFFFFF"/>
                </a:solidFill>
                <a:latin typeface="Arial"/>
                <a:ea typeface="Arial"/>
                <a:cs typeface="Arial"/>
                <a:sym typeface="Arial"/>
              </a:defRPr>
            </a:lvl7pPr>
            <a:lvl8pPr marL="0" marR="0" lvl="7" indent="0" algn="l" rtl="0">
              <a:spcBef>
                <a:spcPts val="0"/>
              </a:spcBef>
              <a:buNone/>
              <a:defRPr sz="800" b="0" i="0" u="none" strike="noStrike" cap="none">
                <a:solidFill>
                  <a:srgbClr val="FFFFFF"/>
                </a:solidFill>
                <a:latin typeface="Arial"/>
                <a:ea typeface="Arial"/>
                <a:cs typeface="Arial"/>
                <a:sym typeface="Arial"/>
              </a:defRPr>
            </a:lvl8pPr>
            <a:lvl9pPr marL="0" marR="0" lvl="8" indent="0" algn="l" rtl="0">
              <a:spcBef>
                <a:spcPts val="0"/>
              </a:spcBef>
              <a:buNone/>
              <a:defRPr sz="8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zh-TW"/>
              <a:t>‹#›</a:t>
            </a:fld>
            <a:endParaRPr/>
          </a:p>
        </p:txBody>
      </p:sp>
      <p:cxnSp>
        <p:nvCxnSpPr>
          <p:cNvPr id="16" name="Google Shape;16;p22"/>
          <p:cNvCxnSpPr/>
          <p:nvPr/>
        </p:nvCxnSpPr>
        <p:spPr>
          <a:xfrm>
            <a:off x="1193532" y="1897380"/>
            <a:ext cx="9966960" cy="0"/>
          </a:xfrm>
          <a:prstGeom prst="straightConnector1">
            <a:avLst/>
          </a:prstGeom>
          <a:noFill/>
          <a:ln w="12700" cap="flat" cmpd="sng">
            <a:solidFill>
              <a:srgbClr val="3F3F3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7"/>
        <p:cNvGrpSpPr/>
        <p:nvPr/>
      </p:nvGrpSpPr>
      <p:grpSpPr>
        <a:xfrm>
          <a:off x="0" y="0"/>
          <a:ext cx="0" cy="0"/>
          <a:chOff x="0" y="0"/>
          <a:chExt cx="0" cy="0"/>
        </a:xfrm>
      </p:grpSpPr>
      <p:sp>
        <p:nvSpPr>
          <p:cNvPr id="98" name="Google Shape;98;p1"/>
          <p:cNvSpPr/>
          <p:nvPr/>
        </p:nvSpPr>
        <p:spPr>
          <a:xfrm>
            <a:off x="0" y="1"/>
            <a:ext cx="12192001" cy="685799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Franklin"/>
              <a:ea typeface="Libre Franklin"/>
              <a:cs typeface="Libre Franklin"/>
              <a:sym typeface="Libre Franklin"/>
            </a:endParaRPr>
          </a:p>
        </p:txBody>
      </p:sp>
      <p:sp>
        <p:nvSpPr>
          <p:cNvPr id="99" name="Google Shape;99;p1"/>
          <p:cNvSpPr txBox="1">
            <a:spLocks noGrp="1"/>
          </p:cNvSpPr>
          <p:nvPr>
            <p:ph type="ctrTitle"/>
          </p:nvPr>
        </p:nvSpPr>
        <p:spPr>
          <a:xfrm>
            <a:off x="3867325" y="615653"/>
            <a:ext cx="8234900" cy="2751733"/>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000"/>
              <a:buFont typeface="MingLiu"/>
              <a:buNone/>
            </a:pPr>
            <a:r>
              <a:rPr lang="zh-TW" sz="4000" b="1">
                <a:solidFill>
                  <a:srgbClr val="0070C0"/>
                </a:solidFill>
              </a:rPr>
              <a:t>利用基因表達資料的機器學習分析</a:t>
            </a:r>
            <a:r>
              <a:rPr lang="zh-TW" sz="4000" b="1">
                <a:solidFill>
                  <a:srgbClr val="0070C0"/>
                </a:solidFill>
                <a:latin typeface="Times New Roman"/>
                <a:ea typeface="Times New Roman"/>
                <a:cs typeface="Times New Roman"/>
                <a:sym typeface="Times New Roman"/>
              </a:rPr>
              <a:t>–</a:t>
            </a:r>
            <a:r>
              <a:rPr lang="zh-TW" sz="4000" b="1">
                <a:solidFill>
                  <a:srgbClr val="0070C0"/>
                </a:solidFill>
              </a:rPr>
              <a:t>肺腺癌分類與關鍵基因探索</a:t>
            </a:r>
            <a:endParaRPr sz="4000" b="1">
              <a:solidFill>
                <a:srgbClr val="0070C0"/>
              </a:solidFill>
            </a:endParaRPr>
          </a:p>
        </p:txBody>
      </p:sp>
      <p:sp>
        <p:nvSpPr>
          <p:cNvPr id="100" name="Google Shape;100;p1"/>
          <p:cNvSpPr txBox="1">
            <a:spLocks noGrp="1"/>
          </p:cNvSpPr>
          <p:nvPr>
            <p:ph type="subTitle" idx="1"/>
          </p:nvPr>
        </p:nvSpPr>
        <p:spPr>
          <a:xfrm>
            <a:off x="3968555" y="3490614"/>
            <a:ext cx="7696880" cy="1760894"/>
          </a:xfrm>
          <a:prstGeom prst="rect">
            <a:avLst/>
          </a:prstGeom>
          <a:noFill/>
          <a:ln>
            <a:noFill/>
          </a:ln>
        </p:spPr>
        <p:txBody>
          <a:bodyPr spcFirstLastPara="1" wrap="square" lIns="91425" tIns="45700" rIns="91425" bIns="45700" anchor="t" anchorCtr="0">
            <a:noAutofit/>
          </a:bodyPr>
          <a:lstStyle/>
          <a:p>
            <a:pPr marL="0" lvl="0" indent="0" algn="ctr" rtl="0">
              <a:lnSpc>
                <a:spcPct val="110000"/>
              </a:lnSpc>
              <a:spcBef>
                <a:spcPts val="0"/>
              </a:spcBef>
              <a:spcAft>
                <a:spcPts val="0"/>
              </a:spcAft>
              <a:buSzPts val="2400"/>
              <a:buNone/>
            </a:pPr>
            <a:r>
              <a:rPr lang="zh-TW" b="1">
                <a:solidFill>
                  <a:srgbClr val="262626"/>
                </a:solidFill>
              </a:rPr>
              <a:t>劉康聖</a:t>
            </a:r>
            <a:r>
              <a:rPr lang="zh-TW" b="1" baseline="30000">
                <a:solidFill>
                  <a:srgbClr val="262626"/>
                </a:solidFill>
              </a:rPr>
              <a:t>1</a:t>
            </a:r>
            <a:r>
              <a:rPr lang="zh-TW" b="1">
                <a:solidFill>
                  <a:srgbClr val="262626"/>
                </a:solidFill>
              </a:rPr>
              <a:t>、謝舜傑</a:t>
            </a:r>
            <a:r>
              <a:rPr lang="zh-TW" b="1" baseline="30000">
                <a:solidFill>
                  <a:srgbClr val="262626"/>
                </a:solidFill>
              </a:rPr>
              <a:t>2</a:t>
            </a:r>
            <a:endParaRPr/>
          </a:p>
          <a:p>
            <a:pPr marL="0" lvl="0" indent="0" algn="ctr" rtl="0">
              <a:lnSpc>
                <a:spcPct val="110000"/>
              </a:lnSpc>
              <a:spcBef>
                <a:spcPts val="1400"/>
              </a:spcBef>
              <a:spcAft>
                <a:spcPts val="0"/>
              </a:spcAft>
              <a:buSzPts val="2400"/>
              <a:buNone/>
            </a:pPr>
            <a:r>
              <a:rPr lang="zh-TW" b="1" baseline="30000">
                <a:solidFill>
                  <a:srgbClr val="262626"/>
                </a:solidFill>
              </a:rPr>
              <a:t>1</a:t>
            </a:r>
            <a:r>
              <a:rPr lang="zh-TW" b="1">
                <a:solidFill>
                  <a:srgbClr val="262626"/>
                </a:solidFill>
              </a:rPr>
              <a:t>長榮大學生物科技學系 大學生</a:t>
            </a:r>
            <a:endParaRPr b="1">
              <a:solidFill>
                <a:srgbClr val="262626"/>
              </a:solidFill>
            </a:endParaRPr>
          </a:p>
          <a:p>
            <a:pPr marL="0" lvl="0" indent="0" algn="ctr" rtl="0">
              <a:lnSpc>
                <a:spcPct val="110000"/>
              </a:lnSpc>
              <a:spcBef>
                <a:spcPts val="1400"/>
              </a:spcBef>
              <a:spcAft>
                <a:spcPts val="0"/>
              </a:spcAft>
              <a:buSzPts val="2400"/>
              <a:buNone/>
            </a:pPr>
            <a:r>
              <a:rPr lang="zh-TW" b="1" baseline="30000">
                <a:solidFill>
                  <a:srgbClr val="262626"/>
                </a:solidFill>
              </a:rPr>
              <a:t>2</a:t>
            </a:r>
            <a:r>
              <a:rPr lang="zh-TW" b="1">
                <a:solidFill>
                  <a:srgbClr val="262626"/>
                </a:solidFill>
              </a:rPr>
              <a:t>長榮大學土地管理與開發學系 教授</a:t>
            </a:r>
            <a:endParaRPr b="1">
              <a:solidFill>
                <a:srgbClr val="262626"/>
              </a:solidFill>
            </a:endParaRPr>
          </a:p>
        </p:txBody>
      </p:sp>
      <p:pic>
        <p:nvPicPr>
          <p:cNvPr id="101" name="Google Shape;101;p1"/>
          <p:cNvPicPr preferRelativeResize="0"/>
          <p:nvPr/>
        </p:nvPicPr>
        <p:blipFill rotWithShape="1">
          <a:blip r:embed="rId3">
            <a:alphaModFix/>
          </a:blip>
          <a:srcRect/>
          <a:stretch/>
        </p:blipFill>
        <p:spPr>
          <a:xfrm>
            <a:off x="-2" y="579606"/>
            <a:ext cx="3664413" cy="3019271"/>
          </a:xfrm>
          <a:prstGeom prst="rect">
            <a:avLst/>
          </a:prstGeom>
          <a:noFill/>
          <a:ln>
            <a:noFill/>
          </a:ln>
        </p:spPr>
      </p:pic>
      <p:cxnSp>
        <p:nvCxnSpPr>
          <p:cNvPr id="102" name="Google Shape;102;p1"/>
          <p:cNvCxnSpPr/>
          <p:nvPr/>
        </p:nvCxnSpPr>
        <p:spPr>
          <a:xfrm>
            <a:off x="5427754" y="4498925"/>
            <a:ext cx="5636107" cy="0"/>
          </a:xfrm>
          <a:prstGeom prst="straightConnector1">
            <a:avLst/>
          </a:prstGeom>
          <a:noFill/>
          <a:ln w="12700" cap="flat" cmpd="sng">
            <a:solidFill>
              <a:srgbClr val="3F3F3F"/>
            </a:solidFill>
            <a:prstDash val="solid"/>
            <a:round/>
            <a:headEnd type="none" w="sm" len="sm"/>
            <a:tailEnd type="none" w="sm" len="sm"/>
          </a:ln>
        </p:spPr>
      </p:cxnSp>
      <p:sp>
        <p:nvSpPr>
          <p:cNvPr id="103" name="Google Shape;103;p1"/>
          <p:cNvSpPr/>
          <p:nvPr/>
        </p:nvSpPr>
        <p:spPr>
          <a:xfrm>
            <a:off x="10013840" y="276959"/>
            <a:ext cx="1853696" cy="1873388"/>
          </a:xfrm>
          <a:custGeom>
            <a:avLst/>
            <a:gdLst/>
            <a:ahLst/>
            <a:cxnLst/>
            <a:rect l="l" t="t" r="r" b="b"/>
            <a:pathLst>
              <a:path w="2376954" h="2234743" extrusionOk="0">
                <a:moveTo>
                  <a:pt x="0" y="0"/>
                </a:moveTo>
                <a:lnTo>
                  <a:pt x="2376954" y="0"/>
                </a:lnTo>
                <a:lnTo>
                  <a:pt x="2376954" y="2234744"/>
                </a:lnTo>
                <a:lnTo>
                  <a:pt x="0" y="2234744"/>
                </a:lnTo>
                <a:lnTo>
                  <a:pt x="0" y="0"/>
                </a:lnTo>
                <a:close/>
              </a:path>
            </a:pathLst>
          </a:custGeom>
          <a:blipFill rotWithShape="1">
            <a:blip r:embed="rId4">
              <a:alphaModFix/>
            </a:blip>
            <a:stretch>
              <a:fillRect l="-3339" t="-9" r="-1265" b="9"/>
            </a:stretch>
          </a:blipFill>
          <a:ln>
            <a:noFill/>
          </a:ln>
        </p:spPr>
      </p:sp>
      <p:pic>
        <p:nvPicPr>
          <p:cNvPr id="104" name="Google Shape;104;p1"/>
          <p:cNvPicPr preferRelativeResize="0"/>
          <p:nvPr/>
        </p:nvPicPr>
        <p:blipFill rotWithShape="1">
          <a:blip r:embed="rId5">
            <a:alphaModFix/>
          </a:blip>
          <a:srcRect/>
          <a:stretch/>
        </p:blipFill>
        <p:spPr>
          <a:xfrm>
            <a:off x="14274" y="5836767"/>
            <a:ext cx="12177725" cy="10212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
          <p:cNvSpPr txBox="1"/>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None/>
            </a:pPr>
            <a:r>
              <a:rPr lang="zh-TW" sz="4000" b="1" i="0" u="none" strike="noStrike" cap="none">
                <a:solidFill>
                  <a:srgbClr val="0070C0"/>
                </a:solidFill>
                <a:latin typeface="MingLiu"/>
                <a:ea typeface="MingLiu"/>
                <a:cs typeface="MingLiu"/>
                <a:sym typeface="MingLiu"/>
              </a:rPr>
              <a:t>目標:</a:t>
            </a:r>
            <a:endParaRPr/>
          </a:p>
        </p:txBody>
      </p:sp>
      <p:sp>
        <p:nvSpPr>
          <p:cNvPr id="110" name="Google Shape;110;p2"/>
          <p:cNvSpPr txBox="1"/>
          <p:nvPr/>
        </p:nvSpPr>
        <p:spPr>
          <a:xfrm>
            <a:off x="1097280" y="2108201"/>
            <a:ext cx="10058400" cy="3760891"/>
          </a:xfrm>
          <a:prstGeom prst="rect">
            <a:avLst/>
          </a:prstGeom>
          <a:noFill/>
          <a:ln>
            <a:noFill/>
          </a:ln>
        </p:spPr>
        <p:txBody>
          <a:bodyPr spcFirstLastPara="1" wrap="square" lIns="0" tIns="45700" rIns="0" bIns="45700" anchor="t" anchorCtr="0">
            <a:normAutofit/>
          </a:bodyPr>
          <a:lstStyle/>
          <a:p>
            <a:pPr marL="91440" marR="0" lvl="0" indent="-127000" algn="l" rtl="0">
              <a:spcBef>
                <a:spcPts val="0"/>
              </a:spcBef>
              <a:spcAft>
                <a:spcPts val="0"/>
              </a:spcAft>
              <a:buClr>
                <a:schemeClr val="accent1"/>
              </a:buClr>
              <a:buSzPts val="2000"/>
              <a:buFont typeface="Calibri"/>
              <a:buChar char=" "/>
            </a:pPr>
            <a:r>
              <a:rPr lang="zh-TW" sz="2000" b="0" i="0" u="none" strike="noStrike" cap="none">
                <a:solidFill>
                  <a:srgbClr val="3F3F3F"/>
                </a:solidFill>
                <a:latin typeface="Arial"/>
                <a:ea typeface="Arial"/>
                <a:cs typeface="Arial"/>
                <a:sym typeface="Arial"/>
              </a:rPr>
              <a:t>1. 建立一個機器學習模型，能夠準確區分肺腺癌病人是屬於高風險或低風險族群。</a:t>
            </a:r>
            <a:endParaRPr sz="2000" b="0" i="0" u="none" strike="noStrike" cap="none">
              <a:solidFill>
                <a:srgbClr val="3F3F3F"/>
              </a:solidFill>
              <a:latin typeface="Arial"/>
              <a:ea typeface="Arial"/>
              <a:cs typeface="Arial"/>
              <a:sym typeface="Arial"/>
            </a:endParaRPr>
          </a:p>
          <a:p>
            <a:pPr marL="91440" marR="0" lvl="0" indent="0" algn="l" rtl="0">
              <a:spcBef>
                <a:spcPts val="1400"/>
              </a:spcBef>
              <a:spcAft>
                <a:spcPts val="0"/>
              </a:spcAft>
              <a:buClr>
                <a:schemeClr val="accent1"/>
              </a:buClr>
              <a:buSzPts val="2000"/>
              <a:buFont typeface="Calibri"/>
              <a:buNone/>
            </a:pPr>
            <a:endParaRPr sz="2000" b="0" i="0" u="none" strike="noStrike" cap="none">
              <a:solidFill>
                <a:srgbClr val="3F3F3F"/>
              </a:solidFill>
              <a:latin typeface="Arial"/>
              <a:ea typeface="Arial"/>
              <a:cs typeface="Arial"/>
              <a:sym typeface="Arial"/>
            </a:endParaRPr>
          </a:p>
          <a:p>
            <a:pPr marL="91440" marR="0" lvl="0" indent="-127000" algn="l" rtl="0">
              <a:spcBef>
                <a:spcPts val="1400"/>
              </a:spcBef>
              <a:spcAft>
                <a:spcPts val="0"/>
              </a:spcAft>
              <a:buClr>
                <a:schemeClr val="accent1"/>
              </a:buClr>
              <a:buSzPts val="2000"/>
              <a:buFont typeface="Calibri"/>
              <a:buChar char=" "/>
            </a:pPr>
            <a:br>
              <a:rPr lang="zh-TW" sz="2000" b="0" i="0" u="none" strike="noStrike" cap="none">
                <a:solidFill>
                  <a:srgbClr val="3F3F3F"/>
                </a:solidFill>
                <a:latin typeface="Arial"/>
                <a:ea typeface="Arial"/>
                <a:cs typeface="Arial"/>
                <a:sym typeface="Arial"/>
              </a:rPr>
            </a:br>
            <a:r>
              <a:rPr lang="zh-TW" sz="2000" b="0" i="0" u="none" strike="noStrike" cap="none">
                <a:solidFill>
                  <a:srgbClr val="3F3F3F"/>
                </a:solidFill>
                <a:latin typeface="Arial"/>
                <a:ea typeface="Arial"/>
                <a:cs typeface="Arial"/>
                <a:sym typeface="Arial"/>
              </a:rPr>
              <a:t>2. 透過模型分析，找出對分類最重要的關鍵基因，作為潛在的生物標記。</a:t>
            </a:r>
            <a:endParaRPr/>
          </a:p>
        </p:txBody>
      </p:sp>
      <p:sp>
        <p:nvSpPr>
          <p:cNvPr id="111" name="Google Shape;111;p2"/>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zh-TW"/>
              <a:t>2026/5/19</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000"/>
              <a:buFont typeface="MingLiu"/>
              <a:buNone/>
            </a:pPr>
            <a:r>
              <a:rPr lang="zh-TW" sz="4000" b="1">
                <a:solidFill>
                  <a:srgbClr val="0070C0"/>
                </a:solidFill>
              </a:rPr>
              <a:t>研究背景與動機</a:t>
            </a:r>
            <a:endParaRPr sz="4000" b="1">
              <a:solidFill>
                <a:srgbClr val="0070C0"/>
              </a:solidFill>
            </a:endParaRPr>
          </a:p>
        </p:txBody>
      </p:sp>
      <p:sp>
        <p:nvSpPr>
          <p:cNvPr id="117" name="Google Shape;117;p3"/>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r>
              <a:rPr lang="zh-TW"/>
              <a:t>2026/5/19</a:t>
            </a:r>
            <a:endParaRPr/>
          </a:p>
        </p:txBody>
      </p:sp>
      <p:sp>
        <p:nvSpPr>
          <p:cNvPr id="118" name="Google Shape;118;p3"/>
          <p:cNvSpPr txBox="1"/>
          <p:nvPr/>
        </p:nvSpPr>
        <p:spPr>
          <a:xfrm>
            <a:off x="1305937" y="2226199"/>
            <a:ext cx="9497339" cy="25545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2000" b="0" i="0" u="none" strike="noStrike" cap="none">
                <a:solidFill>
                  <a:schemeClr val="dk1"/>
                </a:solidFill>
                <a:latin typeface="Libre Franklin"/>
                <a:ea typeface="Libre Franklin"/>
                <a:cs typeface="Libre Franklin"/>
                <a:sym typeface="Libre Franklin"/>
              </a:rPr>
              <a:t>肺腺癌（Lung Adenocarcinoma, LUAD）是非小細胞肺癌中最常見的一種亞型，且具有相當高的死亡率。</a:t>
            </a:r>
            <a:endParaRPr sz="2000">
              <a:solidFill>
                <a:schemeClr val="dk1"/>
              </a:solidFill>
              <a:latin typeface="Libre Franklin"/>
              <a:ea typeface="Libre Franklin"/>
              <a:cs typeface="Libre Franklin"/>
              <a:sym typeface="Libre Franklin"/>
            </a:endParaRPr>
          </a:p>
          <a:p>
            <a:pPr marL="0" marR="0" lvl="0" indent="0" algn="l" rtl="0">
              <a:spcBef>
                <a:spcPts val="0"/>
              </a:spcBef>
              <a:spcAft>
                <a:spcPts val="0"/>
              </a:spcAft>
              <a:buNone/>
            </a:pPr>
            <a:endParaRPr sz="2000">
              <a:solidFill>
                <a:schemeClr val="dk1"/>
              </a:solidFill>
              <a:latin typeface="Libre Franklin"/>
              <a:ea typeface="Libre Franklin"/>
              <a:cs typeface="Libre Franklin"/>
              <a:sym typeface="Libre Franklin"/>
            </a:endParaRPr>
          </a:p>
          <a:p>
            <a:pPr marL="0" marR="0" lvl="0" indent="0" algn="l" rtl="0">
              <a:spcBef>
                <a:spcPts val="0"/>
              </a:spcBef>
              <a:spcAft>
                <a:spcPts val="0"/>
              </a:spcAft>
              <a:buNone/>
            </a:pPr>
            <a:r>
              <a:rPr lang="zh-TW" sz="2000">
                <a:solidFill>
                  <a:schemeClr val="dk1"/>
                </a:solidFill>
                <a:latin typeface="Libre Franklin"/>
                <a:ea typeface="Libre Franklin"/>
                <a:cs typeface="Libre Franklin"/>
                <a:sym typeface="Libre Franklin"/>
              </a:rPr>
              <a:t>隨著高通量基因定序技術（RNA-seq）的發展，我們可以取得大量的基因表達資料，這些資料能夠反映腫瘤的分子機制。</a:t>
            </a:r>
            <a:endParaRPr sz="2000">
              <a:solidFill>
                <a:schemeClr val="dk1"/>
              </a:solidFill>
              <a:latin typeface="Libre Franklin"/>
              <a:ea typeface="Libre Franklin"/>
              <a:cs typeface="Libre Franklin"/>
              <a:sym typeface="Libre Franklin"/>
            </a:endParaRPr>
          </a:p>
          <a:p>
            <a:pPr marL="0" marR="0" lvl="0" indent="0" algn="l" rtl="0">
              <a:spcBef>
                <a:spcPts val="0"/>
              </a:spcBef>
              <a:spcAft>
                <a:spcPts val="0"/>
              </a:spcAft>
              <a:buNone/>
            </a:pPr>
            <a:endParaRPr sz="2000">
              <a:solidFill>
                <a:schemeClr val="dk1"/>
              </a:solidFill>
              <a:latin typeface="Libre Franklin"/>
              <a:ea typeface="Libre Franklin"/>
              <a:cs typeface="Libre Franklin"/>
              <a:sym typeface="Libre Franklin"/>
            </a:endParaRPr>
          </a:p>
          <a:p>
            <a:pPr marL="0" marR="0" lvl="0" indent="0" algn="l" rtl="0">
              <a:spcBef>
                <a:spcPts val="0"/>
              </a:spcBef>
              <a:spcAft>
                <a:spcPts val="0"/>
              </a:spcAft>
              <a:buNone/>
            </a:pPr>
            <a:r>
              <a:rPr lang="zh-TW" sz="2000">
                <a:solidFill>
                  <a:schemeClr val="dk1"/>
                </a:solidFill>
                <a:latin typeface="Libre Franklin"/>
                <a:ea typeface="Libre Franklin"/>
                <a:cs typeface="Libre Franklin"/>
                <a:sym typeface="Libre Franklin"/>
              </a:rPr>
              <a:t>然而，這類資料具有「高維度」的特性，傳統統計方法難以有效分析，因此本研究引入機器學習方法，來提升分類準確度並挖掘潛在的重要基因。</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000"/>
              <a:buFont typeface="MingLiu"/>
              <a:buNone/>
            </a:pPr>
            <a:r>
              <a:rPr lang="zh-TW" sz="4000" b="1">
                <a:solidFill>
                  <a:srgbClr val="0070C0"/>
                </a:solidFill>
              </a:rPr>
              <a:t>資料來源與資料集說明</a:t>
            </a:r>
            <a:endParaRPr sz="4000" b="1">
              <a:solidFill>
                <a:srgbClr val="0070C0"/>
              </a:solidFill>
            </a:endParaRPr>
          </a:p>
        </p:txBody>
      </p:sp>
      <p:sp>
        <p:nvSpPr>
          <p:cNvPr id="124" name="Google Shape;124;p4"/>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p>
            <a:pPr marL="91440" lvl="0" indent="-120650" algn="l" rtl="0">
              <a:lnSpc>
                <a:spcPct val="110000"/>
              </a:lnSpc>
              <a:spcBef>
                <a:spcPts val="0"/>
              </a:spcBef>
              <a:spcAft>
                <a:spcPts val="0"/>
              </a:spcAft>
              <a:buSzPts val="1900"/>
              <a:buChar char=" "/>
            </a:pPr>
            <a:r>
              <a:rPr lang="zh-TW"/>
              <a:t>研究使用的資料來自：</a:t>
            </a:r>
            <a:endParaRPr/>
          </a:p>
          <a:p>
            <a:pPr marL="91440" lvl="0" indent="-120650" algn="l" rtl="0">
              <a:lnSpc>
                <a:spcPct val="110000"/>
              </a:lnSpc>
              <a:spcBef>
                <a:spcPts val="1400"/>
              </a:spcBef>
              <a:spcAft>
                <a:spcPts val="0"/>
              </a:spcAft>
              <a:buSzPts val="1900"/>
              <a:buChar char=" "/>
            </a:pPr>
            <a:r>
              <a:rPr lang="zh-TW" b="1">
                <a:solidFill>
                  <a:srgbClr val="FF0000"/>
                </a:solidFill>
              </a:rPr>
              <a:t>TCGA-LUAD（The Cancer Genome Atlas）</a:t>
            </a:r>
            <a:endParaRPr b="1">
              <a:solidFill>
                <a:srgbClr val="FF0000"/>
              </a:solidFill>
            </a:endParaRPr>
          </a:p>
          <a:p>
            <a:pPr marL="91440" lvl="0" indent="0" algn="l" rtl="0">
              <a:lnSpc>
                <a:spcPct val="110000"/>
              </a:lnSpc>
              <a:spcBef>
                <a:spcPts val="1400"/>
              </a:spcBef>
              <a:spcAft>
                <a:spcPts val="0"/>
              </a:spcAft>
              <a:buSzPts val="1900"/>
              <a:buNone/>
            </a:pPr>
            <a:endParaRPr/>
          </a:p>
          <a:p>
            <a:pPr marL="91440" lvl="0" indent="-120650" algn="l" rtl="0">
              <a:lnSpc>
                <a:spcPct val="110000"/>
              </a:lnSpc>
              <a:spcBef>
                <a:spcPts val="1400"/>
              </a:spcBef>
              <a:spcAft>
                <a:spcPts val="0"/>
              </a:spcAft>
              <a:buSzPts val="1900"/>
              <a:buChar char=" "/>
            </a:pPr>
            <a:r>
              <a:rPr lang="zh-TW"/>
              <a:t>資料特性如下：</a:t>
            </a:r>
            <a:endParaRPr/>
          </a:p>
          <a:p>
            <a:pPr marL="91440" lvl="0" indent="-120650" algn="l" rtl="0">
              <a:lnSpc>
                <a:spcPct val="110000"/>
              </a:lnSpc>
              <a:spcBef>
                <a:spcPts val="1400"/>
              </a:spcBef>
              <a:spcAft>
                <a:spcPts val="0"/>
              </a:spcAft>
              <a:buSzPts val="1900"/>
              <a:buFont typeface="Arial"/>
              <a:buChar char="•"/>
            </a:pPr>
            <a:r>
              <a:rPr lang="zh-TW"/>
              <a:t>樣本數：535位肺腺癌病人 </a:t>
            </a:r>
            <a:endParaRPr/>
          </a:p>
          <a:p>
            <a:pPr marL="91440" lvl="0" indent="-120650" algn="l" rtl="0">
              <a:lnSpc>
                <a:spcPct val="110000"/>
              </a:lnSpc>
              <a:spcBef>
                <a:spcPts val="1400"/>
              </a:spcBef>
              <a:spcAft>
                <a:spcPts val="0"/>
              </a:spcAft>
              <a:buSzPts val="1900"/>
              <a:buFont typeface="Arial"/>
              <a:buChar char="•"/>
            </a:pPr>
            <a:r>
              <a:rPr lang="zh-TW"/>
              <a:t>特徵數：約20,531個基因 </a:t>
            </a:r>
            <a:endParaRPr/>
          </a:p>
          <a:p>
            <a:pPr marL="91440" lvl="0" indent="-120650" algn="l" rtl="0">
              <a:lnSpc>
                <a:spcPct val="110000"/>
              </a:lnSpc>
              <a:spcBef>
                <a:spcPts val="1400"/>
              </a:spcBef>
              <a:spcAft>
                <a:spcPts val="0"/>
              </a:spcAft>
              <a:buSzPts val="1900"/>
              <a:buFont typeface="Arial"/>
              <a:buChar char="•"/>
            </a:pPr>
            <a:r>
              <a:rPr lang="zh-TW"/>
              <a:t>資料型態：RNA-seq（HTSeq-FPKM）</a:t>
            </a:r>
            <a:endParaRPr/>
          </a:p>
          <a:p>
            <a:pPr marL="91440" lvl="0" indent="0" algn="l" rtl="0">
              <a:lnSpc>
                <a:spcPct val="110000"/>
              </a:lnSpc>
              <a:spcBef>
                <a:spcPts val="1400"/>
              </a:spcBef>
              <a:spcAft>
                <a:spcPts val="0"/>
              </a:spcAft>
              <a:buSzPts val="1900"/>
              <a:buNone/>
            </a:pPr>
            <a:endParaRPr/>
          </a:p>
        </p:txBody>
      </p:sp>
      <p:sp>
        <p:nvSpPr>
          <p:cNvPr id="125" name="Google Shape;125;p4"/>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r>
              <a:rPr lang="zh-TW"/>
              <a:t>2026/5/19</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000"/>
              <a:buFont typeface="MingLiu"/>
              <a:buNone/>
            </a:pPr>
            <a:r>
              <a:rPr lang="zh-TW" sz="4000" b="1">
                <a:solidFill>
                  <a:srgbClr val="0070C0"/>
                </a:solidFill>
              </a:rPr>
              <a:t>標籤定義（分類目標）</a:t>
            </a:r>
            <a:endParaRPr sz="4000" b="1">
              <a:solidFill>
                <a:srgbClr val="0070C0"/>
              </a:solidFill>
            </a:endParaRPr>
          </a:p>
        </p:txBody>
      </p:sp>
      <p:sp>
        <p:nvSpPr>
          <p:cNvPr id="131" name="Google Shape;131;p5"/>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fontScale="92500" lnSpcReduction="20000"/>
          </a:bodyPr>
          <a:lstStyle/>
          <a:p>
            <a:pPr marL="91440" lvl="0" indent="-102553" algn="l" rtl="0">
              <a:lnSpc>
                <a:spcPct val="110000"/>
              </a:lnSpc>
              <a:spcBef>
                <a:spcPts val="0"/>
              </a:spcBef>
              <a:spcAft>
                <a:spcPts val="0"/>
              </a:spcAft>
              <a:buSzPct val="100000"/>
              <a:buChar char=" "/>
            </a:pPr>
            <a:r>
              <a:rPr lang="zh-TW"/>
              <a:t>研究將病人分為兩類：</a:t>
            </a:r>
            <a:endParaRPr/>
          </a:p>
          <a:p>
            <a:pPr marL="91440" lvl="0" indent="-102553" algn="l" rtl="0">
              <a:lnSpc>
                <a:spcPct val="110000"/>
              </a:lnSpc>
              <a:spcBef>
                <a:spcPts val="1400"/>
              </a:spcBef>
              <a:spcAft>
                <a:spcPts val="0"/>
              </a:spcAft>
              <a:buSzPct val="100000"/>
              <a:buFont typeface="Arial"/>
              <a:buChar char="•"/>
            </a:pPr>
            <a:r>
              <a:rPr lang="zh-TW"/>
              <a:t>高風險組（High-risk） </a:t>
            </a:r>
            <a:endParaRPr/>
          </a:p>
          <a:p>
            <a:pPr marL="91440" lvl="0" indent="-102553" algn="l" rtl="0">
              <a:lnSpc>
                <a:spcPct val="110000"/>
              </a:lnSpc>
              <a:spcBef>
                <a:spcPts val="1400"/>
              </a:spcBef>
              <a:spcAft>
                <a:spcPts val="0"/>
              </a:spcAft>
              <a:buSzPct val="100000"/>
              <a:buFont typeface="Arial"/>
              <a:buChar char="•"/>
            </a:pPr>
            <a:r>
              <a:rPr lang="zh-TW"/>
              <a:t>低風險組（Low-risk） </a:t>
            </a:r>
            <a:endParaRPr/>
          </a:p>
          <a:p>
            <a:pPr marL="91440" lvl="0" indent="-102553" algn="l" rtl="0">
              <a:lnSpc>
                <a:spcPct val="110000"/>
              </a:lnSpc>
              <a:spcBef>
                <a:spcPts val="1400"/>
              </a:spcBef>
              <a:spcAft>
                <a:spcPts val="0"/>
              </a:spcAft>
              <a:buSzPct val="100000"/>
              <a:buChar char=" "/>
            </a:pPr>
            <a:r>
              <a:rPr lang="zh-TW"/>
              <a:t>分組方式是根據：</a:t>
            </a:r>
            <a:endParaRPr/>
          </a:p>
          <a:p>
            <a:pPr marL="91440" lvl="0" indent="-102553" algn="l" rtl="0">
              <a:lnSpc>
                <a:spcPct val="110000"/>
              </a:lnSpc>
              <a:spcBef>
                <a:spcPts val="1400"/>
              </a:spcBef>
              <a:spcAft>
                <a:spcPts val="0"/>
              </a:spcAft>
              <a:buSzPct val="100000"/>
              <a:buChar char=" "/>
            </a:pPr>
            <a:r>
              <a:rPr lang="zh-TW" b="1">
                <a:solidFill>
                  <a:srgbClr val="FF0000"/>
                </a:solidFill>
              </a:rPr>
              <a:t>整體存活期的中位數（Median Survival）</a:t>
            </a:r>
            <a:endParaRPr/>
          </a:p>
          <a:p>
            <a:pPr marL="91440" lvl="0" indent="-102553" algn="l" rtl="0">
              <a:lnSpc>
                <a:spcPct val="110000"/>
              </a:lnSpc>
              <a:spcBef>
                <a:spcPts val="1400"/>
              </a:spcBef>
              <a:spcAft>
                <a:spcPts val="0"/>
              </a:spcAft>
              <a:buSzPct val="100000"/>
              <a:buChar char=" "/>
            </a:pPr>
            <a:r>
              <a:rPr lang="zh-TW"/>
              <a:t>並且兩組比例接近：</a:t>
            </a:r>
            <a:endParaRPr/>
          </a:p>
          <a:p>
            <a:pPr marL="91440" lvl="0" indent="-102553" algn="l" rtl="0">
              <a:lnSpc>
                <a:spcPct val="110000"/>
              </a:lnSpc>
              <a:spcBef>
                <a:spcPts val="1400"/>
              </a:spcBef>
              <a:spcAft>
                <a:spcPts val="0"/>
              </a:spcAft>
              <a:buSzPct val="100000"/>
              <a:buFont typeface="Arial"/>
              <a:buChar char="•"/>
            </a:pPr>
            <a:r>
              <a:rPr lang="zh-TW"/>
              <a:t>低風險：約47.9% </a:t>
            </a:r>
            <a:endParaRPr/>
          </a:p>
          <a:p>
            <a:pPr marL="91440" lvl="0" indent="-102553" algn="l" rtl="0">
              <a:lnSpc>
                <a:spcPct val="110000"/>
              </a:lnSpc>
              <a:spcBef>
                <a:spcPts val="1400"/>
              </a:spcBef>
              <a:spcAft>
                <a:spcPts val="0"/>
              </a:spcAft>
              <a:buSzPct val="100000"/>
              <a:buFont typeface="Arial"/>
              <a:buChar char="•"/>
            </a:pPr>
            <a:r>
              <a:rPr lang="zh-TW"/>
              <a:t>高風險：約52.1% </a:t>
            </a:r>
            <a:endParaRPr/>
          </a:p>
          <a:p>
            <a:pPr marL="91440" lvl="0" indent="-102553" algn="l" rtl="0">
              <a:lnSpc>
                <a:spcPct val="110000"/>
              </a:lnSpc>
              <a:spcBef>
                <a:spcPts val="1400"/>
              </a:spcBef>
              <a:spcAft>
                <a:spcPts val="0"/>
              </a:spcAft>
              <a:buSzPct val="100000"/>
              <a:buChar char=" "/>
            </a:pPr>
            <a:r>
              <a:rPr lang="zh-TW"/>
              <a:t>這樣的分布有助於模型訓練。</a:t>
            </a:r>
            <a:endParaRPr/>
          </a:p>
          <a:p>
            <a:pPr marL="91440" lvl="0" indent="0" algn="l" rtl="0">
              <a:lnSpc>
                <a:spcPct val="110000"/>
              </a:lnSpc>
              <a:spcBef>
                <a:spcPts val="1400"/>
              </a:spcBef>
              <a:spcAft>
                <a:spcPts val="0"/>
              </a:spcAft>
              <a:buSzPct val="100000"/>
              <a:buNone/>
            </a:pPr>
            <a:endParaRPr/>
          </a:p>
        </p:txBody>
      </p:sp>
      <p:sp>
        <p:nvSpPr>
          <p:cNvPr id="132" name="Google Shape;132;p5"/>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r>
              <a:rPr lang="zh-TW"/>
              <a:t>2026/5/19</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000"/>
              <a:buFont typeface="MingLiu"/>
              <a:buNone/>
            </a:pPr>
            <a:r>
              <a:rPr lang="zh-TW" sz="4000" b="1">
                <a:solidFill>
                  <a:srgbClr val="0070C0"/>
                </a:solidFill>
              </a:rPr>
              <a:t>研究方法流程</a:t>
            </a:r>
            <a:endParaRPr/>
          </a:p>
        </p:txBody>
      </p:sp>
      <p:sp>
        <p:nvSpPr>
          <p:cNvPr id="138" name="Google Shape;138;p6"/>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lnSpcReduction="10000"/>
          </a:bodyPr>
          <a:lstStyle/>
          <a:p>
            <a:pPr marL="91440" lvl="0" indent="-120650" algn="l" rtl="0">
              <a:lnSpc>
                <a:spcPct val="110000"/>
              </a:lnSpc>
              <a:spcBef>
                <a:spcPts val="0"/>
              </a:spcBef>
              <a:spcAft>
                <a:spcPts val="0"/>
              </a:spcAft>
              <a:buSzPts val="1900"/>
              <a:buChar char=" "/>
            </a:pPr>
            <a:r>
              <a:rPr lang="zh-TW"/>
              <a:t>整體分析流程如下：</a:t>
            </a:r>
            <a:endParaRPr/>
          </a:p>
          <a:p>
            <a:pPr marL="91440" lvl="0" indent="-120650" algn="l" rtl="0">
              <a:lnSpc>
                <a:spcPct val="110000"/>
              </a:lnSpc>
              <a:spcBef>
                <a:spcPts val="1400"/>
              </a:spcBef>
              <a:spcAft>
                <a:spcPts val="0"/>
              </a:spcAft>
              <a:buSzPts val="1900"/>
              <a:buFont typeface="Bookman Old Style"/>
              <a:buAutoNum type="arabicPeriod"/>
            </a:pPr>
            <a:r>
              <a:rPr lang="zh-TW"/>
              <a:t>資料前處理與正規化 </a:t>
            </a:r>
            <a:endParaRPr/>
          </a:p>
          <a:p>
            <a:pPr marL="91440" lvl="0" indent="-120650" algn="l" rtl="0">
              <a:lnSpc>
                <a:spcPct val="110000"/>
              </a:lnSpc>
              <a:spcBef>
                <a:spcPts val="1400"/>
              </a:spcBef>
              <a:spcAft>
                <a:spcPts val="0"/>
              </a:spcAft>
              <a:buSzPts val="1900"/>
              <a:buFont typeface="Bookman Old Style"/>
              <a:buAutoNum type="arabicPeriod"/>
            </a:pPr>
            <a:r>
              <a:rPr lang="zh-TW"/>
              <a:t>差異基因分析（DEG） </a:t>
            </a:r>
            <a:endParaRPr/>
          </a:p>
          <a:p>
            <a:pPr marL="91440" lvl="0" indent="-120650" algn="l" rtl="0">
              <a:lnSpc>
                <a:spcPct val="110000"/>
              </a:lnSpc>
              <a:spcBef>
                <a:spcPts val="1400"/>
              </a:spcBef>
              <a:spcAft>
                <a:spcPts val="0"/>
              </a:spcAft>
              <a:buSzPts val="1900"/>
              <a:buFont typeface="Bookman Old Style"/>
              <a:buAutoNum type="arabicPeriod"/>
            </a:pPr>
            <a:r>
              <a:rPr lang="zh-TW"/>
              <a:t>選取前50個重要基因 </a:t>
            </a:r>
            <a:endParaRPr/>
          </a:p>
          <a:p>
            <a:pPr marL="91440" lvl="0" indent="-120650" algn="l" rtl="0">
              <a:lnSpc>
                <a:spcPct val="110000"/>
              </a:lnSpc>
              <a:spcBef>
                <a:spcPts val="1400"/>
              </a:spcBef>
              <a:spcAft>
                <a:spcPts val="0"/>
              </a:spcAft>
              <a:buSzPts val="1900"/>
              <a:buFont typeface="Bookman Old Style"/>
              <a:buAutoNum type="arabicPeriod"/>
            </a:pPr>
            <a:r>
              <a:rPr lang="zh-TW"/>
              <a:t>PCA降維分析 </a:t>
            </a:r>
            <a:endParaRPr/>
          </a:p>
          <a:p>
            <a:pPr marL="91440" lvl="0" indent="-120650" algn="l" rtl="0">
              <a:lnSpc>
                <a:spcPct val="110000"/>
              </a:lnSpc>
              <a:spcBef>
                <a:spcPts val="1400"/>
              </a:spcBef>
              <a:spcAft>
                <a:spcPts val="0"/>
              </a:spcAft>
              <a:buSzPts val="1900"/>
              <a:buFont typeface="Bookman Old Style"/>
              <a:buAutoNum type="arabicPeriod"/>
            </a:pPr>
            <a:r>
              <a:rPr lang="zh-TW"/>
              <a:t>建立機器學習模型（Random Forest） </a:t>
            </a:r>
            <a:endParaRPr/>
          </a:p>
          <a:p>
            <a:pPr marL="91440" lvl="0" indent="-120650" algn="l" rtl="0">
              <a:lnSpc>
                <a:spcPct val="110000"/>
              </a:lnSpc>
              <a:spcBef>
                <a:spcPts val="1400"/>
              </a:spcBef>
              <a:spcAft>
                <a:spcPts val="0"/>
              </a:spcAft>
              <a:buSzPts val="1900"/>
              <a:buFont typeface="Bookman Old Style"/>
              <a:buAutoNum type="arabicPeriod"/>
            </a:pPr>
            <a:r>
              <a:rPr lang="zh-TW"/>
              <a:t>模型評估（ROC、AUC、混淆矩陣） </a:t>
            </a:r>
            <a:endParaRPr/>
          </a:p>
          <a:p>
            <a:pPr marL="91440" lvl="0" indent="-120650" algn="l" rtl="0">
              <a:lnSpc>
                <a:spcPct val="110000"/>
              </a:lnSpc>
              <a:spcBef>
                <a:spcPts val="1400"/>
              </a:spcBef>
              <a:spcAft>
                <a:spcPts val="0"/>
              </a:spcAft>
              <a:buSzPts val="1900"/>
              <a:buFont typeface="Bookman Old Style"/>
              <a:buAutoNum type="arabicPeriod"/>
            </a:pPr>
            <a:r>
              <a:rPr lang="zh-TW"/>
              <a:t>模型解釋（SHAP）</a:t>
            </a:r>
            <a:endParaRPr/>
          </a:p>
          <a:p>
            <a:pPr marL="91440" lvl="0" indent="0" algn="l" rtl="0">
              <a:lnSpc>
                <a:spcPct val="110000"/>
              </a:lnSpc>
              <a:spcBef>
                <a:spcPts val="1400"/>
              </a:spcBef>
              <a:spcAft>
                <a:spcPts val="0"/>
              </a:spcAft>
              <a:buSzPts val="1900"/>
              <a:buNone/>
            </a:pPr>
            <a:endParaRPr/>
          </a:p>
        </p:txBody>
      </p:sp>
      <p:sp>
        <p:nvSpPr>
          <p:cNvPr id="139" name="Google Shape;139;p6"/>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zh-TW"/>
              <a:t>2026/5/19</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000"/>
              <a:buFont typeface="MingLiu"/>
              <a:buNone/>
            </a:pPr>
            <a:r>
              <a:rPr lang="zh-TW" sz="4000" b="1">
                <a:solidFill>
                  <a:srgbClr val="0070C0"/>
                </a:solidFill>
              </a:rPr>
              <a:t>資料前處理</a:t>
            </a:r>
            <a:endParaRPr/>
          </a:p>
        </p:txBody>
      </p:sp>
      <p:sp>
        <p:nvSpPr>
          <p:cNvPr id="145" name="Google Shape;145;p7"/>
          <p:cNvSpPr txBox="1">
            <a:spLocks noGrp="1"/>
          </p:cNvSpPr>
          <p:nvPr>
            <p:ph type="body" idx="1"/>
          </p:nvPr>
        </p:nvSpPr>
        <p:spPr>
          <a:xfrm>
            <a:off x="1097280" y="2108201"/>
            <a:ext cx="10058400" cy="3713759"/>
          </a:xfrm>
          <a:prstGeom prst="rect">
            <a:avLst/>
          </a:prstGeom>
          <a:noFill/>
          <a:ln>
            <a:noFill/>
          </a:ln>
        </p:spPr>
        <p:txBody>
          <a:bodyPr spcFirstLastPara="1" wrap="square" lIns="0" tIns="45700" rIns="0" bIns="45700" anchor="t" anchorCtr="0">
            <a:normAutofit/>
          </a:bodyPr>
          <a:lstStyle/>
          <a:p>
            <a:pPr marL="91440" lvl="0" indent="-120650" algn="l" rtl="0">
              <a:lnSpc>
                <a:spcPct val="110000"/>
              </a:lnSpc>
              <a:spcBef>
                <a:spcPts val="0"/>
              </a:spcBef>
              <a:spcAft>
                <a:spcPts val="0"/>
              </a:spcAft>
              <a:buSzPts val="1900"/>
              <a:buChar char=" "/>
            </a:pPr>
            <a:r>
              <a:rPr lang="zh-TW"/>
              <a:t>分析前，我先進行資料清理與轉換：</a:t>
            </a:r>
            <a:endParaRPr/>
          </a:p>
          <a:p>
            <a:pPr marL="91440" lvl="0" indent="0" algn="l" rtl="0">
              <a:lnSpc>
                <a:spcPct val="110000"/>
              </a:lnSpc>
              <a:spcBef>
                <a:spcPts val="1400"/>
              </a:spcBef>
              <a:spcAft>
                <a:spcPts val="0"/>
              </a:spcAft>
              <a:buSzPts val="1900"/>
              <a:buNone/>
            </a:pPr>
            <a:endParaRPr/>
          </a:p>
          <a:p>
            <a:pPr marL="91440" lvl="0" indent="-120650" algn="l" rtl="0">
              <a:lnSpc>
                <a:spcPct val="110000"/>
              </a:lnSpc>
              <a:spcBef>
                <a:spcPts val="1400"/>
              </a:spcBef>
              <a:spcAft>
                <a:spcPts val="0"/>
              </a:spcAft>
              <a:buSzPts val="1900"/>
              <a:buFont typeface="Arial"/>
              <a:buChar char="•"/>
            </a:pPr>
            <a:r>
              <a:rPr lang="zh-TW"/>
              <a:t>移除低表達基因 </a:t>
            </a:r>
            <a:endParaRPr/>
          </a:p>
          <a:p>
            <a:pPr marL="91440" lvl="0" indent="-120650" algn="l" rtl="0">
              <a:lnSpc>
                <a:spcPct val="110000"/>
              </a:lnSpc>
              <a:spcBef>
                <a:spcPts val="1400"/>
              </a:spcBef>
              <a:spcAft>
                <a:spcPts val="0"/>
              </a:spcAft>
              <a:buSzPts val="1900"/>
              <a:buFont typeface="Arial"/>
              <a:buChar char="•"/>
            </a:pPr>
            <a:r>
              <a:rPr lang="zh-TW"/>
              <a:t>進行 log</a:t>
            </a:r>
            <a:r>
              <a:rPr lang="zh-TW" baseline="-25000"/>
              <a:t>2</a:t>
            </a:r>
            <a:r>
              <a:rPr lang="zh-TW"/>
              <a:t>(x+1) 轉換 </a:t>
            </a:r>
            <a:endParaRPr/>
          </a:p>
          <a:p>
            <a:pPr marL="91440" lvl="0" indent="-120650" algn="l" rtl="0">
              <a:lnSpc>
                <a:spcPct val="110000"/>
              </a:lnSpc>
              <a:spcBef>
                <a:spcPts val="1400"/>
              </a:spcBef>
              <a:spcAft>
                <a:spcPts val="0"/>
              </a:spcAft>
              <a:buSzPts val="1900"/>
              <a:buFont typeface="Arial"/>
              <a:buChar char="•"/>
            </a:pPr>
            <a:r>
              <a:rPr lang="zh-TW"/>
              <a:t>進行資料正規化 </a:t>
            </a:r>
            <a:endParaRPr/>
          </a:p>
          <a:p>
            <a:pPr marL="91440" lvl="0" indent="-120650" algn="l" rtl="0">
              <a:lnSpc>
                <a:spcPct val="110000"/>
              </a:lnSpc>
              <a:spcBef>
                <a:spcPts val="1400"/>
              </a:spcBef>
              <a:spcAft>
                <a:spcPts val="0"/>
              </a:spcAft>
              <a:buSzPts val="1900"/>
              <a:buChar char=" "/>
            </a:pPr>
            <a:r>
              <a:rPr lang="zh-TW"/>
              <a:t>這些步驟可以降低雜訊，並提升模型穩定性。</a:t>
            </a:r>
            <a:endParaRPr/>
          </a:p>
          <a:p>
            <a:pPr marL="91440" lvl="0" indent="0" algn="l" rtl="0">
              <a:lnSpc>
                <a:spcPct val="110000"/>
              </a:lnSpc>
              <a:spcBef>
                <a:spcPts val="1400"/>
              </a:spcBef>
              <a:spcAft>
                <a:spcPts val="0"/>
              </a:spcAft>
              <a:buSzPts val="1900"/>
              <a:buNone/>
            </a:pPr>
            <a:endParaRPr/>
          </a:p>
        </p:txBody>
      </p:sp>
      <p:sp>
        <p:nvSpPr>
          <p:cNvPr id="146" name="Google Shape;146;p7"/>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zh-TW"/>
              <a:t>2026/5/19</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000"/>
              <a:buFont typeface="MingLiu"/>
              <a:buNone/>
            </a:pPr>
            <a:r>
              <a:rPr lang="zh-TW" sz="4000" b="1" dirty="0">
                <a:solidFill>
                  <a:srgbClr val="0070C0"/>
                </a:solidFill>
              </a:rPr>
              <a:t>差異基因分析（DEG）</a:t>
            </a:r>
            <a:endParaRPr dirty="0"/>
          </a:p>
        </p:txBody>
      </p:sp>
      <p:sp>
        <p:nvSpPr>
          <p:cNvPr id="152" name="Google Shape;152;p8"/>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p>
            <a:pPr marL="91440" lvl="0" indent="-120650" algn="l" rtl="0">
              <a:lnSpc>
                <a:spcPct val="110000"/>
              </a:lnSpc>
              <a:spcBef>
                <a:spcPts val="0"/>
              </a:spcBef>
              <a:spcAft>
                <a:spcPts val="0"/>
              </a:spcAft>
              <a:buSzPts val="1900"/>
              <a:buChar char=" "/>
            </a:pPr>
            <a:r>
              <a:rPr lang="zh-TW" dirty="0"/>
              <a:t>使用 </a:t>
            </a:r>
            <a:r>
              <a:rPr lang="zh-TW" i="1" dirty="0"/>
              <a:t>t</a:t>
            </a:r>
            <a:r>
              <a:rPr lang="zh-TW" dirty="0"/>
              <a:t>-test 比較高風險與低風險組之間的基因差異。</a:t>
            </a:r>
            <a:endParaRPr dirty="0"/>
          </a:p>
          <a:p>
            <a:pPr marL="91440" lvl="0" indent="-120650" algn="l" rtl="0">
              <a:lnSpc>
                <a:spcPct val="110000"/>
              </a:lnSpc>
              <a:spcBef>
                <a:spcPts val="1400"/>
              </a:spcBef>
              <a:spcAft>
                <a:spcPts val="0"/>
              </a:spcAft>
              <a:buSzPts val="1900"/>
              <a:buChar char=" "/>
            </a:pPr>
            <a:r>
              <a:rPr lang="zh-TW" dirty="0"/>
              <a:t>篩選條件為：</a:t>
            </a:r>
            <a:endParaRPr dirty="0"/>
          </a:p>
          <a:p>
            <a:pPr marL="91440" lvl="0" indent="-120650" algn="l" rtl="0">
              <a:lnSpc>
                <a:spcPct val="110000"/>
              </a:lnSpc>
              <a:spcBef>
                <a:spcPts val="1400"/>
              </a:spcBef>
              <a:spcAft>
                <a:spcPts val="0"/>
              </a:spcAft>
              <a:buSzPts val="1900"/>
              <a:buFont typeface="Arial"/>
              <a:buChar char="•"/>
            </a:pPr>
            <a:r>
              <a:rPr lang="zh-TW" dirty="0"/>
              <a:t>調整後 </a:t>
            </a:r>
            <a:r>
              <a:rPr lang="zh-TW" i="1" dirty="0"/>
              <a:t>p</a:t>
            </a:r>
            <a:r>
              <a:rPr lang="zh-TW" dirty="0"/>
              <a:t>-value &lt; 0.05 </a:t>
            </a:r>
            <a:endParaRPr dirty="0"/>
          </a:p>
          <a:p>
            <a:pPr marL="91440" lvl="0" indent="-120650" algn="l" rtl="0">
              <a:lnSpc>
                <a:spcPct val="110000"/>
              </a:lnSpc>
              <a:spcBef>
                <a:spcPts val="1400"/>
              </a:spcBef>
              <a:spcAft>
                <a:spcPts val="0"/>
              </a:spcAft>
              <a:buSzPts val="1900"/>
              <a:buFont typeface="Arial"/>
              <a:buChar char="•"/>
            </a:pPr>
            <a:r>
              <a:rPr lang="zh-TW" dirty="0"/>
              <a:t>|lo</a:t>
            </a:r>
            <a:r>
              <a:rPr lang="en-US" altLang="zh-TW" dirty="0"/>
              <a:t>g2FC</a:t>
            </a:r>
            <a:r>
              <a:rPr lang="zh-TW" dirty="0"/>
              <a:t>| &gt; 1 </a:t>
            </a:r>
            <a:endParaRPr dirty="0"/>
          </a:p>
          <a:p>
            <a:pPr marL="91440" lvl="0" indent="-120650" algn="l" rtl="0">
              <a:lnSpc>
                <a:spcPct val="110000"/>
              </a:lnSpc>
              <a:spcBef>
                <a:spcPts val="1400"/>
              </a:spcBef>
              <a:spcAft>
                <a:spcPts val="0"/>
              </a:spcAft>
              <a:buSzPts val="1900"/>
              <a:buChar char=" "/>
            </a:pPr>
            <a:r>
              <a:rPr lang="zh-TW" dirty="0"/>
              <a:t>最終共找到：</a:t>
            </a:r>
            <a:endParaRPr dirty="0"/>
          </a:p>
          <a:p>
            <a:pPr marL="91440" lvl="0" indent="-120650" algn="l" rtl="0">
              <a:lnSpc>
                <a:spcPct val="110000"/>
              </a:lnSpc>
              <a:spcBef>
                <a:spcPts val="1400"/>
              </a:spcBef>
              <a:spcAft>
                <a:spcPts val="0"/>
              </a:spcAft>
              <a:buSzPts val="1900"/>
              <a:buChar char=" "/>
            </a:pPr>
            <a:r>
              <a:rPr lang="zh-TW" b="1" dirty="0">
                <a:solidFill>
                  <a:srgbClr val="FF0000"/>
                </a:solidFill>
              </a:rPr>
              <a:t>2,655個顯著差異基因</a:t>
            </a:r>
            <a:endParaRPr dirty="0">
              <a:solidFill>
                <a:srgbClr val="FF0000"/>
              </a:solidFill>
            </a:endParaRPr>
          </a:p>
          <a:p>
            <a:pPr marL="91440" lvl="0" indent="-120650" algn="l" rtl="0">
              <a:lnSpc>
                <a:spcPct val="110000"/>
              </a:lnSpc>
              <a:spcBef>
                <a:spcPts val="1400"/>
              </a:spcBef>
              <a:spcAft>
                <a:spcPts val="0"/>
              </a:spcAft>
              <a:buSzPts val="1900"/>
              <a:buChar char=" "/>
            </a:pPr>
            <a:r>
              <a:rPr lang="zh-TW" dirty="0"/>
              <a:t>這些基因代表兩組之間的重要生物差異。</a:t>
            </a:r>
            <a:endParaRPr dirty="0"/>
          </a:p>
          <a:p>
            <a:pPr marL="91440" lvl="0" indent="0" algn="l" rtl="0">
              <a:lnSpc>
                <a:spcPct val="110000"/>
              </a:lnSpc>
              <a:spcBef>
                <a:spcPts val="1400"/>
              </a:spcBef>
              <a:spcAft>
                <a:spcPts val="0"/>
              </a:spcAft>
              <a:buSzPts val="1900"/>
              <a:buNone/>
            </a:pPr>
            <a:endParaRPr dirty="0"/>
          </a:p>
        </p:txBody>
      </p:sp>
      <p:sp>
        <p:nvSpPr>
          <p:cNvPr id="153" name="Google Shape;153;p8"/>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zh-TW"/>
              <a:t>2026/5/19</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000"/>
              <a:buFont typeface="MingLiu"/>
              <a:buNone/>
            </a:pPr>
            <a:r>
              <a:rPr lang="zh-TW" sz="4000" b="1" dirty="0">
                <a:solidFill>
                  <a:srgbClr val="0070C0"/>
                </a:solidFill>
              </a:rPr>
              <a:t>PCA降維分析</a:t>
            </a:r>
            <a:endParaRPr dirty="0"/>
          </a:p>
        </p:txBody>
      </p:sp>
      <p:sp>
        <p:nvSpPr>
          <p:cNvPr id="159" name="Google Shape;159;p9"/>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p>
            <a:pPr marL="91440" lvl="0" indent="-120650" algn="l" rtl="0">
              <a:lnSpc>
                <a:spcPct val="110000"/>
              </a:lnSpc>
              <a:spcBef>
                <a:spcPts val="0"/>
              </a:spcBef>
              <a:spcAft>
                <a:spcPts val="0"/>
              </a:spcAft>
              <a:buSzPts val="1900"/>
              <a:buChar char=" "/>
            </a:pPr>
            <a:r>
              <a:rPr lang="zh-TW" dirty="0"/>
              <a:t>PCA（主成分分析）將高維資料降至2維進行視覺化。</a:t>
            </a:r>
            <a:endParaRPr dirty="0"/>
          </a:p>
          <a:p>
            <a:pPr marL="91440" lvl="0" indent="-120650" algn="l" rtl="0">
              <a:lnSpc>
                <a:spcPct val="110000"/>
              </a:lnSpc>
              <a:spcBef>
                <a:spcPts val="1400"/>
              </a:spcBef>
              <a:spcAft>
                <a:spcPts val="0"/>
              </a:spcAft>
              <a:buSzPts val="1900"/>
              <a:buChar char=" "/>
            </a:pPr>
            <a:r>
              <a:rPr lang="zh-TW" dirty="0"/>
              <a:t>結果顯示：</a:t>
            </a:r>
            <a:endParaRPr dirty="0"/>
          </a:p>
          <a:p>
            <a:pPr marL="91440" lvl="0" indent="-120650" algn="l" rtl="0">
              <a:lnSpc>
                <a:spcPct val="110000"/>
              </a:lnSpc>
              <a:spcBef>
                <a:spcPts val="1400"/>
              </a:spcBef>
              <a:spcAft>
                <a:spcPts val="0"/>
              </a:spcAft>
              <a:buSzPts val="1900"/>
              <a:buChar char=" "/>
            </a:pPr>
            <a:r>
              <a:rPr lang="zh-TW" b="1" dirty="0">
                <a:solidFill>
                  <a:srgbClr val="FF0000"/>
                </a:solidFill>
              </a:rPr>
              <a:t>高風險組與低風險組在圖中呈現明顯分離</a:t>
            </a:r>
            <a:endParaRPr dirty="0"/>
          </a:p>
          <a:p>
            <a:pPr marL="91440" lvl="0" indent="-120650" algn="l" rtl="0">
              <a:lnSpc>
                <a:spcPct val="110000"/>
              </a:lnSpc>
              <a:spcBef>
                <a:spcPts val="1400"/>
              </a:spcBef>
              <a:spcAft>
                <a:spcPts val="0"/>
              </a:spcAft>
              <a:buSzPts val="1900"/>
              <a:buChar char=" "/>
            </a:pPr>
            <a:r>
              <a:rPr lang="zh-TW" dirty="0"/>
              <a:t>代表基因表達模式確實具有區分能力。</a:t>
            </a:r>
            <a:endParaRPr dirty="0"/>
          </a:p>
          <a:p>
            <a:pPr marL="91440" lvl="0" indent="0" algn="l" rtl="0">
              <a:lnSpc>
                <a:spcPct val="110000"/>
              </a:lnSpc>
              <a:spcBef>
                <a:spcPts val="1400"/>
              </a:spcBef>
              <a:spcAft>
                <a:spcPts val="0"/>
              </a:spcAft>
              <a:buSzPts val="1900"/>
              <a:buNone/>
            </a:pPr>
            <a:endParaRPr dirty="0"/>
          </a:p>
        </p:txBody>
      </p:sp>
      <p:sp>
        <p:nvSpPr>
          <p:cNvPr id="160" name="Google Shape;160;p9"/>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zh-TW"/>
              <a:t>2026/5/19</a:t>
            </a:r>
            <a:endParaRPr/>
          </a:p>
        </p:txBody>
      </p:sp>
      <p:pic>
        <p:nvPicPr>
          <p:cNvPr id="161" name="Google Shape;161;p9"/>
          <p:cNvPicPr preferRelativeResize="0"/>
          <p:nvPr/>
        </p:nvPicPr>
        <p:blipFill rotWithShape="1">
          <a:blip r:embed="rId3">
            <a:alphaModFix/>
          </a:blip>
          <a:srcRect/>
          <a:stretch/>
        </p:blipFill>
        <p:spPr>
          <a:xfrm>
            <a:off x="7685615" y="2108201"/>
            <a:ext cx="3831934" cy="4128982"/>
          </a:xfrm>
          <a:prstGeom prst="rect">
            <a:avLst/>
          </a:prstGeom>
          <a:noFill/>
          <a:ln>
            <a:noFill/>
          </a:ln>
        </p:spPr>
      </p:pic>
      <p:sp>
        <p:nvSpPr>
          <p:cNvPr id="7" name="文字方塊 6">
            <a:extLst>
              <a:ext uri="{FF2B5EF4-FFF2-40B4-BE49-F238E27FC236}">
                <a16:creationId xmlns:a16="http://schemas.microsoft.com/office/drawing/2014/main" id="{D440CD70-2AF2-47D1-8EDF-52B2C4D02CC1}"/>
              </a:ext>
            </a:extLst>
          </p:cNvPr>
          <p:cNvSpPr txBox="1"/>
          <p:nvPr/>
        </p:nvSpPr>
        <p:spPr>
          <a:xfrm>
            <a:off x="1097280" y="4323547"/>
            <a:ext cx="5708765" cy="1477328"/>
          </a:xfrm>
          <a:prstGeom prst="rect">
            <a:avLst/>
          </a:prstGeom>
          <a:noFill/>
        </p:spPr>
        <p:txBody>
          <a:bodyPr wrap="square">
            <a:spAutoFit/>
          </a:bodyPr>
          <a:lstStyle/>
          <a:p>
            <a:r>
              <a:rPr lang="zh-TW" altLang="en-US" sz="1800" dirty="0"/>
              <a:t>在 </a:t>
            </a:r>
            <a:r>
              <a:rPr lang="en-US" altLang="zh-TW" sz="1800" dirty="0"/>
              <a:t>4.1 </a:t>
            </a:r>
            <a:r>
              <a:rPr lang="zh-TW" altLang="en-US" sz="1800" dirty="0"/>
              <a:t>的 </a:t>
            </a:r>
            <a:r>
              <a:rPr lang="en-US" altLang="zh-TW" sz="1800" dirty="0"/>
              <a:t>PCA </a:t>
            </a:r>
            <a:r>
              <a:rPr lang="zh-TW" altLang="en-US" sz="1800" dirty="0"/>
              <a:t>降維圖中，我利用前兩個主成分（</a:t>
            </a:r>
            <a:r>
              <a:rPr lang="en-US" altLang="zh-TW" sz="1800" dirty="0"/>
              <a:t>PC1 </a:t>
            </a:r>
            <a:r>
              <a:rPr lang="zh-TW" altLang="en-US" sz="1800" dirty="0"/>
              <a:t>與 </a:t>
            </a:r>
            <a:r>
              <a:rPr lang="en-US" altLang="zh-TW" sz="1800" dirty="0"/>
              <a:t>PC2</a:t>
            </a:r>
            <a:r>
              <a:rPr lang="zh-TW" altLang="en-US" sz="1800" dirty="0"/>
              <a:t>）將高維度的基因特徵拉平到二維空間。可以看到高風險組與低風險組的病人樣本呈現出清晰的分群聚類模式，這證明了兩組病人在分子層面上確實存在本質上的特徵差異。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000"/>
              <a:buFont typeface="MingLiu"/>
              <a:buNone/>
            </a:pPr>
            <a:r>
              <a:rPr lang="zh-TW" sz="4000" b="1">
                <a:solidFill>
                  <a:srgbClr val="0070C0"/>
                </a:solidFill>
              </a:rPr>
              <a:t>Heatmap（熱圖分析）</a:t>
            </a:r>
            <a:endParaRPr/>
          </a:p>
        </p:txBody>
      </p:sp>
      <p:sp>
        <p:nvSpPr>
          <p:cNvPr id="167" name="Google Shape;167;p10"/>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p>
            <a:pPr marL="91440" lvl="0" indent="-120650" algn="l" rtl="0">
              <a:lnSpc>
                <a:spcPct val="110000"/>
              </a:lnSpc>
              <a:spcBef>
                <a:spcPts val="0"/>
              </a:spcBef>
              <a:spcAft>
                <a:spcPts val="0"/>
              </a:spcAft>
              <a:buSzPts val="1900"/>
              <a:buChar char=" "/>
            </a:pPr>
            <a:r>
              <a:rPr lang="zh-TW"/>
              <a:t>熱圖顯示前50個差異基因在不同樣本中的表現情形：</a:t>
            </a:r>
            <a:endParaRPr/>
          </a:p>
          <a:p>
            <a:pPr marL="91440" lvl="0" indent="-120650" algn="l" rtl="0">
              <a:lnSpc>
                <a:spcPct val="110000"/>
              </a:lnSpc>
              <a:spcBef>
                <a:spcPts val="1400"/>
              </a:spcBef>
              <a:spcAft>
                <a:spcPts val="0"/>
              </a:spcAft>
              <a:buSzPts val="1900"/>
              <a:buFont typeface="Arial"/>
              <a:buChar char="•"/>
            </a:pPr>
            <a:r>
              <a:rPr lang="zh-TW"/>
              <a:t>紅色：高表達 </a:t>
            </a:r>
            <a:endParaRPr/>
          </a:p>
          <a:p>
            <a:pPr marL="91440" lvl="0" indent="-120650" algn="l" rtl="0">
              <a:lnSpc>
                <a:spcPct val="110000"/>
              </a:lnSpc>
              <a:spcBef>
                <a:spcPts val="1400"/>
              </a:spcBef>
              <a:spcAft>
                <a:spcPts val="0"/>
              </a:spcAft>
              <a:buSzPts val="1900"/>
              <a:buFont typeface="Arial"/>
              <a:buChar char="•"/>
            </a:pPr>
            <a:r>
              <a:rPr lang="zh-TW"/>
              <a:t>藍色：低表達 </a:t>
            </a:r>
            <a:endParaRPr/>
          </a:p>
          <a:p>
            <a:pPr marL="91440" lvl="0" indent="-120650" algn="l" rtl="0">
              <a:lnSpc>
                <a:spcPct val="110000"/>
              </a:lnSpc>
              <a:spcBef>
                <a:spcPts val="1400"/>
              </a:spcBef>
              <a:spcAft>
                <a:spcPts val="0"/>
              </a:spcAft>
              <a:buSzPts val="1900"/>
              <a:buChar char=" "/>
            </a:pPr>
            <a:r>
              <a:rPr lang="zh-TW"/>
              <a:t>結果顯示兩群樣本具有明顯不同的基因表達模式。</a:t>
            </a:r>
            <a:endParaRPr/>
          </a:p>
          <a:p>
            <a:pPr marL="91440" lvl="0" indent="0" algn="l" rtl="0">
              <a:lnSpc>
                <a:spcPct val="110000"/>
              </a:lnSpc>
              <a:spcBef>
                <a:spcPts val="1400"/>
              </a:spcBef>
              <a:spcAft>
                <a:spcPts val="0"/>
              </a:spcAft>
              <a:buSzPts val="1900"/>
              <a:buNone/>
            </a:pPr>
            <a:endParaRPr/>
          </a:p>
        </p:txBody>
      </p:sp>
      <p:sp>
        <p:nvSpPr>
          <p:cNvPr id="168" name="Google Shape;168;p10"/>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zh-TW"/>
              <a:t>2026/5/19</a:t>
            </a:r>
            <a:endParaRPr/>
          </a:p>
        </p:txBody>
      </p:sp>
      <p:pic>
        <p:nvPicPr>
          <p:cNvPr id="169" name="Google Shape;169;p10"/>
          <p:cNvPicPr preferRelativeResize="0"/>
          <p:nvPr/>
        </p:nvPicPr>
        <p:blipFill rotWithShape="1">
          <a:blip r:embed="rId3">
            <a:alphaModFix/>
          </a:blip>
          <a:srcRect/>
          <a:stretch/>
        </p:blipFill>
        <p:spPr>
          <a:xfrm>
            <a:off x="6920610" y="2532383"/>
            <a:ext cx="4419983" cy="3139712"/>
          </a:xfrm>
          <a:prstGeom prst="rect">
            <a:avLst/>
          </a:prstGeom>
          <a:noFill/>
          <a:ln>
            <a:noFill/>
          </a:ln>
        </p:spPr>
      </p:pic>
      <p:sp>
        <p:nvSpPr>
          <p:cNvPr id="7" name="文字方塊 6">
            <a:extLst>
              <a:ext uri="{FF2B5EF4-FFF2-40B4-BE49-F238E27FC236}">
                <a16:creationId xmlns:a16="http://schemas.microsoft.com/office/drawing/2014/main" id="{BFE69829-67A9-4835-89DC-461F13A678CC}"/>
              </a:ext>
            </a:extLst>
          </p:cNvPr>
          <p:cNvSpPr txBox="1"/>
          <p:nvPr/>
        </p:nvSpPr>
        <p:spPr>
          <a:xfrm>
            <a:off x="1097280" y="4391764"/>
            <a:ext cx="5586198" cy="1477328"/>
          </a:xfrm>
          <a:prstGeom prst="rect">
            <a:avLst/>
          </a:prstGeom>
          <a:noFill/>
        </p:spPr>
        <p:txBody>
          <a:bodyPr wrap="square">
            <a:spAutoFit/>
          </a:bodyPr>
          <a:lstStyle/>
          <a:p>
            <a:r>
              <a:rPr lang="en-US" altLang="zh-TW" sz="1800" dirty="0"/>
              <a:t>4.2 </a:t>
            </a:r>
            <a:r>
              <a:rPr lang="zh-TW" altLang="en-US" sz="1800" dirty="0"/>
              <a:t>的熱圖展示了前 </a:t>
            </a:r>
            <a:r>
              <a:rPr lang="en-US" altLang="zh-TW" sz="1800" dirty="0">
                <a:solidFill>
                  <a:srgbClr val="FF0000"/>
                </a:solidFill>
              </a:rPr>
              <a:t>50 </a:t>
            </a:r>
            <a:r>
              <a:rPr lang="zh-TW" altLang="en-US" sz="1800" dirty="0">
                <a:solidFill>
                  <a:srgbClr val="FF0000"/>
                </a:solidFill>
              </a:rPr>
              <a:t>個差異基因的表達矩陣</a:t>
            </a:r>
            <a:r>
              <a:rPr lang="zh-TW" altLang="en-US" sz="1800" dirty="0"/>
              <a:t>。透過雙向層次聚類，我們可以觀察到非常顯著的棋盤狀分布。某些特定的致癌驅動基因在高風險組呈現一片大紅的高表達，而在低風險組則呈現低表達，這為模型提供了完美的分類依據</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000"/>
              <a:buFont typeface="MingLiu"/>
              <a:buNone/>
            </a:pPr>
            <a:r>
              <a:rPr lang="zh-TW" sz="4000" b="1" dirty="0">
                <a:solidFill>
                  <a:srgbClr val="0070C0"/>
                </a:solidFill>
              </a:rPr>
              <a:t>Volcano Plot（火山圖）</a:t>
            </a:r>
            <a:endParaRPr dirty="0"/>
          </a:p>
        </p:txBody>
      </p:sp>
      <p:sp>
        <p:nvSpPr>
          <p:cNvPr id="175" name="Google Shape;175;p11"/>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p>
            <a:pPr marL="91440" lvl="0" indent="-120650" algn="l" rtl="0">
              <a:lnSpc>
                <a:spcPct val="110000"/>
              </a:lnSpc>
              <a:spcBef>
                <a:spcPts val="0"/>
              </a:spcBef>
              <a:spcAft>
                <a:spcPts val="0"/>
              </a:spcAft>
              <a:buSzPts val="1900"/>
              <a:buChar char=" "/>
            </a:pPr>
            <a:r>
              <a:rPr lang="zh-TW" dirty="0"/>
              <a:t>火山圖用來呈現基因差異分布：</a:t>
            </a:r>
            <a:endParaRPr dirty="0"/>
          </a:p>
          <a:p>
            <a:pPr marL="91440" lvl="0" indent="-120650" algn="l" rtl="0">
              <a:lnSpc>
                <a:spcPct val="110000"/>
              </a:lnSpc>
              <a:spcBef>
                <a:spcPts val="1400"/>
              </a:spcBef>
              <a:spcAft>
                <a:spcPts val="0"/>
              </a:spcAft>
              <a:buSzPts val="1900"/>
              <a:buFont typeface="Arial"/>
              <a:buChar char="•"/>
            </a:pPr>
            <a:r>
              <a:rPr lang="zh-TW" dirty="0"/>
              <a:t>紅色：上調基因 </a:t>
            </a:r>
            <a:endParaRPr dirty="0"/>
          </a:p>
          <a:p>
            <a:pPr marL="91440" lvl="0" indent="-120650" algn="l" rtl="0">
              <a:lnSpc>
                <a:spcPct val="110000"/>
              </a:lnSpc>
              <a:spcBef>
                <a:spcPts val="1400"/>
              </a:spcBef>
              <a:spcAft>
                <a:spcPts val="0"/>
              </a:spcAft>
              <a:buSzPts val="1900"/>
              <a:buFont typeface="Arial"/>
              <a:buChar char="•"/>
            </a:pPr>
            <a:r>
              <a:rPr lang="zh-TW" dirty="0"/>
              <a:t>藍色：下調基因 </a:t>
            </a:r>
            <a:endParaRPr dirty="0"/>
          </a:p>
          <a:p>
            <a:pPr marL="0" lvl="0" indent="0" algn="l" rtl="0">
              <a:lnSpc>
                <a:spcPct val="110000"/>
              </a:lnSpc>
              <a:spcBef>
                <a:spcPts val="1400"/>
              </a:spcBef>
              <a:spcAft>
                <a:spcPts val="0"/>
              </a:spcAft>
              <a:buSzPts val="1900"/>
              <a:buNone/>
            </a:pPr>
            <a:r>
              <a:rPr lang="zh-TW" dirty="0"/>
              <a:t>可以清楚看到顯著變化的基因群。</a:t>
            </a:r>
            <a:endParaRPr dirty="0"/>
          </a:p>
          <a:p>
            <a:pPr marL="91440" lvl="0" indent="0" algn="l" rtl="0">
              <a:lnSpc>
                <a:spcPct val="110000"/>
              </a:lnSpc>
              <a:spcBef>
                <a:spcPts val="1400"/>
              </a:spcBef>
              <a:spcAft>
                <a:spcPts val="0"/>
              </a:spcAft>
              <a:buSzPts val="1900"/>
              <a:buNone/>
            </a:pPr>
            <a:endParaRPr dirty="0"/>
          </a:p>
        </p:txBody>
      </p:sp>
      <p:sp>
        <p:nvSpPr>
          <p:cNvPr id="176" name="Google Shape;176;p11"/>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zh-TW"/>
              <a:t>2026/5/19</a:t>
            </a:r>
            <a:endParaRPr/>
          </a:p>
        </p:txBody>
      </p:sp>
      <p:pic>
        <p:nvPicPr>
          <p:cNvPr id="177" name="Google Shape;177;p11"/>
          <p:cNvPicPr preferRelativeResize="0"/>
          <p:nvPr/>
        </p:nvPicPr>
        <p:blipFill rotWithShape="1">
          <a:blip r:embed="rId3">
            <a:alphaModFix/>
          </a:blip>
          <a:srcRect/>
          <a:stretch/>
        </p:blipFill>
        <p:spPr>
          <a:xfrm>
            <a:off x="5947150" y="2095239"/>
            <a:ext cx="5288230" cy="3873482"/>
          </a:xfrm>
          <a:prstGeom prst="rect">
            <a:avLst/>
          </a:prstGeom>
          <a:noFill/>
          <a:ln>
            <a:noFill/>
          </a:ln>
        </p:spPr>
      </p:pic>
      <p:sp>
        <p:nvSpPr>
          <p:cNvPr id="7" name="文字方塊 6">
            <a:extLst>
              <a:ext uri="{FF2B5EF4-FFF2-40B4-BE49-F238E27FC236}">
                <a16:creationId xmlns:a16="http://schemas.microsoft.com/office/drawing/2014/main" id="{F2BB3DB1-7FE3-4E77-9045-86356F739828}"/>
              </a:ext>
            </a:extLst>
          </p:cNvPr>
          <p:cNvSpPr txBox="1"/>
          <p:nvPr/>
        </p:nvSpPr>
        <p:spPr>
          <a:xfrm>
            <a:off x="956620" y="4381977"/>
            <a:ext cx="4839566" cy="1200329"/>
          </a:xfrm>
          <a:prstGeom prst="rect">
            <a:avLst/>
          </a:prstGeom>
          <a:noFill/>
        </p:spPr>
        <p:txBody>
          <a:bodyPr wrap="square">
            <a:spAutoFit/>
          </a:bodyPr>
          <a:lstStyle/>
          <a:p>
            <a:r>
              <a:rPr lang="zh-TW" altLang="en-US" sz="1800" dirty="0"/>
              <a:t>這是我篩選特徵的第一步。我將 </a:t>
            </a:r>
            <a:r>
              <a:rPr lang="en-US" altLang="zh-TW" sz="1800" dirty="0"/>
              <a:t>20,531 </a:t>
            </a:r>
            <a:r>
              <a:rPr lang="zh-TW" altLang="en-US" sz="1800" dirty="0"/>
              <a:t>個基因進行 </a:t>
            </a:r>
            <a:r>
              <a:rPr lang="en-US" altLang="zh-TW" sz="1800" dirty="0"/>
              <a:t>t </a:t>
            </a:r>
            <a:r>
              <a:rPr lang="zh-TW" altLang="en-US" sz="1800" dirty="0"/>
              <a:t>檢定分析，透過火山圖的縱軸顯著性與橫軸倍數變化，成功幫我們</a:t>
            </a:r>
            <a:r>
              <a:rPr lang="zh-TW" altLang="en-US" sz="1800" dirty="0">
                <a:solidFill>
                  <a:srgbClr val="FF0000"/>
                </a:solidFill>
              </a:rPr>
              <a:t>海選出在兩組間具備顯著差異的驅動基因，剔除了無效雜訊</a:t>
            </a:r>
            <a:r>
              <a:rPr lang="zh-TW" altLang="en-US" sz="1800"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000"/>
              <a:buFont typeface="MingLiu"/>
              <a:buNone/>
            </a:pPr>
            <a:r>
              <a:rPr lang="zh-TW" sz="4000" b="1">
                <a:solidFill>
                  <a:srgbClr val="0070C0"/>
                </a:solidFill>
              </a:rPr>
              <a:t>機器學習模型（Random Forest）</a:t>
            </a:r>
            <a:endParaRPr/>
          </a:p>
        </p:txBody>
      </p:sp>
      <p:sp>
        <p:nvSpPr>
          <p:cNvPr id="183" name="Google Shape;183;p12"/>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p>
            <a:pPr marL="91440" lvl="0" indent="-120650" algn="l" rtl="0">
              <a:lnSpc>
                <a:spcPct val="110000"/>
              </a:lnSpc>
              <a:spcBef>
                <a:spcPts val="0"/>
              </a:spcBef>
              <a:spcAft>
                <a:spcPts val="0"/>
              </a:spcAft>
              <a:buSzPts val="1900"/>
              <a:buChar char=" "/>
            </a:pPr>
            <a:r>
              <a:rPr lang="zh-TW"/>
              <a:t>本研究使用：</a:t>
            </a:r>
            <a:endParaRPr/>
          </a:p>
          <a:p>
            <a:pPr marL="0" lvl="0" indent="0" algn="l" rtl="0">
              <a:lnSpc>
                <a:spcPct val="110000"/>
              </a:lnSpc>
              <a:spcBef>
                <a:spcPts val="1400"/>
              </a:spcBef>
              <a:spcAft>
                <a:spcPts val="0"/>
              </a:spcAft>
              <a:buSzPts val="1900"/>
              <a:buNone/>
            </a:pPr>
            <a:r>
              <a:rPr lang="zh-TW"/>
              <a:t> </a:t>
            </a:r>
            <a:r>
              <a:rPr lang="zh-TW" b="1">
                <a:solidFill>
                  <a:srgbClr val="FF0000"/>
                </a:solidFill>
              </a:rPr>
              <a:t>隨機森林（Random Forest）分類器</a:t>
            </a:r>
            <a:endParaRPr>
              <a:solidFill>
                <a:srgbClr val="FF0000"/>
              </a:solidFill>
            </a:endParaRPr>
          </a:p>
          <a:p>
            <a:pPr marL="91440" lvl="0" indent="-120650" algn="l" rtl="0">
              <a:lnSpc>
                <a:spcPct val="110000"/>
              </a:lnSpc>
              <a:spcBef>
                <a:spcPts val="1400"/>
              </a:spcBef>
              <a:spcAft>
                <a:spcPts val="0"/>
              </a:spcAft>
              <a:buSzPts val="1900"/>
              <a:buChar char=" "/>
            </a:pPr>
            <a:r>
              <a:rPr lang="zh-TW"/>
              <a:t>優點：</a:t>
            </a:r>
            <a:endParaRPr/>
          </a:p>
          <a:p>
            <a:pPr marL="91440" lvl="0" indent="-120650" algn="l" rtl="0">
              <a:lnSpc>
                <a:spcPct val="110000"/>
              </a:lnSpc>
              <a:spcBef>
                <a:spcPts val="1400"/>
              </a:spcBef>
              <a:spcAft>
                <a:spcPts val="0"/>
              </a:spcAft>
              <a:buSzPts val="1900"/>
              <a:buFont typeface="Arial"/>
              <a:buChar char="•"/>
            </a:pPr>
            <a:r>
              <a:rPr lang="zh-TW"/>
              <a:t>適合高維資料 </a:t>
            </a:r>
            <a:endParaRPr/>
          </a:p>
          <a:p>
            <a:pPr marL="91440" lvl="0" indent="-120650" algn="l" rtl="0">
              <a:lnSpc>
                <a:spcPct val="110000"/>
              </a:lnSpc>
              <a:spcBef>
                <a:spcPts val="1400"/>
              </a:spcBef>
              <a:spcAft>
                <a:spcPts val="0"/>
              </a:spcAft>
              <a:buSzPts val="1900"/>
              <a:buFont typeface="Arial"/>
              <a:buChar char="•"/>
            </a:pPr>
            <a:r>
              <a:rPr lang="zh-TW"/>
              <a:t>抗過擬合能力強 </a:t>
            </a:r>
            <a:endParaRPr/>
          </a:p>
          <a:p>
            <a:pPr marL="91440" lvl="0" indent="-120650" algn="l" rtl="0">
              <a:lnSpc>
                <a:spcPct val="110000"/>
              </a:lnSpc>
              <a:spcBef>
                <a:spcPts val="1400"/>
              </a:spcBef>
              <a:spcAft>
                <a:spcPts val="0"/>
              </a:spcAft>
              <a:buSzPts val="1900"/>
              <a:buFont typeface="Arial"/>
              <a:buChar char="•"/>
            </a:pPr>
            <a:r>
              <a:rPr lang="zh-TW"/>
              <a:t>可計算特徵重要性 </a:t>
            </a:r>
            <a:endParaRPr/>
          </a:p>
          <a:p>
            <a:pPr marL="91440" lvl="0" indent="0" algn="l" rtl="0">
              <a:lnSpc>
                <a:spcPct val="110000"/>
              </a:lnSpc>
              <a:spcBef>
                <a:spcPts val="1400"/>
              </a:spcBef>
              <a:spcAft>
                <a:spcPts val="0"/>
              </a:spcAft>
              <a:buSzPts val="1900"/>
              <a:buNone/>
            </a:pPr>
            <a:endParaRPr/>
          </a:p>
        </p:txBody>
      </p:sp>
      <p:sp>
        <p:nvSpPr>
          <p:cNvPr id="184" name="Google Shape;184;p12"/>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zh-TW"/>
              <a:t>2026/5/19</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000"/>
              <a:buFont typeface="MingLiu"/>
              <a:buNone/>
            </a:pPr>
            <a:r>
              <a:rPr lang="zh-TW" sz="4000" b="1">
                <a:solidFill>
                  <a:srgbClr val="0070C0"/>
                </a:solidFill>
              </a:rPr>
              <a:t>模型評估（ROC與AUC）</a:t>
            </a:r>
            <a:endParaRPr/>
          </a:p>
        </p:txBody>
      </p:sp>
      <p:sp>
        <p:nvSpPr>
          <p:cNvPr id="190" name="Google Shape;190;p13"/>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p>
            <a:pPr marL="91440" lvl="0" indent="-120650" algn="l" rtl="0">
              <a:lnSpc>
                <a:spcPct val="110000"/>
              </a:lnSpc>
              <a:spcBef>
                <a:spcPts val="0"/>
              </a:spcBef>
              <a:spcAft>
                <a:spcPts val="0"/>
              </a:spcAft>
              <a:buSzPts val="1900"/>
              <a:buChar char=" "/>
            </a:pPr>
            <a:r>
              <a:rPr lang="zh-TW"/>
              <a:t>模型的ROC曲線顯示：</a:t>
            </a:r>
            <a:endParaRPr/>
          </a:p>
          <a:p>
            <a:pPr marL="91440" lvl="0" indent="-120650" algn="l" rtl="0">
              <a:lnSpc>
                <a:spcPct val="110000"/>
              </a:lnSpc>
              <a:spcBef>
                <a:spcPts val="1400"/>
              </a:spcBef>
              <a:spcAft>
                <a:spcPts val="0"/>
              </a:spcAft>
              <a:buSzPts val="1900"/>
              <a:buChar char=" "/>
            </a:pPr>
            <a:r>
              <a:rPr lang="zh-TW" b="1">
                <a:solidFill>
                  <a:srgbClr val="FF0000"/>
                </a:solidFill>
              </a:rPr>
              <a:t>AUC = 0.942</a:t>
            </a:r>
            <a:endParaRPr b="1">
              <a:solidFill>
                <a:srgbClr val="FF0000"/>
              </a:solidFill>
            </a:endParaRPr>
          </a:p>
          <a:p>
            <a:pPr marL="91440" lvl="0" indent="-120650" algn="l" rtl="0">
              <a:lnSpc>
                <a:spcPct val="110000"/>
              </a:lnSpc>
              <a:spcBef>
                <a:spcPts val="1400"/>
              </a:spcBef>
              <a:spcAft>
                <a:spcPts val="0"/>
              </a:spcAft>
              <a:buSzPts val="1900"/>
              <a:buChar char=" "/>
            </a:pPr>
            <a:r>
              <a:rPr lang="zh-TW"/>
              <a:t>代表模型具有非常好的分類能力。</a:t>
            </a:r>
            <a:endParaRPr/>
          </a:p>
          <a:p>
            <a:pPr marL="91440" lvl="0" indent="0" algn="l" rtl="0">
              <a:lnSpc>
                <a:spcPct val="110000"/>
              </a:lnSpc>
              <a:spcBef>
                <a:spcPts val="1400"/>
              </a:spcBef>
              <a:spcAft>
                <a:spcPts val="0"/>
              </a:spcAft>
              <a:buSzPts val="1900"/>
              <a:buNone/>
            </a:pPr>
            <a:endParaRPr/>
          </a:p>
        </p:txBody>
      </p:sp>
      <p:sp>
        <p:nvSpPr>
          <p:cNvPr id="191" name="Google Shape;191;p13"/>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zh-TW"/>
              <a:t>2026/5/19</a:t>
            </a:r>
            <a:endParaRPr/>
          </a:p>
        </p:txBody>
      </p:sp>
      <p:pic>
        <p:nvPicPr>
          <p:cNvPr id="192" name="Google Shape;192;p13"/>
          <p:cNvPicPr preferRelativeResize="0"/>
          <p:nvPr/>
        </p:nvPicPr>
        <p:blipFill rotWithShape="1">
          <a:blip r:embed="rId3">
            <a:alphaModFix/>
          </a:blip>
          <a:srcRect/>
          <a:stretch/>
        </p:blipFill>
        <p:spPr>
          <a:xfrm>
            <a:off x="6378280" y="2108201"/>
            <a:ext cx="4341728" cy="3949064"/>
          </a:xfrm>
          <a:prstGeom prst="rect">
            <a:avLst/>
          </a:prstGeom>
          <a:noFill/>
          <a:ln>
            <a:noFill/>
          </a:ln>
        </p:spPr>
      </p:pic>
      <p:sp>
        <p:nvSpPr>
          <p:cNvPr id="7" name="文字方塊 6">
            <a:extLst>
              <a:ext uri="{FF2B5EF4-FFF2-40B4-BE49-F238E27FC236}">
                <a16:creationId xmlns:a16="http://schemas.microsoft.com/office/drawing/2014/main" id="{AB23E962-9F38-4BDF-BFBE-827AEF24CC50}"/>
              </a:ext>
            </a:extLst>
          </p:cNvPr>
          <p:cNvSpPr txBox="1"/>
          <p:nvPr/>
        </p:nvSpPr>
        <p:spPr>
          <a:xfrm>
            <a:off x="1218334" y="3988646"/>
            <a:ext cx="4877666" cy="1477328"/>
          </a:xfrm>
          <a:prstGeom prst="rect">
            <a:avLst/>
          </a:prstGeom>
          <a:noFill/>
        </p:spPr>
        <p:txBody>
          <a:bodyPr wrap="square">
            <a:spAutoFit/>
          </a:bodyPr>
          <a:lstStyle/>
          <a:p>
            <a:r>
              <a:rPr lang="en-US" altLang="zh-TW" sz="1800" dirty="0"/>
              <a:t>4.4</a:t>
            </a:r>
            <a:r>
              <a:rPr lang="zh-TW" altLang="en-US" sz="1800" dirty="0"/>
              <a:t>是我的模型的 </a:t>
            </a:r>
            <a:r>
              <a:rPr lang="en-US" altLang="zh-TW" sz="1800" dirty="0"/>
              <a:t>ROC </a:t>
            </a:r>
            <a:r>
              <a:rPr lang="zh-TW" altLang="en-US" sz="1800" dirty="0"/>
              <a:t>曲線。我隨機森林模型所繪製出來的曲線高度往左上角逼近，計算出的 </a:t>
            </a:r>
            <a:r>
              <a:rPr lang="en-US" altLang="zh-TW" sz="1800" dirty="0">
                <a:solidFill>
                  <a:srgbClr val="FF0000"/>
                </a:solidFill>
              </a:rPr>
              <a:t>AUC </a:t>
            </a:r>
            <a:r>
              <a:rPr lang="zh-TW" altLang="en-US" sz="1800" dirty="0">
                <a:solidFill>
                  <a:srgbClr val="FF0000"/>
                </a:solidFill>
              </a:rPr>
              <a:t>達到了 </a:t>
            </a:r>
            <a:r>
              <a:rPr lang="en-US" altLang="zh-TW" sz="1800" dirty="0">
                <a:solidFill>
                  <a:srgbClr val="FF0000"/>
                </a:solidFill>
              </a:rPr>
              <a:t>0.942</a:t>
            </a:r>
            <a:r>
              <a:rPr lang="zh-TW" altLang="en-US" sz="1800" dirty="0"/>
              <a:t>，這在醫學篩檢與診斷模型中屬於極高信賴度的表現，</a:t>
            </a:r>
            <a:r>
              <a:rPr lang="zh-TW" altLang="en-US" sz="1800" dirty="0">
                <a:solidFill>
                  <a:srgbClr val="FF0000"/>
                </a:solidFill>
              </a:rPr>
              <a:t>證明模型兼具極低的漏診率與誤診率</a:t>
            </a:r>
            <a:r>
              <a:rPr lang="zh-TW" altLang="en-US" sz="1800"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000"/>
              <a:buFont typeface="MingLiu"/>
              <a:buNone/>
            </a:pPr>
            <a:r>
              <a:rPr lang="zh-TW" sz="4000" b="1">
                <a:solidFill>
                  <a:srgbClr val="0070C0"/>
                </a:solidFill>
              </a:rPr>
              <a:t>混淆矩陣（Confusion Matrix）</a:t>
            </a:r>
            <a:endParaRPr/>
          </a:p>
        </p:txBody>
      </p:sp>
      <p:sp>
        <p:nvSpPr>
          <p:cNvPr id="198" name="Google Shape;198;p14"/>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p>
            <a:pPr marL="91440" lvl="0" indent="-120650" algn="l" rtl="0">
              <a:lnSpc>
                <a:spcPct val="110000"/>
              </a:lnSpc>
              <a:spcBef>
                <a:spcPts val="0"/>
              </a:spcBef>
              <a:spcAft>
                <a:spcPts val="0"/>
              </a:spcAft>
              <a:buSzPts val="1900"/>
              <a:buChar char=" "/>
            </a:pPr>
            <a:r>
              <a:rPr lang="zh-TW" dirty="0"/>
              <a:t>測試結果顯示：</a:t>
            </a:r>
            <a:endParaRPr dirty="0"/>
          </a:p>
          <a:p>
            <a:pPr marL="91440" lvl="0" indent="-120650" algn="l" rtl="0">
              <a:lnSpc>
                <a:spcPct val="110000"/>
              </a:lnSpc>
              <a:spcBef>
                <a:spcPts val="1400"/>
              </a:spcBef>
              <a:spcAft>
                <a:spcPts val="0"/>
              </a:spcAft>
              <a:buSzPts val="1900"/>
              <a:buFont typeface="Arial"/>
              <a:buChar char="•"/>
            </a:pPr>
            <a:r>
              <a:rPr lang="zh-TW" dirty="0"/>
              <a:t>模型在高風險與低風險分類上都表現良好 </a:t>
            </a:r>
            <a:endParaRPr dirty="0"/>
          </a:p>
          <a:p>
            <a:pPr marL="91440" lvl="0" indent="-120650" algn="l" rtl="0">
              <a:lnSpc>
                <a:spcPct val="110000"/>
              </a:lnSpc>
              <a:spcBef>
                <a:spcPts val="1400"/>
              </a:spcBef>
              <a:spcAft>
                <a:spcPts val="0"/>
              </a:spcAft>
              <a:buSzPts val="1900"/>
              <a:buFont typeface="Arial"/>
              <a:buChar char="•"/>
            </a:pPr>
            <a:r>
              <a:rPr lang="zh-TW" dirty="0"/>
              <a:t>Accuracy 約 0.896 </a:t>
            </a:r>
            <a:endParaRPr dirty="0"/>
          </a:p>
          <a:p>
            <a:pPr marL="91440" lvl="0" indent="-120650" algn="l" rtl="0">
              <a:lnSpc>
                <a:spcPct val="110000"/>
              </a:lnSpc>
              <a:spcBef>
                <a:spcPts val="1400"/>
              </a:spcBef>
              <a:spcAft>
                <a:spcPts val="0"/>
              </a:spcAft>
              <a:buSzPts val="1900"/>
              <a:buChar char=" "/>
            </a:pPr>
            <a:r>
              <a:rPr lang="zh-TW" dirty="0"/>
              <a:t>整體表現穩定且平衡。</a:t>
            </a:r>
            <a:endParaRPr dirty="0"/>
          </a:p>
          <a:p>
            <a:pPr marL="91440" lvl="0" indent="0" algn="l" rtl="0">
              <a:lnSpc>
                <a:spcPct val="110000"/>
              </a:lnSpc>
              <a:spcBef>
                <a:spcPts val="1400"/>
              </a:spcBef>
              <a:spcAft>
                <a:spcPts val="0"/>
              </a:spcAft>
              <a:buSzPts val="1900"/>
              <a:buNone/>
            </a:pPr>
            <a:endParaRPr dirty="0"/>
          </a:p>
        </p:txBody>
      </p:sp>
      <p:sp>
        <p:nvSpPr>
          <p:cNvPr id="199" name="Google Shape;199;p14"/>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zh-TW"/>
              <a:t>2026/5/19</a:t>
            </a:r>
            <a:endParaRPr/>
          </a:p>
        </p:txBody>
      </p:sp>
      <p:pic>
        <p:nvPicPr>
          <p:cNvPr id="200" name="Google Shape;200;p14"/>
          <p:cNvPicPr preferRelativeResize="0"/>
          <p:nvPr/>
        </p:nvPicPr>
        <p:blipFill rotWithShape="1">
          <a:blip r:embed="rId3">
            <a:alphaModFix/>
          </a:blip>
          <a:srcRect l="1518" r="-1" b="435"/>
          <a:stretch/>
        </p:blipFill>
        <p:spPr>
          <a:xfrm>
            <a:off x="7496070" y="1920878"/>
            <a:ext cx="3422284" cy="4218665"/>
          </a:xfrm>
          <a:prstGeom prst="rect">
            <a:avLst/>
          </a:prstGeom>
          <a:noFill/>
          <a:ln>
            <a:noFill/>
          </a:ln>
        </p:spPr>
      </p:pic>
      <p:sp>
        <p:nvSpPr>
          <p:cNvPr id="7" name="文字方塊 6">
            <a:extLst>
              <a:ext uri="{FF2B5EF4-FFF2-40B4-BE49-F238E27FC236}">
                <a16:creationId xmlns:a16="http://schemas.microsoft.com/office/drawing/2014/main" id="{D5ABC9A9-B823-456A-84FD-E0174D23EDB5}"/>
              </a:ext>
            </a:extLst>
          </p:cNvPr>
          <p:cNvSpPr txBox="1"/>
          <p:nvPr/>
        </p:nvSpPr>
        <p:spPr>
          <a:xfrm>
            <a:off x="1036320" y="4524786"/>
            <a:ext cx="6094268" cy="1200329"/>
          </a:xfrm>
          <a:prstGeom prst="rect">
            <a:avLst/>
          </a:prstGeom>
          <a:noFill/>
        </p:spPr>
        <p:txBody>
          <a:bodyPr wrap="square">
            <a:spAutoFit/>
          </a:bodyPr>
          <a:lstStyle/>
          <a:p>
            <a:r>
              <a:rPr lang="zh-TW" altLang="en-US" sz="1800" dirty="0"/>
              <a:t>透過混淆矩陣，我們可以看到隨機森林模型在獨立測試集上的答題分布。對角線上的正確預測樣本數佔了絕對多數，而醫學上最忌諱的漏診（將高風險誤判為低風險）的個案極少，再次佐證了</a:t>
            </a:r>
            <a:r>
              <a:rPr lang="zh-TW" altLang="en-US" sz="1800" dirty="0">
                <a:solidFill>
                  <a:srgbClr val="FF0000"/>
                </a:solidFill>
              </a:rPr>
              <a:t>模型的臨床安全性</a:t>
            </a:r>
            <a:r>
              <a:rPr lang="zh-TW" altLang="en-US" sz="1800"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000"/>
              <a:buFont typeface="MingLiu"/>
              <a:buNone/>
            </a:pPr>
            <a:r>
              <a:rPr lang="zh-TW" sz="4000" b="1" dirty="0">
                <a:solidFill>
                  <a:srgbClr val="0070C0"/>
                </a:solidFill>
              </a:rPr>
              <a:t>SHAP模型解釋(本研究重點)</a:t>
            </a:r>
            <a:endParaRPr sz="4000" b="1" dirty="0">
              <a:solidFill>
                <a:srgbClr val="0070C0"/>
              </a:solidFill>
            </a:endParaRPr>
          </a:p>
        </p:txBody>
      </p:sp>
      <p:sp>
        <p:nvSpPr>
          <p:cNvPr id="206" name="Google Shape;206;p15"/>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p>
            <a:pPr marL="91440" lvl="0" indent="-120650" algn="l" rtl="0">
              <a:lnSpc>
                <a:spcPct val="110000"/>
              </a:lnSpc>
              <a:spcBef>
                <a:spcPts val="0"/>
              </a:spcBef>
              <a:spcAft>
                <a:spcPts val="0"/>
              </a:spcAft>
              <a:buSzPts val="1900"/>
              <a:buChar char=" "/>
            </a:pPr>
            <a:r>
              <a:rPr lang="zh-TW" dirty="0"/>
              <a:t>SHAP分析用來解釋模型決策：</a:t>
            </a:r>
            <a:endParaRPr dirty="0"/>
          </a:p>
          <a:p>
            <a:pPr marL="91440" lvl="0" indent="-120650" algn="l" rtl="0">
              <a:lnSpc>
                <a:spcPct val="110000"/>
              </a:lnSpc>
              <a:spcBef>
                <a:spcPts val="1400"/>
              </a:spcBef>
              <a:spcAft>
                <a:spcPts val="0"/>
              </a:spcAft>
              <a:buSzPts val="1900"/>
              <a:buFont typeface="Arial"/>
              <a:buChar char="•"/>
            </a:pPr>
            <a:r>
              <a:rPr lang="zh-TW" dirty="0"/>
              <a:t>紅色：基因表達高 → 提高預測機率 </a:t>
            </a:r>
            <a:endParaRPr dirty="0"/>
          </a:p>
          <a:p>
            <a:pPr marL="91440" lvl="0" indent="-120650" algn="l" rtl="0">
              <a:lnSpc>
                <a:spcPct val="110000"/>
              </a:lnSpc>
              <a:spcBef>
                <a:spcPts val="1400"/>
              </a:spcBef>
              <a:spcAft>
                <a:spcPts val="0"/>
              </a:spcAft>
              <a:buSzPts val="1900"/>
              <a:buFont typeface="Arial"/>
              <a:buChar char="•"/>
            </a:pPr>
            <a:r>
              <a:rPr lang="zh-TW" dirty="0"/>
              <a:t>藍色：基因表達低 → 降低預測機率 </a:t>
            </a:r>
            <a:endParaRPr dirty="0"/>
          </a:p>
          <a:p>
            <a:pPr marL="91440" lvl="0" indent="-120650" algn="l" rtl="0">
              <a:lnSpc>
                <a:spcPct val="110000"/>
              </a:lnSpc>
              <a:spcBef>
                <a:spcPts val="1400"/>
              </a:spcBef>
              <a:spcAft>
                <a:spcPts val="0"/>
              </a:spcAft>
              <a:buSzPts val="1900"/>
              <a:buChar char=" "/>
            </a:pPr>
            <a:r>
              <a:rPr lang="zh-TW" b="1" dirty="0">
                <a:solidFill>
                  <a:srgbClr val="FF0000"/>
                </a:solidFill>
              </a:rPr>
              <a:t>可以找出「哪些基因最重要</a:t>
            </a:r>
            <a:endParaRPr dirty="0"/>
          </a:p>
          <a:p>
            <a:pPr marL="91440" lvl="0" indent="0" algn="l" rtl="0">
              <a:lnSpc>
                <a:spcPct val="110000"/>
              </a:lnSpc>
              <a:spcBef>
                <a:spcPts val="1400"/>
              </a:spcBef>
              <a:spcAft>
                <a:spcPts val="0"/>
              </a:spcAft>
              <a:buSzPts val="1900"/>
              <a:buNone/>
            </a:pPr>
            <a:endParaRPr dirty="0"/>
          </a:p>
        </p:txBody>
      </p:sp>
      <p:sp>
        <p:nvSpPr>
          <p:cNvPr id="207" name="Google Shape;207;p15"/>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zh-TW"/>
              <a:t>2026/5/19</a:t>
            </a:r>
            <a:endParaRPr/>
          </a:p>
        </p:txBody>
      </p:sp>
      <p:pic>
        <p:nvPicPr>
          <p:cNvPr id="208" name="Google Shape;208;p15"/>
          <p:cNvPicPr preferRelativeResize="0"/>
          <p:nvPr/>
        </p:nvPicPr>
        <p:blipFill rotWithShape="1">
          <a:blip r:embed="rId3">
            <a:alphaModFix/>
          </a:blip>
          <a:srcRect/>
          <a:stretch/>
        </p:blipFill>
        <p:spPr>
          <a:xfrm>
            <a:off x="7341435" y="1984307"/>
            <a:ext cx="3276884" cy="3673158"/>
          </a:xfrm>
          <a:prstGeom prst="rect">
            <a:avLst/>
          </a:prstGeom>
          <a:noFill/>
          <a:ln>
            <a:noFill/>
          </a:ln>
        </p:spPr>
      </p:pic>
      <p:sp>
        <p:nvSpPr>
          <p:cNvPr id="7" name="文字方塊 6">
            <a:extLst>
              <a:ext uri="{FF2B5EF4-FFF2-40B4-BE49-F238E27FC236}">
                <a16:creationId xmlns:a16="http://schemas.microsoft.com/office/drawing/2014/main" id="{56FD8737-B356-4771-AD4B-4B4C5D9923EA}"/>
              </a:ext>
            </a:extLst>
          </p:cNvPr>
          <p:cNvSpPr txBox="1"/>
          <p:nvPr/>
        </p:nvSpPr>
        <p:spPr>
          <a:xfrm>
            <a:off x="1097280" y="4238660"/>
            <a:ext cx="6094268" cy="1477328"/>
          </a:xfrm>
          <a:prstGeom prst="rect">
            <a:avLst/>
          </a:prstGeom>
          <a:noFill/>
        </p:spPr>
        <p:txBody>
          <a:bodyPr wrap="square">
            <a:spAutoFit/>
          </a:bodyPr>
          <a:lstStyle/>
          <a:p>
            <a:r>
              <a:rPr lang="zh-TW" altLang="en-US" sz="1800" dirty="0"/>
              <a:t>為了克服機器學習黑盒子的缺點，我引入了 </a:t>
            </a:r>
            <a:r>
              <a:rPr lang="en-US" altLang="zh-TW" sz="1800" dirty="0"/>
              <a:t>SHAP </a:t>
            </a:r>
            <a:r>
              <a:rPr lang="zh-TW" altLang="en-US" sz="1800" dirty="0"/>
              <a:t>博弈論演算法。這張特徵重要性圖為我們揭示了</a:t>
            </a:r>
            <a:r>
              <a:rPr lang="zh-TW" altLang="en-US" sz="1800" dirty="0">
                <a:solidFill>
                  <a:srgbClr val="FF0000"/>
                </a:solidFill>
              </a:rPr>
              <a:t>前 </a:t>
            </a:r>
            <a:r>
              <a:rPr lang="en-US" altLang="zh-TW" sz="1800" dirty="0">
                <a:solidFill>
                  <a:srgbClr val="FF0000"/>
                </a:solidFill>
              </a:rPr>
              <a:t>6 </a:t>
            </a:r>
            <a:r>
              <a:rPr lang="zh-TW" altLang="en-US" sz="1800" dirty="0">
                <a:solidFill>
                  <a:srgbClr val="FF0000"/>
                </a:solidFill>
              </a:rPr>
              <a:t>大核心驅動基因</a:t>
            </a:r>
            <a:r>
              <a:rPr lang="zh-TW" altLang="en-US" sz="1800" dirty="0"/>
              <a:t>。例如最上方的 </a:t>
            </a:r>
            <a:r>
              <a:rPr lang="en-US" altLang="zh-TW" sz="1800" dirty="0"/>
              <a:t>SLC34A2 </a:t>
            </a:r>
            <a:r>
              <a:rPr lang="zh-TW" altLang="en-US" sz="1800" dirty="0"/>
              <a:t>與 </a:t>
            </a:r>
            <a:r>
              <a:rPr lang="en-US" altLang="zh-TW" sz="1800" dirty="0"/>
              <a:t>ANLN</a:t>
            </a:r>
            <a:r>
              <a:rPr lang="zh-TW" altLang="en-US" sz="1800" dirty="0"/>
              <a:t>，它們不僅權重最高，且點的顏色分布完全符合生物學上致癌與抑癌基因的分子機制，這也是我們</a:t>
            </a:r>
            <a:r>
              <a:rPr lang="zh-TW" altLang="en-US" sz="1800" dirty="0">
                <a:solidFill>
                  <a:srgbClr val="FF0000"/>
                </a:solidFill>
              </a:rPr>
              <a:t>線上預測系統的核心基石</a:t>
            </a:r>
            <a:r>
              <a:rPr lang="zh-TW" altLang="en-US" sz="1800"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000"/>
              <a:buFont typeface="MingLiu"/>
              <a:buNone/>
            </a:pPr>
            <a:r>
              <a:rPr lang="zh-TW" sz="4000" b="1">
                <a:solidFill>
                  <a:srgbClr val="0070C0"/>
                </a:solidFill>
              </a:rPr>
              <a:t>關鍵基因</a:t>
            </a:r>
            <a:endParaRPr/>
          </a:p>
        </p:txBody>
      </p:sp>
      <p:sp>
        <p:nvSpPr>
          <p:cNvPr id="214" name="Google Shape;214;p16"/>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p>
            <a:pPr marL="91440" lvl="0" indent="-120650" algn="l" rtl="0">
              <a:lnSpc>
                <a:spcPct val="110000"/>
              </a:lnSpc>
              <a:spcBef>
                <a:spcPts val="0"/>
              </a:spcBef>
              <a:spcAft>
                <a:spcPts val="0"/>
              </a:spcAft>
              <a:buSzPts val="1900"/>
              <a:buChar char=" "/>
            </a:pPr>
            <a:r>
              <a:rPr lang="zh-TW"/>
              <a:t>模型找出的重要基因包括：</a:t>
            </a:r>
            <a:endParaRPr/>
          </a:p>
          <a:p>
            <a:pPr marL="91440" lvl="0" indent="-120650" algn="l" rtl="0">
              <a:lnSpc>
                <a:spcPct val="110000"/>
              </a:lnSpc>
              <a:spcBef>
                <a:spcPts val="1400"/>
              </a:spcBef>
              <a:spcAft>
                <a:spcPts val="0"/>
              </a:spcAft>
              <a:buSzPts val="1900"/>
              <a:buFont typeface="Arial"/>
              <a:buChar char="•"/>
            </a:pPr>
            <a:r>
              <a:rPr lang="zh-TW"/>
              <a:t>SLC34A2 </a:t>
            </a:r>
            <a:endParaRPr/>
          </a:p>
          <a:p>
            <a:pPr marL="91440" lvl="0" indent="-120650" algn="l" rtl="0">
              <a:lnSpc>
                <a:spcPct val="110000"/>
              </a:lnSpc>
              <a:spcBef>
                <a:spcPts val="1400"/>
              </a:spcBef>
              <a:spcAft>
                <a:spcPts val="0"/>
              </a:spcAft>
              <a:buSzPts val="1900"/>
              <a:buFont typeface="Arial"/>
              <a:buChar char="•"/>
            </a:pPr>
            <a:r>
              <a:rPr lang="zh-TW"/>
              <a:t>MUC16 </a:t>
            </a:r>
            <a:endParaRPr/>
          </a:p>
          <a:p>
            <a:pPr marL="91440" lvl="0" indent="-120650" algn="l" rtl="0">
              <a:lnSpc>
                <a:spcPct val="110000"/>
              </a:lnSpc>
              <a:spcBef>
                <a:spcPts val="1400"/>
              </a:spcBef>
              <a:spcAft>
                <a:spcPts val="0"/>
              </a:spcAft>
              <a:buSzPts val="1900"/>
              <a:buFont typeface="Arial"/>
              <a:buChar char="•"/>
            </a:pPr>
            <a:r>
              <a:rPr lang="zh-TW"/>
              <a:t>ANLN </a:t>
            </a:r>
            <a:endParaRPr/>
          </a:p>
          <a:p>
            <a:pPr marL="91440" lvl="0" indent="-120650" algn="l" rtl="0">
              <a:lnSpc>
                <a:spcPct val="110000"/>
              </a:lnSpc>
              <a:spcBef>
                <a:spcPts val="1400"/>
              </a:spcBef>
              <a:spcAft>
                <a:spcPts val="0"/>
              </a:spcAft>
              <a:buSzPts val="1900"/>
              <a:buFont typeface="Arial"/>
              <a:buChar char="•"/>
            </a:pPr>
            <a:r>
              <a:rPr lang="zh-TW"/>
              <a:t>CDC20 </a:t>
            </a:r>
            <a:endParaRPr/>
          </a:p>
          <a:p>
            <a:pPr marL="91440" lvl="0" indent="-120650" algn="l" rtl="0">
              <a:lnSpc>
                <a:spcPct val="110000"/>
              </a:lnSpc>
              <a:spcBef>
                <a:spcPts val="1400"/>
              </a:spcBef>
              <a:spcAft>
                <a:spcPts val="0"/>
              </a:spcAft>
              <a:buSzPts val="1900"/>
              <a:buFont typeface="Arial"/>
              <a:buChar char="•"/>
            </a:pPr>
            <a:r>
              <a:rPr lang="zh-TW"/>
              <a:t>KIF20A </a:t>
            </a:r>
            <a:endParaRPr/>
          </a:p>
          <a:p>
            <a:pPr marL="91440" lvl="0" indent="-120650" algn="l" rtl="0">
              <a:lnSpc>
                <a:spcPct val="110000"/>
              </a:lnSpc>
              <a:spcBef>
                <a:spcPts val="1400"/>
              </a:spcBef>
              <a:spcAft>
                <a:spcPts val="0"/>
              </a:spcAft>
              <a:buSzPts val="1900"/>
              <a:buChar char=" "/>
            </a:pPr>
            <a:r>
              <a:rPr lang="zh-TW"/>
              <a:t>這些基因與細胞增殖與腫瘤發展相關，具有潛在臨床價值</a:t>
            </a:r>
            <a:endParaRPr/>
          </a:p>
          <a:p>
            <a:pPr marL="91440" lvl="0" indent="0" algn="l" rtl="0">
              <a:lnSpc>
                <a:spcPct val="110000"/>
              </a:lnSpc>
              <a:spcBef>
                <a:spcPts val="1400"/>
              </a:spcBef>
              <a:spcAft>
                <a:spcPts val="0"/>
              </a:spcAft>
              <a:buSzPts val="1900"/>
              <a:buNone/>
            </a:pPr>
            <a:endParaRPr/>
          </a:p>
        </p:txBody>
      </p:sp>
      <p:sp>
        <p:nvSpPr>
          <p:cNvPr id="215" name="Google Shape;215;p16"/>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zh-TW"/>
              <a:t>2026/5/19</a:t>
            </a:r>
            <a:endParaRPr/>
          </a:p>
        </p:txBody>
      </p:sp>
      <p:pic>
        <p:nvPicPr>
          <p:cNvPr id="216" name="Google Shape;216;p16"/>
          <p:cNvPicPr preferRelativeResize="0"/>
          <p:nvPr/>
        </p:nvPicPr>
        <p:blipFill rotWithShape="1">
          <a:blip r:embed="rId3">
            <a:alphaModFix/>
          </a:blip>
          <a:srcRect/>
          <a:stretch/>
        </p:blipFill>
        <p:spPr>
          <a:xfrm>
            <a:off x="8005575" y="2108201"/>
            <a:ext cx="2651990" cy="362743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000"/>
              <a:buFont typeface="MingLiu"/>
              <a:buNone/>
            </a:pPr>
            <a:r>
              <a:rPr lang="zh-TW" sz="4000" b="1">
                <a:solidFill>
                  <a:srgbClr val="0070C0"/>
                </a:solidFill>
              </a:rPr>
              <a:t>研究發現</a:t>
            </a:r>
            <a:endParaRPr/>
          </a:p>
        </p:txBody>
      </p:sp>
      <p:sp>
        <p:nvSpPr>
          <p:cNvPr id="222" name="Google Shape;222;p17"/>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p>
            <a:pPr marL="91440" lvl="0" indent="-120650" algn="l" rtl="0">
              <a:lnSpc>
                <a:spcPct val="110000"/>
              </a:lnSpc>
              <a:spcBef>
                <a:spcPts val="0"/>
              </a:spcBef>
              <a:spcAft>
                <a:spcPts val="0"/>
              </a:spcAft>
              <a:buSzPts val="1900"/>
              <a:buChar char=" "/>
            </a:pPr>
            <a:r>
              <a:rPr lang="zh-TW"/>
              <a:t>本研究的主要成果包括：</a:t>
            </a:r>
            <a:endParaRPr/>
          </a:p>
          <a:p>
            <a:pPr marL="91440" lvl="0" indent="-120650" algn="l" rtl="0">
              <a:lnSpc>
                <a:spcPct val="110000"/>
              </a:lnSpc>
              <a:spcBef>
                <a:spcPts val="1400"/>
              </a:spcBef>
              <a:spcAft>
                <a:spcPts val="0"/>
              </a:spcAft>
              <a:buSzPts val="1900"/>
              <a:buFont typeface="Arial"/>
              <a:buChar char="•"/>
            </a:pPr>
            <a:r>
              <a:rPr lang="zh-TW"/>
              <a:t>找出 2,655 個差異基因 </a:t>
            </a:r>
            <a:endParaRPr/>
          </a:p>
          <a:p>
            <a:pPr marL="91440" lvl="0" indent="-120650" algn="l" rtl="0">
              <a:lnSpc>
                <a:spcPct val="110000"/>
              </a:lnSpc>
              <a:spcBef>
                <a:spcPts val="1400"/>
              </a:spcBef>
              <a:spcAft>
                <a:spcPts val="0"/>
              </a:spcAft>
              <a:buSzPts val="1900"/>
              <a:buFont typeface="Arial"/>
              <a:buChar char="•"/>
            </a:pPr>
            <a:r>
              <a:rPr lang="zh-TW"/>
              <a:t>PCA與熱圖顯示明顯分群 </a:t>
            </a:r>
            <a:endParaRPr/>
          </a:p>
          <a:p>
            <a:pPr marL="91440" lvl="0" indent="-120650" algn="l" rtl="0">
              <a:lnSpc>
                <a:spcPct val="110000"/>
              </a:lnSpc>
              <a:spcBef>
                <a:spcPts val="1400"/>
              </a:spcBef>
              <a:spcAft>
                <a:spcPts val="0"/>
              </a:spcAft>
              <a:buSzPts val="1900"/>
              <a:buFont typeface="Arial"/>
              <a:buChar char="•"/>
            </a:pPr>
            <a:r>
              <a:rPr lang="zh-TW"/>
              <a:t>模型AUC達 0.942 </a:t>
            </a:r>
            <a:endParaRPr/>
          </a:p>
          <a:p>
            <a:pPr marL="91440" lvl="0" indent="-120650" algn="l" rtl="0">
              <a:lnSpc>
                <a:spcPct val="110000"/>
              </a:lnSpc>
              <a:spcBef>
                <a:spcPts val="1400"/>
              </a:spcBef>
              <a:spcAft>
                <a:spcPts val="0"/>
              </a:spcAft>
              <a:buSzPts val="1900"/>
              <a:buFont typeface="Arial"/>
              <a:buChar char="•"/>
            </a:pPr>
            <a:r>
              <a:rPr lang="zh-TW"/>
              <a:t>成功識別關鍵基因</a:t>
            </a:r>
            <a:endParaRPr/>
          </a:p>
          <a:p>
            <a:pPr marL="91440" lvl="0" indent="0" algn="l" rtl="0">
              <a:lnSpc>
                <a:spcPct val="110000"/>
              </a:lnSpc>
              <a:spcBef>
                <a:spcPts val="1400"/>
              </a:spcBef>
              <a:spcAft>
                <a:spcPts val="0"/>
              </a:spcAft>
              <a:buSzPts val="1900"/>
              <a:buNone/>
            </a:pPr>
            <a:endParaRPr/>
          </a:p>
        </p:txBody>
      </p:sp>
      <p:sp>
        <p:nvSpPr>
          <p:cNvPr id="223" name="Google Shape;223;p17"/>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zh-TW"/>
              <a:t>2026/5/19</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000"/>
              <a:buFont typeface="MingLiu"/>
              <a:buNone/>
            </a:pPr>
            <a:r>
              <a:rPr lang="zh-TW" sz="4000" b="1">
                <a:solidFill>
                  <a:srgbClr val="0070C0"/>
                </a:solidFill>
              </a:rPr>
              <a:t>結論</a:t>
            </a:r>
            <a:endParaRPr/>
          </a:p>
        </p:txBody>
      </p:sp>
      <p:sp>
        <p:nvSpPr>
          <p:cNvPr id="229" name="Google Shape;229;p18"/>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p>
            <a:pPr marL="91440" lvl="0" indent="-120650" algn="l" rtl="0">
              <a:lnSpc>
                <a:spcPct val="110000"/>
              </a:lnSpc>
              <a:spcBef>
                <a:spcPts val="0"/>
              </a:spcBef>
              <a:spcAft>
                <a:spcPts val="0"/>
              </a:spcAft>
              <a:buSzPts val="1900"/>
              <a:buChar char=" "/>
            </a:pPr>
            <a:r>
              <a:rPr lang="zh-TW" dirty="0"/>
              <a:t>本研究證明：</a:t>
            </a:r>
            <a:endParaRPr dirty="0"/>
          </a:p>
          <a:p>
            <a:pPr marL="91440" lvl="0" indent="-120650" algn="l" rtl="0">
              <a:lnSpc>
                <a:spcPct val="110000"/>
              </a:lnSpc>
              <a:spcBef>
                <a:spcPts val="1400"/>
              </a:spcBef>
              <a:spcAft>
                <a:spcPts val="0"/>
              </a:spcAft>
              <a:buSzPts val="1900"/>
              <a:buChar char=" "/>
            </a:pPr>
            <a:r>
              <a:rPr lang="zh-TW" b="1" dirty="0">
                <a:solidFill>
                  <a:srgbClr val="FF0000"/>
                </a:solidFill>
              </a:rPr>
              <a:t>基因表達資料結合機器學習</a:t>
            </a:r>
            <a:br>
              <a:rPr lang="zh-TW" b="1" dirty="0">
                <a:solidFill>
                  <a:srgbClr val="FF0000"/>
                </a:solidFill>
              </a:rPr>
            </a:br>
            <a:r>
              <a:rPr lang="zh-TW" b="1" dirty="0">
                <a:solidFill>
                  <a:srgbClr val="FF0000"/>
                </a:solidFill>
              </a:rPr>
              <a:t>可以有效分類肺腺癌病人</a:t>
            </a:r>
            <a:endParaRPr dirty="0"/>
          </a:p>
          <a:p>
            <a:pPr marL="91440" lvl="0" indent="-120650" algn="l" rtl="0">
              <a:lnSpc>
                <a:spcPct val="110000"/>
              </a:lnSpc>
              <a:spcBef>
                <a:spcPts val="1400"/>
              </a:spcBef>
              <a:spcAft>
                <a:spcPts val="0"/>
              </a:spcAft>
              <a:buSzPts val="1900"/>
              <a:buChar char=" "/>
            </a:pPr>
            <a:r>
              <a:rPr lang="zh-TW" dirty="0"/>
              <a:t>並且：</a:t>
            </a:r>
            <a:endParaRPr dirty="0"/>
          </a:p>
          <a:p>
            <a:pPr marL="91440" lvl="0" indent="-120650" algn="l" rtl="0">
              <a:lnSpc>
                <a:spcPct val="110000"/>
              </a:lnSpc>
              <a:spcBef>
                <a:spcPts val="1400"/>
              </a:spcBef>
              <a:spcAft>
                <a:spcPts val="0"/>
              </a:spcAft>
              <a:buSzPts val="1900"/>
              <a:buChar char=" "/>
            </a:pPr>
            <a:r>
              <a:rPr lang="zh-TW" b="1" dirty="0">
                <a:solidFill>
                  <a:srgbClr val="FF0000"/>
                </a:solidFill>
              </a:rPr>
              <a:t>找到具有生物意義的關鍵基因</a:t>
            </a:r>
            <a:br>
              <a:rPr lang="zh-TW" b="1" dirty="0">
                <a:solidFill>
                  <a:srgbClr val="FF0000"/>
                </a:solidFill>
              </a:rPr>
            </a:br>
            <a:r>
              <a:rPr lang="zh-TW" b="1" dirty="0">
                <a:solidFill>
                  <a:srgbClr val="FF0000"/>
                </a:solidFill>
              </a:rPr>
              <a:t>可作為未來診斷與預後的重要依據</a:t>
            </a:r>
            <a:endParaRPr dirty="0"/>
          </a:p>
          <a:p>
            <a:pPr marL="91440" lvl="0" indent="0" algn="l" rtl="0">
              <a:lnSpc>
                <a:spcPct val="110000"/>
              </a:lnSpc>
              <a:spcBef>
                <a:spcPts val="1400"/>
              </a:spcBef>
              <a:spcAft>
                <a:spcPts val="0"/>
              </a:spcAft>
              <a:buSzPts val="1900"/>
              <a:buNone/>
            </a:pPr>
            <a:endParaRPr dirty="0"/>
          </a:p>
        </p:txBody>
      </p:sp>
      <p:sp>
        <p:nvSpPr>
          <p:cNvPr id="230" name="Google Shape;230;p18"/>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zh-TW"/>
              <a:t>2026/5/19</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70C0"/>
              </a:buClr>
              <a:buSzPts val="4700"/>
              <a:buFont typeface="MingLiu"/>
              <a:buNone/>
            </a:pPr>
            <a:r>
              <a:rPr lang="zh-TW" b="1">
                <a:solidFill>
                  <a:srgbClr val="0070C0"/>
                </a:solidFill>
              </a:rPr>
              <a:t>未來展望</a:t>
            </a:r>
            <a:endParaRPr/>
          </a:p>
        </p:txBody>
      </p:sp>
      <p:sp>
        <p:nvSpPr>
          <p:cNvPr id="236" name="Google Shape;236;p19"/>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p>
            <a:pPr marL="91440" lvl="0" indent="-120650" algn="l" rtl="0">
              <a:lnSpc>
                <a:spcPct val="110000"/>
              </a:lnSpc>
              <a:spcBef>
                <a:spcPts val="0"/>
              </a:spcBef>
              <a:spcAft>
                <a:spcPts val="0"/>
              </a:spcAft>
              <a:buSzPts val="1900"/>
              <a:buChar char=" "/>
            </a:pPr>
            <a:r>
              <a:rPr lang="zh-TW" dirty="0"/>
              <a:t>未來可以進一步：</a:t>
            </a:r>
            <a:endParaRPr dirty="0"/>
          </a:p>
          <a:p>
            <a:pPr marL="91440" lvl="0" indent="-120650" algn="l" rtl="0">
              <a:lnSpc>
                <a:spcPct val="110000"/>
              </a:lnSpc>
              <a:spcBef>
                <a:spcPts val="1400"/>
              </a:spcBef>
              <a:spcAft>
                <a:spcPts val="0"/>
              </a:spcAft>
              <a:buSzPts val="1900"/>
              <a:buFont typeface="Arial"/>
              <a:buChar char="•"/>
            </a:pPr>
            <a:r>
              <a:rPr lang="zh-TW" dirty="0"/>
              <a:t>整合多組學資料（miRNA、甲基化） </a:t>
            </a:r>
            <a:endParaRPr dirty="0"/>
          </a:p>
          <a:p>
            <a:pPr marL="91440" lvl="0" indent="-120650" algn="l" rtl="0">
              <a:lnSpc>
                <a:spcPct val="110000"/>
              </a:lnSpc>
              <a:spcBef>
                <a:spcPts val="1400"/>
              </a:spcBef>
              <a:spcAft>
                <a:spcPts val="0"/>
              </a:spcAft>
              <a:buSzPts val="1900"/>
              <a:buFont typeface="Arial"/>
              <a:buChar char="•"/>
            </a:pPr>
            <a:r>
              <a:rPr lang="zh-TW" dirty="0"/>
              <a:t>建立生存分析模型 </a:t>
            </a:r>
            <a:endParaRPr dirty="0"/>
          </a:p>
          <a:p>
            <a:pPr marL="91440" lvl="0" indent="-120650" algn="l" rtl="0">
              <a:lnSpc>
                <a:spcPct val="110000"/>
              </a:lnSpc>
              <a:spcBef>
                <a:spcPts val="1400"/>
              </a:spcBef>
              <a:spcAft>
                <a:spcPts val="0"/>
              </a:spcAft>
              <a:buSzPts val="1900"/>
              <a:buFont typeface="Arial"/>
              <a:buChar char="•"/>
            </a:pPr>
            <a:r>
              <a:rPr lang="zh-TW" dirty="0"/>
              <a:t>使用外部資料驗證 </a:t>
            </a:r>
            <a:endParaRPr dirty="0"/>
          </a:p>
          <a:p>
            <a:pPr marL="91440" lvl="0" indent="-120650" algn="l" rtl="0">
              <a:lnSpc>
                <a:spcPct val="110000"/>
              </a:lnSpc>
              <a:spcBef>
                <a:spcPts val="1400"/>
              </a:spcBef>
              <a:spcAft>
                <a:spcPts val="0"/>
              </a:spcAft>
              <a:buSzPts val="1900"/>
              <a:buFont typeface="Arial"/>
              <a:buChar char="•"/>
            </a:pPr>
            <a:r>
              <a:rPr lang="zh-TW" dirty="0"/>
              <a:t>發展臨床決策系統</a:t>
            </a:r>
            <a:endParaRPr dirty="0"/>
          </a:p>
          <a:p>
            <a:pPr marL="91440" lvl="0" indent="0" algn="l" rtl="0">
              <a:lnSpc>
                <a:spcPct val="110000"/>
              </a:lnSpc>
              <a:spcBef>
                <a:spcPts val="1400"/>
              </a:spcBef>
              <a:spcAft>
                <a:spcPts val="0"/>
              </a:spcAft>
              <a:buSzPts val="1900"/>
              <a:buFont typeface="Arial"/>
              <a:buNone/>
            </a:pPr>
            <a:endParaRPr dirty="0"/>
          </a:p>
          <a:p>
            <a:pPr marL="0" lvl="0" indent="0" algn="l" rtl="0">
              <a:lnSpc>
                <a:spcPct val="110000"/>
              </a:lnSpc>
              <a:spcBef>
                <a:spcPts val="1400"/>
              </a:spcBef>
              <a:spcAft>
                <a:spcPts val="0"/>
              </a:spcAft>
              <a:buSzPts val="1900"/>
              <a:buNone/>
            </a:pPr>
            <a:r>
              <a:rPr lang="zh-TW" b="1" dirty="0">
                <a:solidFill>
                  <a:srgbClr val="FF0000"/>
                </a:solidFill>
              </a:rPr>
              <a:t>本研究展示了人工智慧在精準醫療中的潛力，未來有望應用於臨床輔助診斷與個人化治療。</a:t>
            </a:r>
            <a:endParaRPr dirty="0"/>
          </a:p>
          <a:p>
            <a:pPr marL="91440" lvl="0" indent="0" algn="l" rtl="0">
              <a:lnSpc>
                <a:spcPct val="110000"/>
              </a:lnSpc>
              <a:spcBef>
                <a:spcPts val="1400"/>
              </a:spcBef>
              <a:spcAft>
                <a:spcPts val="0"/>
              </a:spcAft>
              <a:buSzPts val="1900"/>
              <a:buNone/>
            </a:pPr>
            <a:endParaRPr dirty="0"/>
          </a:p>
        </p:txBody>
      </p:sp>
      <p:sp>
        <p:nvSpPr>
          <p:cNvPr id="237" name="Google Shape;237;p19"/>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zh-TW"/>
              <a:t>2026/5/19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0"/>
          <p:cNvSpPr txBox="1">
            <a:spLocks noGrp="1"/>
          </p:cNvSpPr>
          <p:nvPr>
            <p:ph type="title"/>
          </p:nvPr>
        </p:nvSpPr>
        <p:spPr>
          <a:xfrm>
            <a:off x="2216954" y="435893"/>
            <a:ext cx="7645503" cy="145075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31333F"/>
              </a:buClr>
              <a:buSzPts val="4700"/>
              <a:buFont typeface="Arial"/>
              <a:buNone/>
            </a:pPr>
            <a:r>
              <a:rPr lang="zh-TW" b="1" i="0" dirty="0">
                <a:solidFill>
                  <a:srgbClr val="31333F"/>
                </a:solidFill>
                <a:latin typeface="Arial"/>
                <a:ea typeface="Arial"/>
                <a:cs typeface="Arial"/>
                <a:sym typeface="Arial"/>
              </a:rPr>
              <a:t> </a:t>
            </a:r>
            <a:r>
              <a:rPr lang="zh-TW" sz="4000" b="1" i="0" dirty="0">
                <a:solidFill>
                  <a:srgbClr val="31333F"/>
                </a:solidFill>
                <a:latin typeface="Arial"/>
                <a:ea typeface="Arial"/>
                <a:cs typeface="Arial"/>
                <a:sym typeface="Arial"/>
              </a:rPr>
              <a:t>肺腺癌分類與關鍵基因預測系統</a:t>
            </a:r>
            <a:endParaRPr sz="4000" dirty="0"/>
          </a:p>
        </p:txBody>
      </p:sp>
      <p:pic>
        <p:nvPicPr>
          <p:cNvPr id="243" name="Google Shape;243;p20" descr="一張含有 樣式, 正方形, 像素, 設計 的圖片&#10;&#10;自動產生的描述"/>
          <p:cNvPicPr preferRelativeResize="0">
            <a:picLocks noGrp="1"/>
          </p:cNvPicPr>
          <p:nvPr>
            <p:ph type="body" idx="1"/>
          </p:nvPr>
        </p:nvPicPr>
        <p:blipFill rotWithShape="1">
          <a:blip r:embed="rId3">
            <a:alphaModFix/>
          </a:blip>
          <a:srcRect/>
          <a:stretch/>
        </p:blipFill>
        <p:spPr>
          <a:xfrm>
            <a:off x="4245769" y="2108200"/>
            <a:ext cx="3760788" cy="3760788"/>
          </a:xfrm>
          <a:prstGeom prst="rect">
            <a:avLst/>
          </a:prstGeom>
          <a:noFill/>
          <a:ln>
            <a:noFill/>
          </a:ln>
        </p:spPr>
      </p:pic>
      <p:sp>
        <p:nvSpPr>
          <p:cNvPr id="244" name="Google Shape;244;p20"/>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zh-TW"/>
              <a:t>2026/5/19</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1" name="Google Shape;251;p21"/>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zh-TW"/>
              <a:t>2026/5/19</a:t>
            </a:r>
            <a:endParaRPr/>
          </a:p>
        </p:txBody>
      </p:sp>
      <p:sp>
        <p:nvSpPr>
          <p:cNvPr id="2" name="矩形 1"/>
          <p:cNvSpPr/>
          <p:nvPr/>
        </p:nvSpPr>
        <p:spPr>
          <a:xfrm>
            <a:off x="1189703" y="2199779"/>
            <a:ext cx="10370926" cy="923330"/>
          </a:xfrm>
          <a:prstGeom prst="rect">
            <a:avLst/>
          </a:prstGeom>
        </p:spPr>
        <p:txBody>
          <a:bodyPr wrap="square">
            <a:spAutoFit/>
          </a:bodyPr>
          <a:lstStyle/>
          <a:p>
            <a:r>
              <a:rPr lang="zh-TW" altLang="en-US" sz="1800" dirty="0"/>
              <a:t>我是生技系的劉康聖。我所開發的這套系統名為</a:t>
            </a:r>
            <a:r>
              <a:rPr lang="en-US" altLang="zh-TW" sz="1800" dirty="0"/>
              <a:t>『</a:t>
            </a:r>
            <a:r>
              <a:rPr lang="zh-TW" altLang="en-US" sz="1800" dirty="0"/>
              <a:t>肺腺癌 </a:t>
            </a:r>
            <a:r>
              <a:rPr lang="en-US" altLang="zh-TW" sz="1800" dirty="0"/>
              <a:t>(LUAD) </a:t>
            </a:r>
            <a:r>
              <a:rPr lang="zh-TW" altLang="en-US" sz="1800" dirty="0"/>
              <a:t>分類與關鍵基因預測系統</a:t>
            </a:r>
            <a:r>
              <a:rPr lang="en-US" altLang="zh-TW" sz="1800" dirty="0"/>
              <a:t>』</a:t>
            </a:r>
            <a:r>
              <a:rPr lang="zh-TW" altLang="en-US" sz="1800" dirty="0"/>
              <a:t>。這不是一個單純的網頁前端，它的後端連接著我們利用 </a:t>
            </a:r>
            <a:r>
              <a:rPr lang="en-US" altLang="zh-TW" sz="1800" dirty="0">
                <a:solidFill>
                  <a:srgbClr val="FF0000"/>
                </a:solidFill>
              </a:rPr>
              <a:t>TCGA 535 </a:t>
            </a:r>
            <a:r>
              <a:rPr lang="zh-TW" altLang="en-US" sz="1800" dirty="0">
                <a:solidFill>
                  <a:srgbClr val="FF0000"/>
                </a:solidFill>
              </a:rPr>
              <a:t>例真實肺腺癌病人轉錄組數據</a:t>
            </a:r>
            <a:r>
              <a:rPr lang="zh-TW" altLang="en-US" sz="1800" dirty="0"/>
              <a:t>，所訓練出來的機器學習隨機森林模型。</a:t>
            </a:r>
          </a:p>
        </p:txBody>
      </p:sp>
      <p:sp>
        <p:nvSpPr>
          <p:cNvPr id="3" name="矩形 2"/>
          <p:cNvSpPr/>
          <p:nvPr/>
        </p:nvSpPr>
        <p:spPr>
          <a:xfrm>
            <a:off x="1189704" y="1232359"/>
            <a:ext cx="4288353" cy="707886"/>
          </a:xfrm>
          <a:prstGeom prst="rect">
            <a:avLst/>
          </a:prstGeom>
        </p:spPr>
        <p:txBody>
          <a:bodyPr wrap="none">
            <a:spAutoFit/>
          </a:bodyPr>
          <a:lstStyle/>
          <a:p>
            <a:r>
              <a:rPr lang="zh-TW" altLang="en-US" sz="4000" dirty="0"/>
              <a:t>執行人與系統主題</a:t>
            </a:r>
          </a:p>
        </p:txBody>
      </p:sp>
      <p:pic>
        <p:nvPicPr>
          <p:cNvPr id="4" name="圖片 3"/>
          <p:cNvPicPr>
            <a:picLocks noChangeAspect="1"/>
          </p:cNvPicPr>
          <p:nvPr/>
        </p:nvPicPr>
        <p:blipFill>
          <a:blip r:embed="rId3"/>
          <a:stretch>
            <a:fillRect/>
          </a:stretch>
        </p:blipFill>
        <p:spPr>
          <a:xfrm>
            <a:off x="1883865" y="3916033"/>
            <a:ext cx="8622102" cy="159261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93348" y="1106117"/>
            <a:ext cx="6938118" cy="707886"/>
          </a:xfrm>
          <a:prstGeom prst="rect">
            <a:avLst/>
          </a:prstGeom>
        </p:spPr>
        <p:txBody>
          <a:bodyPr wrap="none">
            <a:spAutoFit/>
          </a:bodyPr>
          <a:lstStyle/>
          <a:p>
            <a:r>
              <a:rPr lang="zh-TW" altLang="en-US" sz="4000" dirty="0"/>
              <a:t>數據指標方塊（三大 </a:t>
            </a:r>
            <a:r>
              <a:rPr lang="en-US" altLang="zh-TW" sz="4000" dirty="0"/>
              <a:t>KPI </a:t>
            </a:r>
            <a:r>
              <a:rPr lang="zh-TW" altLang="en-US" sz="4000" dirty="0"/>
              <a:t>卡）</a:t>
            </a:r>
          </a:p>
        </p:txBody>
      </p:sp>
      <p:sp>
        <p:nvSpPr>
          <p:cNvPr id="5" name="矩形 4"/>
          <p:cNvSpPr/>
          <p:nvPr/>
        </p:nvSpPr>
        <p:spPr>
          <a:xfrm>
            <a:off x="1193349" y="2257474"/>
            <a:ext cx="2518638" cy="369332"/>
          </a:xfrm>
          <a:prstGeom prst="rect">
            <a:avLst/>
          </a:prstGeom>
        </p:spPr>
        <p:txBody>
          <a:bodyPr wrap="none">
            <a:spAutoFit/>
          </a:bodyPr>
          <a:lstStyle/>
          <a:p>
            <a:r>
              <a:rPr lang="zh-TW" altLang="en-US" sz="1800" dirty="0">
                <a:solidFill>
                  <a:srgbClr val="0070C0"/>
                </a:solidFill>
              </a:rPr>
              <a:t>模型預測準確度 </a:t>
            </a:r>
            <a:r>
              <a:rPr lang="en-US" altLang="zh-TW" sz="1800" dirty="0">
                <a:solidFill>
                  <a:srgbClr val="0070C0"/>
                </a:solidFill>
              </a:rPr>
              <a:t>89.6%</a:t>
            </a:r>
            <a:endParaRPr lang="zh-TW" altLang="en-US" sz="1800" dirty="0">
              <a:solidFill>
                <a:srgbClr val="0070C0"/>
              </a:solidFill>
            </a:endParaRPr>
          </a:p>
        </p:txBody>
      </p:sp>
      <p:sp>
        <p:nvSpPr>
          <p:cNvPr id="6" name="矩形 5"/>
          <p:cNvSpPr/>
          <p:nvPr/>
        </p:nvSpPr>
        <p:spPr>
          <a:xfrm>
            <a:off x="1193348" y="2729423"/>
            <a:ext cx="9807443" cy="646331"/>
          </a:xfrm>
          <a:prstGeom prst="rect">
            <a:avLst/>
          </a:prstGeom>
        </p:spPr>
        <p:txBody>
          <a:bodyPr wrap="square">
            <a:spAutoFit/>
          </a:bodyPr>
          <a:lstStyle/>
          <a:p>
            <a:r>
              <a:rPr lang="zh-TW" altLang="en-US" sz="1800" dirty="0"/>
              <a:t>這是模型在「未見過的測試資料」上的總體正確率。代表 </a:t>
            </a:r>
            <a:r>
              <a:rPr lang="en-US" altLang="zh-TW" sz="1800" dirty="0"/>
              <a:t>100 </a:t>
            </a:r>
            <a:r>
              <a:rPr lang="zh-TW" altLang="en-US" sz="1800" dirty="0"/>
              <a:t>個病人進來，</a:t>
            </a:r>
            <a:r>
              <a:rPr lang="en-US" altLang="zh-TW" sz="1800" dirty="0"/>
              <a:t>AI </a:t>
            </a:r>
            <a:r>
              <a:rPr lang="zh-TW" altLang="en-US" sz="1800" dirty="0"/>
              <a:t>有能力準確判斷出將近 </a:t>
            </a:r>
            <a:r>
              <a:rPr lang="en-US" altLang="zh-TW" sz="1800" dirty="0"/>
              <a:t>90 </a:t>
            </a:r>
            <a:r>
              <a:rPr lang="zh-TW" altLang="en-US" sz="1800" dirty="0"/>
              <a:t>個病人的預後高低風險</a:t>
            </a:r>
          </a:p>
        </p:txBody>
      </p:sp>
      <p:sp>
        <p:nvSpPr>
          <p:cNvPr id="7" name="矩形 6"/>
          <p:cNvSpPr/>
          <p:nvPr/>
        </p:nvSpPr>
        <p:spPr>
          <a:xfrm>
            <a:off x="1193348" y="3749002"/>
            <a:ext cx="9807443" cy="646331"/>
          </a:xfrm>
          <a:prstGeom prst="rect">
            <a:avLst/>
          </a:prstGeom>
        </p:spPr>
        <p:txBody>
          <a:bodyPr wrap="square">
            <a:spAutoFit/>
          </a:bodyPr>
          <a:lstStyle/>
          <a:p>
            <a:r>
              <a:rPr lang="zh-TW" altLang="en-US" sz="1800" dirty="0"/>
              <a:t>首先請看下方的三大模型指標。我們的系統達到了 </a:t>
            </a:r>
            <a:r>
              <a:rPr lang="en-US" altLang="zh-TW" sz="1800" b="1" dirty="0">
                <a:solidFill>
                  <a:srgbClr val="FF0000"/>
                </a:solidFill>
              </a:rPr>
              <a:t>89.6% </a:t>
            </a:r>
            <a:r>
              <a:rPr lang="zh-TW" altLang="en-US" sz="1800" b="1" dirty="0">
                <a:solidFill>
                  <a:srgbClr val="FF0000"/>
                </a:solidFill>
              </a:rPr>
              <a:t>的預測準確度</a:t>
            </a:r>
            <a:r>
              <a:rPr lang="zh-TW" altLang="en-US" sz="1800" dirty="0"/>
              <a:t>，這在複雜的癌症多基因預後預測中，是非常具有臨床參考價值的表現</a:t>
            </a:r>
          </a:p>
        </p:txBody>
      </p:sp>
      <p:pic>
        <p:nvPicPr>
          <p:cNvPr id="8" name="圖片 7"/>
          <p:cNvPicPr>
            <a:picLocks noChangeAspect="1"/>
          </p:cNvPicPr>
          <p:nvPr/>
        </p:nvPicPr>
        <p:blipFill>
          <a:blip r:embed="rId2"/>
          <a:stretch>
            <a:fillRect/>
          </a:stretch>
        </p:blipFill>
        <p:spPr>
          <a:xfrm>
            <a:off x="1372063" y="4498709"/>
            <a:ext cx="9998944" cy="1840961"/>
          </a:xfrm>
          <a:prstGeom prst="rect">
            <a:avLst/>
          </a:prstGeom>
        </p:spPr>
      </p:pic>
    </p:spTree>
    <p:extLst>
      <p:ext uri="{BB962C8B-B14F-4D97-AF65-F5344CB8AC3E}">
        <p14:creationId xmlns:p14="http://schemas.microsoft.com/office/powerpoint/2010/main" val="31937608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22647" y="2183732"/>
            <a:ext cx="2916183" cy="369332"/>
          </a:xfrm>
          <a:prstGeom prst="rect">
            <a:avLst/>
          </a:prstGeom>
        </p:spPr>
        <p:txBody>
          <a:bodyPr wrap="none">
            <a:spAutoFit/>
          </a:bodyPr>
          <a:lstStyle/>
          <a:p>
            <a:r>
              <a:rPr lang="zh-TW" altLang="en-US" sz="1800" dirty="0">
                <a:solidFill>
                  <a:srgbClr val="0070C0"/>
                </a:solidFill>
              </a:rPr>
              <a:t>模型區分能力 </a:t>
            </a:r>
            <a:r>
              <a:rPr lang="en-US" altLang="zh-TW" sz="1800" dirty="0">
                <a:solidFill>
                  <a:srgbClr val="0070C0"/>
                </a:solidFill>
              </a:rPr>
              <a:t>(AUC) 0.942</a:t>
            </a:r>
            <a:endParaRPr lang="zh-TW" altLang="en-US" sz="1800" dirty="0">
              <a:solidFill>
                <a:srgbClr val="0070C0"/>
              </a:solidFill>
            </a:endParaRPr>
          </a:p>
        </p:txBody>
      </p:sp>
      <p:sp>
        <p:nvSpPr>
          <p:cNvPr id="5" name="矩形 4"/>
          <p:cNvSpPr/>
          <p:nvPr/>
        </p:nvSpPr>
        <p:spPr>
          <a:xfrm>
            <a:off x="1193349" y="2833960"/>
            <a:ext cx="9528728" cy="646331"/>
          </a:xfrm>
          <a:prstGeom prst="rect">
            <a:avLst/>
          </a:prstGeom>
        </p:spPr>
        <p:txBody>
          <a:bodyPr wrap="square">
            <a:spAutoFit/>
          </a:bodyPr>
          <a:lstStyle/>
          <a:p>
            <a:r>
              <a:rPr lang="en-US" altLang="zh-TW" sz="1800" dirty="0">
                <a:solidFill>
                  <a:srgbClr val="FF0000"/>
                </a:solidFill>
              </a:rPr>
              <a:t>AUC </a:t>
            </a:r>
            <a:r>
              <a:rPr lang="zh-TW" altLang="en-US" sz="1800" dirty="0">
                <a:solidFill>
                  <a:srgbClr val="FF0000"/>
                </a:solidFill>
              </a:rPr>
              <a:t>達 </a:t>
            </a:r>
            <a:r>
              <a:rPr lang="en-US" altLang="zh-TW" sz="1800" dirty="0">
                <a:solidFill>
                  <a:srgbClr val="FF0000"/>
                </a:solidFill>
              </a:rPr>
              <a:t>0.942 </a:t>
            </a:r>
            <a:r>
              <a:rPr lang="zh-TW" altLang="en-US" sz="1800" dirty="0">
                <a:solidFill>
                  <a:srgbClr val="FF0000"/>
                </a:solidFill>
              </a:rPr>
              <a:t>代表 </a:t>
            </a:r>
            <a:r>
              <a:rPr lang="en-US" altLang="zh-TW" sz="1800" dirty="0">
                <a:solidFill>
                  <a:srgbClr val="FF0000"/>
                </a:solidFill>
              </a:rPr>
              <a:t>Excellent</a:t>
            </a:r>
            <a:r>
              <a:rPr lang="zh-TW" altLang="en-US" sz="1800" dirty="0">
                <a:solidFill>
                  <a:srgbClr val="FF0000"/>
                </a:solidFill>
              </a:rPr>
              <a:t>（極度優秀）</a:t>
            </a:r>
            <a:r>
              <a:rPr lang="zh-TW" altLang="en-US" sz="1800" dirty="0"/>
              <a:t>。意思是模型幾乎不會把「高風險病人誤判為低風險（導致延誤治療）」，也不會把「低風險病人誤判為高風險（導致過度醫療）」</a:t>
            </a:r>
          </a:p>
        </p:txBody>
      </p:sp>
      <p:sp>
        <p:nvSpPr>
          <p:cNvPr id="6" name="矩形 5"/>
          <p:cNvSpPr/>
          <p:nvPr/>
        </p:nvSpPr>
        <p:spPr>
          <a:xfrm>
            <a:off x="1193349" y="3615625"/>
            <a:ext cx="9835405" cy="646331"/>
          </a:xfrm>
          <a:prstGeom prst="rect">
            <a:avLst/>
          </a:prstGeom>
        </p:spPr>
        <p:txBody>
          <a:bodyPr wrap="square">
            <a:spAutoFit/>
          </a:bodyPr>
          <a:lstStyle/>
          <a:p>
            <a:r>
              <a:rPr lang="zh-TW" altLang="en-US" sz="1800" dirty="0"/>
              <a:t>更關鍵的是 </a:t>
            </a:r>
            <a:r>
              <a:rPr lang="en-US" altLang="zh-TW" sz="1800" b="1" dirty="0">
                <a:solidFill>
                  <a:srgbClr val="FF0000"/>
                </a:solidFill>
              </a:rPr>
              <a:t>AUC </a:t>
            </a:r>
            <a:r>
              <a:rPr lang="zh-TW" altLang="en-US" sz="1800" b="1" dirty="0">
                <a:solidFill>
                  <a:srgbClr val="FF0000"/>
                </a:solidFill>
              </a:rPr>
              <a:t>指標高達 </a:t>
            </a:r>
            <a:r>
              <a:rPr lang="en-US" altLang="zh-TW" sz="1800" b="1" dirty="0">
                <a:solidFill>
                  <a:srgbClr val="FF0000"/>
                </a:solidFill>
              </a:rPr>
              <a:t>0.942</a:t>
            </a:r>
            <a:r>
              <a:rPr lang="zh-TW" altLang="en-US" sz="1800" dirty="0"/>
              <a:t>。在醫學統計學中，</a:t>
            </a:r>
            <a:r>
              <a:rPr lang="en-US" altLang="zh-TW" sz="1800" dirty="0"/>
              <a:t>AUC </a:t>
            </a:r>
            <a:r>
              <a:rPr lang="zh-TW" altLang="en-US" sz="1800" dirty="0"/>
              <a:t>超過 </a:t>
            </a:r>
            <a:r>
              <a:rPr lang="en-US" altLang="zh-TW" sz="1800" dirty="0"/>
              <a:t>0.9 </a:t>
            </a:r>
            <a:r>
              <a:rPr lang="zh-TW" altLang="en-US" sz="1800" dirty="0"/>
              <a:t>代表模型具備極高的診斷特異性與敏感度，能精準區分高低風險兩組不同的病人群體</a:t>
            </a:r>
          </a:p>
        </p:txBody>
      </p:sp>
      <p:sp>
        <p:nvSpPr>
          <p:cNvPr id="7" name="矩形 6"/>
          <p:cNvSpPr/>
          <p:nvPr/>
        </p:nvSpPr>
        <p:spPr>
          <a:xfrm>
            <a:off x="1122647" y="1217401"/>
            <a:ext cx="6938118" cy="707886"/>
          </a:xfrm>
          <a:prstGeom prst="rect">
            <a:avLst/>
          </a:prstGeom>
        </p:spPr>
        <p:txBody>
          <a:bodyPr wrap="none">
            <a:spAutoFit/>
          </a:bodyPr>
          <a:lstStyle/>
          <a:p>
            <a:r>
              <a:rPr lang="zh-TW" altLang="en-US" sz="4000" dirty="0"/>
              <a:t>數據指標方塊（三大 </a:t>
            </a:r>
            <a:r>
              <a:rPr lang="en-US" altLang="zh-TW" sz="4000" dirty="0"/>
              <a:t>KPI </a:t>
            </a:r>
            <a:r>
              <a:rPr lang="zh-TW" altLang="en-US" sz="4000" dirty="0"/>
              <a:t>卡）</a:t>
            </a:r>
          </a:p>
        </p:txBody>
      </p:sp>
      <p:pic>
        <p:nvPicPr>
          <p:cNvPr id="8" name="圖片 7"/>
          <p:cNvPicPr>
            <a:picLocks noChangeAspect="1"/>
          </p:cNvPicPr>
          <p:nvPr/>
        </p:nvPicPr>
        <p:blipFill>
          <a:blip r:embed="rId2"/>
          <a:stretch>
            <a:fillRect/>
          </a:stretch>
        </p:blipFill>
        <p:spPr>
          <a:xfrm>
            <a:off x="1193349" y="4481747"/>
            <a:ext cx="9998944" cy="1840961"/>
          </a:xfrm>
          <a:prstGeom prst="rect">
            <a:avLst/>
          </a:prstGeom>
        </p:spPr>
      </p:pic>
    </p:spTree>
    <p:extLst>
      <p:ext uri="{BB962C8B-B14F-4D97-AF65-F5344CB8AC3E}">
        <p14:creationId xmlns:p14="http://schemas.microsoft.com/office/powerpoint/2010/main" val="13899565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76465" y="2198480"/>
            <a:ext cx="2313454" cy="369332"/>
          </a:xfrm>
          <a:prstGeom prst="rect">
            <a:avLst/>
          </a:prstGeom>
        </p:spPr>
        <p:txBody>
          <a:bodyPr wrap="none">
            <a:spAutoFit/>
          </a:bodyPr>
          <a:lstStyle/>
          <a:p>
            <a:r>
              <a:rPr lang="zh-TW" altLang="en-US" sz="1800" dirty="0">
                <a:solidFill>
                  <a:srgbClr val="0070C0"/>
                </a:solidFill>
              </a:rPr>
              <a:t>分析總樣本數 </a:t>
            </a:r>
            <a:r>
              <a:rPr lang="en-US" altLang="zh-TW" sz="1800" dirty="0">
                <a:solidFill>
                  <a:srgbClr val="0070C0"/>
                </a:solidFill>
              </a:rPr>
              <a:t>535 </a:t>
            </a:r>
            <a:r>
              <a:rPr lang="zh-TW" altLang="en-US" sz="1800" dirty="0">
                <a:solidFill>
                  <a:srgbClr val="0070C0"/>
                </a:solidFill>
              </a:rPr>
              <a:t>例</a:t>
            </a:r>
          </a:p>
        </p:txBody>
      </p:sp>
      <p:sp>
        <p:nvSpPr>
          <p:cNvPr id="5" name="矩形 4"/>
          <p:cNvSpPr/>
          <p:nvPr/>
        </p:nvSpPr>
        <p:spPr>
          <a:xfrm>
            <a:off x="1076465" y="1246276"/>
            <a:ext cx="6938118" cy="707886"/>
          </a:xfrm>
          <a:prstGeom prst="rect">
            <a:avLst/>
          </a:prstGeom>
        </p:spPr>
        <p:txBody>
          <a:bodyPr wrap="none">
            <a:spAutoFit/>
          </a:bodyPr>
          <a:lstStyle/>
          <a:p>
            <a:r>
              <a:rPr lang="zh-TW" altLang="en-US" sz="4000" dirty="0"/>
              <a:t>數據指標方塊（三大 </a:t>
            </a:r>
            <a:r>
              <a:rPr lang="en-US" altLang="zh-TW" sz="4000" dirty="0"/>
              <a:t>KPI </a:t>
            </a:r>
            <a:r>
              <a:rPr lang="zh-TW" altLang="en-US" sz="4000" dirty="0"/>
              <a:t>卡）</a:t>
            </a:r>
          </a:p>
        </p:txBody>
      </p:sp>
      <p:sp>
        <p:nvSpPr>
          <p:cNvPr id="6" name="矩形 5"/>
          <p:cNvSpPr/>
          <p:nvPr/>
        </p:nvSpPr>
        <p:spPr>
          <a:xfrm>
            <a:off x="1076465" y="2841004"/>
            <a:ext cx="4801314" cy="369332"/>
          </a:xfrm>
          <a:prstGeom prst="rect">
            <a:avLst/>
          </a:prstGeom>
        </p:spPr>
        <p:txBody>
          <a:bodyPr wrap="none">
            <a:spAutoFit/>
          </a:bodyPr>
          <a:lstStyle/>
          <a:p>
            <a:r>
              <a:rPr lang="zh-TW" altLang="en-US" sz="1800" dirty="0"/>
              <a:t>奠定醫學大數據基礎，說明統計學上的信賴度</a:t>
            </a:r>
          </a:p>
        </p:txBody>
      </p:sp>
      <p:sp>
        <p:nvSpPr>
          <p:cNvPr id="7" name="矩形 6"/>
          <p:cNvSpPr/>
          <p:nvPr/>
        </p:nvSpPr>
        <p:spPr>
          <a:xfrm>
            <a:off x="1076465" y="3637417"/>
            <a:ext cx="10222906" cy="646331"/>
          </a:xfrm>
          <a:prstGeom prst="rect">
            <a:avLst/>
          </a:prstGeom>
        </p:spPr>
        <p:txBody>
          <a:bodyPr wrap="square">
            <a:spAutoFit/>
          </a:bodyPr>
          <a:lstStyle/>
          <a:p>
            <a:r>
              <a:rPr lang="zh-TW" altLang="en-US" sz="1800" dirty="0"/>
              <a:t>這項系統並非基於少數個案，而是完整分析了來自 </a:t>
            </a:r>
            <a:r>
              <a:rPr lang="en-US" altLang="zh-TW" sz="1800" b="1" dirty="0"/>
              <a:t>TCGA </a:t>
            </a:r>
            <a:r>
              <a:rPr lang="zh-TW" altLang="en-US" sz="1800" b="1" dirty="0"/>
              <a:t>數據庫 </a:t>
            </a:r>
            <a:r>
              <a:rPr lang="en-US" altLang="zh-TW" sz="1800" b="1" dirty="0"/>
              <a:t>535 </a:t>
            </a:r>
            <a:r>
              <a:rPr lang="zh-TW" altLang="en-US" sz="1800" b="1" dirty="0"/>
              <a:t>例</a:t>
            </a:r>
            <a:r>
              <a:rPr lang="zh-TW" altLang="en-US" sz="1800" dirty="0"/>
              <a:t> 具備完整隨訪資料的肺腺癌轉錄組 </a:t>
            </a:r>
            <a:r>
              <a:rPr lang="en-US" altLang="zh-TW" sz="1800" dirty="0"/>
              <a:t>FPKM </a:t>
            </a:r>
            <a:r>
              <a:rPr lang="zh-TW" altLang="en-US" sz="1800" dirty="0"/>
              <a:t>矩陣，確保了數據的代表性與廣度</a:t>
            </a:r>
          </a:p>
        </p:txBody>
      </p:sp>
      <p:pic>
        <p:nvPicPr>
          <p:cNvPr id="8" name="圖片 7"/>
          <p:cNvPicPr>
            <a:picLocks noChangeAspect="1"/>
          </p:cNvPicPr>
          <p:nvPr/>
        </p:nvPicPr>
        <p:blipFill>
          <a:blip r:embed="rId2"/>
          <a:stretch>
            <a:fillRect/>
          </a:stretch>
        </p:blipFill>
        <p:spPr>
          <a:xfrm>
            <a:off x="1193349" y="4481747"/>
            <a:ext cx="9998944" cy="1840961"/>
          </a:xfrm>
          <a:prstGeom prst="rect">
            <a:avLst/>
          </a:prstGeom>
        </p:spPr>
      </p:pic>
    </p:spTree>
    <p:extLst>
      <p:ext uri="{BB962C8B-B14F-4D97-AF65-F5344CB8AC3E}">
        <p14:creationId xmlns:p14="http://schemas.microsoft.com/office/powerpoint/2010/main" val="2283878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12563" y="1169093"/>
            <a:ext cx="8079456" cy="707886"/>
          </a:xfrm>
          <a:prstGeom prst="rect">
            <a:avLst/>
          </a:prstGeom>
        </p:spPr>
        <p:txBody>
          <a:bodyPr wrap="none">
            <a:spAutoFit/>
          </a:bodyPr>
          <a:lstStyle/>
          <a:p>
            <a:r>
              <a:rPr lang="zh-TW" altLang="en-US" sz="4000" dirty="0"/>
              <a:t>側邊欄 </a:t>
            </a:r>
            <a:r>
              <a:rPr lang="en-US" altLang="zh-TW" sz="4000" dirty="0"/>
              <a:t>—— 6 </a:t>
            </a:r>
            <a:r>
              <a:rPr lang="zh-TW" altLang="en-US" sz="4000" dirty="0"/>
              <a:t>個關鍵驅動基因滑桿</a:t>
            </a:r>
          </a:p>
        </p:txBody>
      </p:sp>
      <p:sp>
        <p:nvSpPr>
          <p:cNvPr id="5" name="矩形 4"/>
          <p:cNvSpPr/>
          <p:nvPr/>
        </p:nvSpPr>
        <p:spPr>
          <a:xfrm>
            <a:off x="1112563" y="1953923"/>
            <a:ext cx="10730392" cy="646331"/>
          </a:xfrm>
          <a:prstGeom prst="rect">
            <a:avLst/>
          </a:prstGeom>
        </p:spPr>
        <p:txBody>
          <a:bodyPr wrap="square">
            <a:spAutoFit/>
          </a:bodyPr>
          <a:lstStyle/>
          <a:p>
            <a:r>
              <a:rPr lang="zh-TW" altLang="en-US" sz="1800" dirty="0"/>
              <a:t>在左側的控制面板，我們引入了利用機器學習 </a:t>
            </a:r>
            <a:r>
              <a:rPr lang="en-US" altLang="zh-TW" sz="1800" dirty="0"/>
              <a:t>SHAP </a:t>
            </a:r>
            <a:r>
              <a:rPr lang="zh-TW" altLang="en-US" sz="1800" dirty="0"/>
              <a:t>演算法篩選出</a:t>
            </a:r>
            <a:r>
              <a:rPr lang="zh-TW" altLang="en-US" sz="1800" b="1" dirty="0"/>
              <a:t>最有關聯性的 </a:t>
            </a:r>
            <a:r>
              <a:rPr lang="en-US" altLang="zh-TW" sz="1800" b="1" dirty="0"/>
              <a:t>6 </a:t>
            </a:r>
            <a:r>
              <a:rPr lang="zh-TW" altLang="en-US" sz="1800" b="1" dirty="0"/>
              <a:t>個驅動基因</a:t>
            </a:r>
            <a:r>
              <a:rPr lang="zh-TW" altLang="en-US" sz="1800" dirty="0"/>
              <a:t>。臨床醫生可以依據病人的切片 </a:t>
            </a:r>
            <a:r>
              <a:rPr lang="en-US" altLang="zh-TW" sz="1800" dirty="0"/>
              <a:t>RNA-</a:t>
            </a:r>
            <a:r>
              <a:rPr lang="en-US" altLang="zh-TW" sz="1800" dirty="0" err="1"/>
              <a:t>seq</a:t>
            </a:r>
            <a:r>
              <a:rPr lang="en-US" altLang="zh-TW" sz="1800" dirty="0"/>
              <a:t> </a:t>
            </a:r>
            <a:r>
              <a:rPr lang="zh-TW" altLang="en-US" sz="1800" dirty="0"/>
              <a:t>檢測報告（</a:t>
            </a:r>
            <a:r>
              <a:rPr lang="en-US" altLang="zh-TW" sz="1800" dirty="0"/>
              <a:t>Log2 </a:t>
            </a:r>
            <a:r>
              <a:rPr lang="zh-TW" altLang="en-US" sz="1800" dirty="0"/>
              <a:t>轉換後的數值），即時拉動調整表達量。</a:t>
            </a:r>
          </a:p>
        </p:txBody>
      </p:sp>
      <p:sp>
        <p:nvSpPr>
          <p:cNvPr id="7" name="矩形 6"/>
          <p:cNvSpPr/>
          <p:nvPr/>
        </p:nvSpPr>
        <p:spPr>
          <a:xfrm>
            <a:off x="433093" y="2664619"/>
            <a:ext cx="3313728" cy="369332"/>
          </a:xfrm>
          <a:prstGeom prst="rect">
            <a:avLst/>
          </a:prstGeom>
        </p:spPr>
        <p:txBody>
          <a:bodyPr wrap="none">
            <a:spAutoFit/>
          </a:bodyPr>
          <a:lstStyle/>
          <a:p>
            <a:r>
              <a:rPr lang="en-US" altLang="zh-TW" sz="1800" dirty="0">
                <a:solidFill>
                  <a:srgbClr val="0070C0"/>
                </a:solidFill>
              </a:rPr>
              <a:t>SLC34A2</a:t>
            </a:r>
            <a:r>
              <a:rPr lang="zh-TW" altLang="en-US" sz="1800" dirty="0">
                <a:solidFill>
                  <a:srgbClr val="0070C0"/>
                </a:solidFill>
              </a:rPr>
              <a:t>（數值越低越危險 ）</a:t>
            </a:r>
          </a:p>
        </p:txBody>
      </p:sp>
      <p:sp>
        <p:nvSpPr>
          <p:cNvPr id="8" name="矩形 7"/>
          <p:cNvSpPr/>
          <p:nvPr/>
        </p:nvSpPr>
        <p:spPr>
          <a:xfrm>
            <a:off x="433093" y="3943586"/>
            <a:ext cx="9327409" cy="646331"/>
          </a:xfrm>
          <a:prstGeom prst="rect">
            <a:avLst/>
          </a:prstGeom>
        </p:spPr>
        <p:txBody>
          <a:bodyPr wrap="square">
            <a:spAutoFit/>
          </a:bodyPr>
          <a:lstStyle/>
          <a:p>
            <a:r>
              <a:rPr lang="zh-TW" altLang="en-US" sz="1800" dirty="0"/>
              <a:t>當我把 </a:t>
            </a:r>
            <a:r>
              <a:rPr lang="en-US" altLang="zh-TW" sz="1800" dirty="0"/>
              <a:t>SLC34A2 </a:t>
            </a:r>
            <a:r>
              <a:rPr lang="zh-TW" altLang="en-US" sz="1800" dirty="0"/>
              <a:t>的表達量</a:t>
            </a:r>
            <a:r>
              <a:rPr lang="zh-TW" altLang="en-US" sz="1800" dirty="0">
                <a:solidFill>
                  <a:srgbClr val="FF0000"/>
                </a:solidFill>
              </a:rPr>
              <a:t>往左拉低</a:t>
            </a:r>
            <a:r>
              <a:rPr lang="zh-TW" altLang="en-US" sz="1800" dirty="0"/>
              <a:t>時，代表抑癌或細胞分化標誌減弱，預後風險通常會隨之上升</a:t>
            </a:r>
          </a:p>
        </p:txBody>
      </p:sp>
      <p:pic>
        <p:nvPicPr>
          <p:cNvPr id="9" name="圖片 8"/>
          <p:cNvPicPr>
            <a:picLocks noChangeAspect="1"/>
          </p:cNvPicPr>
          <p:nvPr/>
        </p:nvPicPr>
        <p:blipFill>
          <a:blip r:embed="rId2"/>
          <a:stretch>
            <a:fillRect/>
          </a:stretch>
        </p:blipFill>
        <p:spPr>
          <a:xfrm>
            <a:off x="2822498" y="4554765"/>
            <a:ext cx="7310522" cy="1791532"/>
          </a:xfrm>
          <a:prstGeom prst="rect">
            <a:avLst/>
          </a:prstGeom>
        </p:spPr>
      </p:pic>
      <p:pic>
        <p:nvPicPr>
          <p:cNvPr id="10" name="圖片 9"/>
          <p:cNvPicPr>
            <a:picLocks noChangeAspect="1"/>
          </p:cNvPicPr>
          <p:nvPr/>
        </p:nvPicPr>
        <p:blipFill>
          <a:blip r:embed="rId3"/>
          <a:stretch>
            <a:fillRect/>
          </a:stretch>
        </p:blipFill>
        <p:spPr>
          <a:xfrm>
            <a:off x="10214241" y="2600254"/>
            <a:ext cx="1628714" cy="3746043"/>
          </a:xfrm>
          <a:prstGeom prst="rect">
            <a:avLst/>
          </a:prstGeom>
        </p:spPr>
      </p:pic>
      <p:sp>
        <p:nvSpPr>
          <p:cNvPr id="11" name="矩形 10"/>
          <p:cNvSpPr/>
          <p:nvPr/>
        </p:nvSpPr>
        <p:spPr>
          <a:xfrm>
            <a:off x="438703" y="3204006"/>
            <a:ext cx="9162497" cy="646331"/>
          </a:xfrm>
          <a:prstGeom prst="rect">
            <a:avLst/>
          </a:prstGeom>
        </p:spPr>
        <p:txBody>
          <a:bodyPr wrap="square">
            <a:spAutoFit/>
          </a:bodyPr>
          <a:lstStyle/>
          <a:p>
            <a:r>
              <a:rPr lang="zh-TW" altLang="en-US" sz="1800" b="1" dirty="0"/>
              <a:t>生物學意義：</a:t>
            </a:r>
            <a:r>
              <a:rPr lang="zh-TW" altLang="en-US" sz="1800" dirty="0"/>
              <a:t> 它是一個鈉依賴型磷酸鹽轉運蛋白，在正常肺泡上皮中高表達。在肺腺癌中，如果它表達量「</a:t>
            </a:r>
            <a:r>
              <a:rPr lang="zh-TW" altLang="en-US" sz="1800" dirty="0">
                <a:solidFill>
                  <a:srgbClr val="FF0000"/>
                </a:solidFill>
              </a:rPr>
              <a:t>降低</a:t>
            </a:r>
            <a:r>
              <a:rPr lang="zh-TW" altLang="en-US" sz="1800" dirty="0"/>
              <a:t>」，通常代表</a:t>
            </a:r>
            <a:r>
              <a:rPr lang="zh-TW" altLang="en-US" sz="1800" dirty="0">
                <a:solidFill>
                  <a:srgbClr val="FF0000"/>
                </a:solidFill>
              </a:rPr>
              <a:t>細胞分化變差、惡性度變高</a:t>
            </a:r>
            <a:r>
              <a:rPr lang="zh-TW" altLang="en-US" sz="1800" dirty="0"/>
              <a:t>。</a:t>
            </a:r>
          </a:p>
        </p:txBody>
      </p:sp>
    </p:spTree>
    <p:extLst>
      <p:ext uri="{BB962C8B-B14F-4D97-AF65-F5344CB8AC3E}">
        <p14:creationId xmlns:p14="http://schemas.microsoft.com/office/powerpoint/2010/main" val="2295483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28589" y="1225387"/>
            <a:ext cx="8079456" cy="707886"/>
          </a:xfrm>
          <a:prstGeom prst="rect">
            <a:avLst/>
          </a:prstGeom>
        </p:spPr>
        <p:txBody>
          <a:bodyPr wrap="none">
            <a:spAutoFit/>
          </a:bodyPr>
          <a:lstStyle/>
          <a:p>
            <a:r>
              <a:rPr lang="zh-TW" altLang="en-US" sz="4000" dirty="0"/>
              <a:t>側邊欄 </a:t>
            </a:r>
            <a:r>
              <a:rPr lang="en-US" altLang="zh-TW" sz="4000" dirty="0"/>
              <a:t>—— 6 </a:t>
            </a:r>
            <a:r>
              <a:rPr lang="zh-TW" altLang="en-US" sz="4000" dirty="0"/>
              <a:t>個關鍵驅動基因滑桿</a:t>
            </a:r>
          </a:p>
        </p:txBody>
      </p:sp>
      <p:sp>
        <p:nvSpPr>
          <p:cNvPr id="5" name="矩形 4"/>
          <p:cNvSpPr/>
          <p:nvPr/>
        </p:nvSpPr>
        <p:spPr>
          <a:xfrm>
            <a:off x="1123657" y="1972601"/>
            <a:ext cx="4839786" cy="369332"/>
          </a:xfrm>
          <a:prstGeom prst="rect">
            <a:avLst/>
          </a:prstGeom>
        </p:spPr>
        <p:txBody>
          <a:bodyPr wrap="none">
            <a:spAutoFit/>
          </a:bodyPr>
          <a:lstStyle/>
          <a:p>
            <a:r>
              <a:rPr lang="en-US" altLang="zh-TW" sz="1800" dirty="0">
                <a:solidFill>
                  <a:srgbClr val="0070C0"/>
                </a:solidFill>
              </a:rPr>
              <a:t>ANLN / CDC20 / TOP2A</a:t>
            </a:r>
            <a:r>
              <a:rPr lang="zh-TW" altLang="en-US" sz="1800" dirty="0">
                <a:solidFill>
                  <a:srgbClr val="0070C0"/>
                </a:solidFill>
              </a:rPr>
              <a:t>（數值越高越危險 ）</a:t>
            </a:r>
          </a:p>
        </p:txBody>
      </p:sp>
      <p:sp>
        <p:nvSpPr>
          <p:cNvPr id="6" name="矩形 5"/>
          <p:cNvSpPr/>
          <p:nvPr/>
        </p:nvSpPr>
        <p:spPr>
          <a:xfrm>
            <a:off x="1123657" y="2512501"/>
            <a:ext cx="8292693" cy="923330"/>
          </a:xfrm>
          <a:prstGeom prst="rect">
            <a:avLst/>
          </a:prstGeom>
        </p:spPr>
        <p:txBody>
          <a:bodyPr wrap="square">
            <a:spAutoFit/>
          </a:bodyPr>
          <a:lstStyle/>
          <a:p>
            <a:r>
              <a:rPr lang="zh-TW" altLang="en-US" sz="1800" b="1" dirty="0"/>
              <a:t>生物學意義：</a:t>
            </a:r>
            <a:r>
              <a:rPr lang="zh-TW" altLang="en-US" sz="1800" dirty="0"/>
              <a:t> 這三個都跟細胞週期、有絲分裂、</a:t>
            </a:r>
            <a:r>
              <a:rPr lang="en-US" altLang="zh-TW" sz="1800" dirty="0"/>
              <a:t>DNA</a:t>
            </a:r>
            <a:r>
              <a:rPr lang="zh-TW" altLang="en-US" sz="1800" dirty="0"/>
              <a:t>複製與細胞解旋（</a:t>
            </a:r>
            <a:r>
              <a:rPr lang="en-US" altLang="zh-TW" sz="1800" dirty="0"/>
              <a:t>TOP2A</a:t>
            </a:r>
            <a:r>
              <a:rPr lang="zh-TW" altLang="en-US" sz="1800" dirty="0"/>
              <a:t>）高度相關。癌症最可怕的就是細胞瘋狂分裂，所以</a:t>
            </a:r>
            <a:r>
              <a:rPr lang="zh-TW" altLang="en-US" sz="1800" dirty="0">
                <a:solidFill>
                  <a:srgbClr val="FF0000"/>
                </a:solidFill>
              </a:rPr>
              <a:t>這三個基因表達量越高，代表腫瘤長得越快、越容易轉移</a:t>
            </a:r>
          </a:p>
        </p:txBody>
      </p:sp>
      <p:sp>
        <p:nvSpPr>
          <p:cNvPr id="7" name="矩形 6"/>
          <p:cNvSpPr/>
          <p:nvPr/>
        </p:nvSpPr>
        <p:spPr>
          <a:xfrm>
            <a:off x="1112563" y="3606400"/>
            <a:ext cx="8106081" cy="646331"/>
          </a:xfrm>
          <a:prstGeom prst="rect">
            <a:avLst/>
          </a:prstGeom>
        </p:spPr>
        <p:txBody>
          <a:bodyPr wrap="square">
            <a:spAutoFit/>
          </a:bodyPr>
          <a:lstStyle/>
          <a:p>
            <a:r>
              <a:rPr lang="zh-TW" altLang="en-US" sz="1800" dirty="0"/>
              <a:t>相反地，若我們把 </a:t>
            </a:r>
            <a:r>
              <a:rPr lang="en-US" altLang="zh-TW" sz="1800" dirty="0"/>
              <a:t>ANLN </a:t>
            </a:r>
            <a:r>
              <a:rPr lang="zh-TW" altLang="en-US" sz="1800" dirty="0"/>
              <a:t>或 </a:t>
            </a:r>
            <a:r>
              <a:rPr lang="en-US" altLang="zh-TW" sz="1800" dirty="0"/>
              <a:t>CDC20 </a:t>
            </a:r>
            <a:r>
              <a:rPr lang="zh-TW" altLang="en-US" sz="1800" dirty="0"/>
              <a:t>這類負責有絲分裂調控的基因數值拉高，就代表癌細胞處於高度增殖狀態。</a:t>
            </a:r>
          </a:p>
        </p:txBody>
      </p:sp>
      <p:pic>
        <p:nvPicPr>
          <p:cNvPr id="8" name="圖片 7"/>
          <p:cNvPicPr>
            <a:picLocks noChangeAspect="1"/>
          </p:cNvPicPr>
          <p:nvPr/>
        </p:nvPicPr>
        <p:blipFill>
          <a:blip r:embed="rId2"/>
          <a:stretch>
            <a:fillRect/>
          </a:stretch>
        </p:blipFill>
        <p:spPr>
          <a:xfrm>
            <a:off x="1839223" y="4520380"/>
            <a:ext cx="7159934" cy="1784941"/>
          </a:xfrm>
          <a:prstGeom prst="rect">
            <a:avLst/>
          </a:prstGeom>
        </p:spPr>
      </p:pic>
      <p:pic>
        <p:nvPicPr>
          <p:cNvPr id="9" name="圖片 8"/>
          <p:cNvPicPr>
            <a:picLocks noChangeAspect="1"/>
          </p:cNvPicPr>
          <p:nvPr/>
        </p:nvPicPr>
        <p:blipFill>
          <a:blip r:embed="rId3"/>
          <a:stretch>
            <a:fillRect/>
          </a:stretch>
        </p:blipFill>
        <p:spPr>
          <a:xfrm>
            <a:off x="9558108" y="2011412"/>
            <a:ext cx="1887132" cy="4293909"/>
          </a:xfrm>
          <a:prstGeom prst="rect">
            <a:avLst/>
          </a:prstGeom>
        </p:spPr>
      </p:pic>
    </p:spTree>
    <p:extLst>
      <p:ext uri="{BB962C8B-B14F-4D97-AF65-F5344CB8AC3E}">
        <p14:creationId xmlns:p14="http://schemas.microsoft.com/office/powerpoint/2010/main" val="19641729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圓角矩形 13"/>
          <p:cNvSpPr/>
          <p:nvPr/>
        </p:nvSpPr>
        <p:spPr>
          <a:xfrm>
            <a:off x="5525461" y="925422"/>
            <a:ext cx="6568751" cy="919641"/>
          </a:xfrm>
          <a:prstGeom prst="roundRect">
            <a:avLst>
              <a:gd name="adj" fmla="val 26289"/>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TW" altLang="en-US"/>
          </a:p>
        </p:txBody>
      </p:sp>
      <p:sp>
        <p:nvSpPr>
          <p:cNvPr id="4" name="矩形 3"/>
          <p:cNvSpPr/>
          <p:nvPr/>
        </p:nvSpPr>
        <p:spPr>
          <a:xfrm>
            <a:off x="1144170" y="654858"/>
            <a:ext cx="4118379" cy="1323439"/>
          </a:xfrm>
          <a:prstGeom prst="rect">
            <a:avLst/>
          </a:prstGeom>
        </p:spPr>
        <p:txBody>
          <a:bodyPr wrap="square">
            <a:spAutoFit/>
          </a:bodyPr>
          <a:lstStyle/>
          <a:p>
            <a:r>
              <a:rPr lang="zh-TW" altLang="en-US" sz="4000" b="1" dirty="0"/>
              <a:t>動態預測結果與建議區</a:t>
            </a:r>
          </a:p>
        </p:txBody>
      </p:sp>
      <p:sp>
        <p:nvSpPr>
          <p:cNvPr id="5" name="矩形 4"/>
          <p:cNvSpPr/>
          <p:nvPr/>
        </p:nvSpPr>
        <p:spPr>
          <a:xfrm>
            <a:off x="1153417" y="2258479"/>
            <a:ext cx="3877985" cy="369332"/>
          </a:xfrm>
          <a:prstGeom prst="rect">
            <a:avLst/>
          </a:prstGeom>
        </p:spPr>
        <p:txBody>
          <a:bodyPr wrap="none">
            <a:spAutoFit/>
          </a:bodyPr>
          <a:lstStyle/>
          <a:p>
            <a:r>
              <a:rPr lang="zh-TW" altLang="en-US" sz="1800" dirty="0">
                <a:solidFill>
                  <a:srgbClr val="0070C0"/>
                </a:solidFill>
              </a:rPr>
              <a:t>當模型判定為「高預後風險組」時：</a:t>
            </a:r>
          </a:p>
        </p:txBody>
      </p:sp>
      <p:sp>
        <p:nvSpPr>
          <p:cNvPr id="7" name="矩形 6"/>
          <p:cNvSpPr/>
          <p:nvPr/>
        </p:nvSpPr>
        <p:spPr>
          <a:xfrm>
            <a:off x="1144170" y="2573324"/>
            <a:ext cx="4716441" cy="2031325"/>
          </a:xfrm>
          <a:prstGeom prst="rect">
            <a:avLst/>
          </a:prstGeom>
        </p:spPr>
        <p:txBody>
          <a:bodyPr wrap="square">
            <a:spAutoFit/>
          </a:bodyPr>
          <a:lstStyle/>
          <a:p>
            <a:r>
              <a:rPr lang="zh-TW" altLang="en-US" sz="1800" dirty="0"/>
              <a:t>當我們</a:t>
            </a:r>
            <a:r>
              <a:rPr lang="zh-TW" altLang="en-US" sz="1800" dirty="0">
                <a:solidFill>
                  <a:srgbClr val="FF0000"/>
                </a:solidFill>
              </a:rPr>
              <a:t>拉高有絲分裂基因、降低 </a:t>
            </a:r>
            <a:r>
              <a:rPr lang="en-US" altLang="zh-TW" sz="1800" dirty="0">
                <a:solidFill>
                  <a:srgbClr val="FF0000"/>
                </a:solidFill>
              </a:rPr>
              <a:t>SLC34A2 </a:t>
            </a:r>
            <a:r>
              <a:rPr lang="zh-TW" altLang="en-US" sz="1800" dirty="0">
                <a:solidFill>
                  <a:srgbClr val="FF0000"/>
                </a:solidFill>
              </a:rPr>
              <a:t>時</a:t>
            </a:r>
            <a:r>
              <a:rPr lang="zh-TW" altLang="en-US" sz="1800" dirty="0"/>
              <a:t>，系統會即時觸發</a:t>
            </a:r>
            <a:r>
              <a:rPr lang="zh-TW" altLang="en-US" sz="1800" b="1" dirty="0">
                <a:solidFill>
                  <a:srgbClr val="FF0000"/>
                </a:solidFill>
              </a:rPr>
              <a:t>紅色預警</a:t>
            </a:r>
            <a:r>
              <a:rPr lang="zh-TW" altLang="en-US" sz="1800" dirty="0"/>
              <a:t>。這代表後台的隨機森林分類器計算出患者的死亡或復發概率突破了 </a:t>
            </a:r>
            <a:r>
              <a:rPr lang="en-US" altLang="zh-TW" sz="1800" dirty="0"/>
              <a:t>50% </a:t>
            </a:r>
            <a:r>
              <a:rPr lang="zh-TW" altLang="en-US" sz="1800" dirty="0"/>
              <a:t>的閾值。系統會自動給出臨床建議，提醒醫療團隊該患者增殖活性活躍，需加強術後追蹤頻率，或考慮輔助性化學治療與標靶藥物評估</a:t>
            </a:r>
          </a:p>
        </p:txBody>
      </p:sp>
      <p:pic>
        <p:nvPicPr>
          <p:cNvPr id="8" name="圖片 7"/>
          <p:cNvPicPr>
            <a:picLocks noChangeAspect="1"/>
          </p:cNvPicPr>
          <p:nvPr/>
        </p:nvPicPr>
        <p:blipFill>
          <a:blip r:embed="rId2"/>
          <a:stretch>
            <a:fillRect/>
          </a:stretch>
        </p:blipFill>
        <p:spPr>
          <a:xfrm>
            <a:off x="5998212" y="2964426"/>
            <a:ext cx="6195320" cy="1518238"/>
          </a:xfrm>
          <a:prstGeom prst="rect">
            <a:avLst/>
          </a:prstGeom>
        </p:spPr>
      </p:pic>
      <p:sp>
        <p:nvSpPr>
          <p:cNvPr id="9" name="矩形 8"/>
          <p:cNvSpPr/>
          <p:nvPr/>
        </p:nvSpPr>
        <p:spPr>
          <a:xfrm>
            <a:off x="1153417" y="4680332"/>
            <a:ext cx="3877985" cy="369332"/>
          </a:xfrm>
          <a:prstGeom prst="rect">
            <a:avLst/>
          </a:prstGeom>
        </p:spPr>
        <p:txBody>
          <a:bodyPr wrap="none">
            <a:spAutoFit/>
          </a:bodyPr>
          <a:lstStyle/>
          <a:p>
            <a:r>
              <a:rPr lang="zh-TW" altLang="en-US" sz="1800" dirty="0">
                <a:solidFill>
                  <a:srgbClr val="0070C0"/>
                </a:solidFill>
              </a:rPr>
              <a:t>當模型判定為「低預後風險組」時：</a:t>
            </a:r>
          </a:p>
        </p:txBody>
      </p:sp>
      <p:sp>
        <p:nvSpPr>
          <p:cNvPr id="10" name="矩形 9"/>
          <p:cNvSpPr/>
          <p:nvPr/>
        </p:nvSpPr>
        <p:spPr>
          <a:xfrm>
            <a:off x="1134923" y="5125347"/>
            <a:ext cx="4725688" cy="1200329"/>
          </a:xfrm>
          <a:prstGeom prst="rect">
            <a:avLst/>
          </a:prstGeom>
        </p:spPr>
        <p:txBody>
          <a:bodyPr wrap="square">
            <a:spAutoFit/>
          </a:bodyPr>
          <a:lstStyle/>
          <a:p>
            <a:r>
              <a:rPr lang="zh-TW" altLang="en-US" sz="1800" dirty="0"/>
              <a:t>反之，若</a:t>
            </a:r>
            <a:r>
              <a:rPr lang="zh-TW" altLang="en-US" sz="1800" dirty="0">
                <a:solidFill>
                  <a:srgbClr val="00B050"/>
                </a:solidFill>
              </a:rPr>
              <a:t>維持良好的 </a:t>
            </a:r>
            <a:r>
              <a:rPr lang="en-US" altLang="zh-TW" sz="1800" dirty="0">
                <a:solidFill>
                  <a:srgbClr val="00B050"/>
                </a:solidFill>
              </a:rPr>
              <a:t>SLC34A2 </a:t>
            </a:r>
            <a:r>
              <a:rPr lang="zh-TW" altLang="en-US" sz="1800" dirty="0">
                <a:solidFill>
                  <a:srgbClr val="00B050"/>
                </a:solidFill>
              </a:rPr>
              <a:t>表達</a:t>
            </a:r>
            <a:r>
              <a:rPr lang="zh-TW" altLang="en-US" sz="1800" dirty="0"/>
              <a:t>，系統則會呈現</a:t>
            </a:r>
            <a:r>
              <a:rPr lang="zh-TW" altLang="en-US" sz="1800" b="1" dirty="0">
                <a:solidFill>
                  <a:srgbClr val="00B050"/>
                </a:solidFill>
              </a:rPr>
              <a:t>綠色的安全提示</a:t>
            </a:r>
            <a:r>
              <a:rPr lang="zh-TW" altLang="en-US" sz="1800" dirty="0"/>
              <a:t>。這在臨床上與較佳的生存期相關，建議常規追蹤即可，避免病人接受不必要的過度化療、減少身體負擔。</a:t>
            </a:r>
          </a:p>
        </p:txBody>
      </p:sp>
      <p:pic>
        <p:nvPicPr>
          <p:cNvPr id="11" name="圖片 10"/>
          <p:cNvPicPr>
            <a:picLocks noChangeAspect="1"/>
          </p:cNvPicPr>
          <p:nvPr/>
        </p:nvPicPr>
        <p:blipFill>
          <a:blip r:embed="rId3"/>
          <a:stretch>
            <a:fillRect/>
          </a:stretch>
        </p:blipFill>
        <p:spPr>
          <a:xfrm>
            <a:off x="5998212" y="4763729"/>
            <a:ext cx="6193788" cy="1556295"/>
          </a:xfrm>
          <a:prstGeom prst="rect">
            <a:avLst/>
          </a:prstGeom>
        </p:spPr>
      </p:pic>
      <p:sp>
        <p:nvSpPr>
          <p:cNvPr id="12" name="矩形 11"/>
          <p:cNvSpPr/>
          <p:nvPr/>
        </p:nvSpPr>
        <p:spPr>
          <a:xfrm>
            <a:off x="5998212" y="908190"/>
            <a:ext cx="6096000" cy="954107"/>
          </a:xfrm>
          <a:prstGeom prst="rect">
            <a:avLst/>
          </a:prstGeom>
        </p:spPr>
        <p:txBody>
          <a:bodyPr>
            <a:spAutoFit/>
          </a:bodyPr>
          <a:lstStyle/>
          <a:p>
            <a:r>
              <a:rPr lang="zh-TW" altLang="en-US" dirty="0"/>
              <a:t>右側的水平條形圖是利用 </a:t>
            </a:r>
            <a:r>
              <a:rPr lang="en-US" altLang="zh-TW" dirty="0" err="1"/>
              <a:t>Matplotlib</a:t>
            </a:r>
            <a:r>
              <a:rPr lang="en-US" altLang="zh-TW" dirty="0"/>
              <a:t> </a:t>
            </a:r>
            <a:r>
              <a:rPr lang="zh-TW" altLang="en-US" dirty="0"/>
              <a:t>動態生成的。它會根據左側輸入的複合特徵，計算出精確到小數點後一位的風險百分比（</a:t>
            </a:r>
            <a:r>
              <a:rPr lang="en-US" altLang="zh-TW" dirty="0"/>
              <a:t>Risk Score</a:t>
            </a:r>
            <a:r>
              <a:rPr lang="zh-TW" altLang="en-US" dirty="0"/>
              <a:t>）。並且顏色會隨著風險程度自動切換（高風險變紅、低風險變綠），提供醫師視覺化的第一眼診斷參考</a:t>
            </a:r>
          </a:p>
        </p:txBody>
      </p:sp>
      <p:sp>
        <p:nvSpPr>
          <p:cNvPr id="13" name="文字方塊 12"/>
          <p:cNvSpPr txBox="1"/>
          <p:nvPr/>
        </p:nvSpPr>
        <p:spPr>
          <a:xfrm>
            <a:off x="5525461" y="908190"/>
            <a:ext cx="688793" cy="307777"/>
          </a:xfrm>
          <a:prstGeom prst="rect">
            <a:avLst/>
          </a:prstGeom>
          <a:noFill/>
        </p:spPr>
        <p:txBody>
          <a:bodyPr wrap="square" rtlCol="0">
            <a:spAutoFit/>
          </a:bodyPr>
          <a:lstStyle/>
          <a:p>
            <a:r>
              <a:rPr lang="zh-TW" altLang="en-US" dirty="0">
                <a:solidFill>
                  <a:srgbClr val="FF0000"/>
                </a:solidFill>
              </a:rPr>
              <a:t>重點</a:t>
            </a:r>
            <a:r>
              <a:rPr lang="en-US" altLang="zh-TW" dirty="0">
                <a:solidFill>
                  <a:srgbClr val="FF0000"/>
                </a:solidFill>
              </a:rPr>
              <a:t>:</a:t>
            </a:r>
            <a:endParaRPr lang="zh-TW" altLang="en-US" dirty="0">
              <a:solidFill>
                <a:srgbClr val="FF0000"/>
              </a:solidFill>
            </a:endParaRPr>
          </a:p>
        </p:txBody>
      </p:sp>
    </p:spTree>
    <p:extLst>
      <p:ext uri="{BB962C8B-B14F-4D97-AF65-F5344CB8AC3E}">
        <p14:creationId xmlns:p14="http://schemas.microsoft.com/office/powerpoint/2010/main" val="4240668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23919" y="1184152"/>
            <a:ext cx="5827236" cy="707886"/>
          </a:xfrm>
          <a:prstGeom prst="rect">
            <a:avLst/>
          </a:prstGeom>
        </p:spPr>
        <p:txBody>
          <a:bodyPr wrap="none">
            <a:spAutoFit/>
          </a:bodyPr>
          <a:lstStyle/>
          <a:p>
            <a:r>
              <a:rPr lang="zh-TW" altLang="en-US" sz="4000" dirty="0"/>
              <a:t>關鍵驅動基因功能對照表</a:t>
            </a:r>
          </a:p>
        </p:txBody>
      </p:sp>
      <p:sp>
        <p:nvSpPr>
          <p:cNvPr id="6" name="Rectangle 2"/>
          <p:cNvSpPr>
            <a:spLocks noChangeArrowheads="1"/>
          </p:cNvSpPr>
          <p:nvPr/>
        </p:nvSpPr>
        <p:spPr bwMode="auto">
          <a:xfrm>
            <a:off x="1023919" y="1958131"/>
            <a:ext cx="947990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800" b="0" i="0" u="none" strike="noStrike" cap="none" normalizeH="0" baseline="0" dirty="0">
                <a:ln>
                  <a:noFill/>
                </a:ln>
                <a:solidFill>
                  <a:schemeClr val="tx1"/>
                </a:solidFill>
                <a:effectLst/>
                <a:latin typeface="Arial" panose="020B0604020202020204" pitchFamily="34" charset="0"/>
              </a:rPr>
              <a:t>為了讓這套系統更具備『可解釋性 』，我在系統底部附上了這張『關鍵驅動基因功能對照表』。</a:t>
            </a: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800" b="0" i="0" u="none" strike="noStrike" cap="none" normalizeH="0" baseline="0" dirty="0">
                <a:ln>
                  <a:noFill/>
                </a:ln>
                <a:solidFill>
                  <a:schemeClr val="tx1"/>
                </a:solidFill>
                <a:effectLst/>
                <a:latin typeface="Arial" panose="020B0604020202020204" pitchFamily="34" charset="0"/>
              </a:rPr>
              <a:t>表格中的</a:t>
            </a:r>
            <a:r>
              <a:rPr kumimoji="0" lang="zh-TW" altLang="zh-TW" sz="1800" b="1" i="0" u="none" strike="noStrike" cap="none" normalizeH="0" baseline="0" dirty="0">
                <a:ln>
                  <a:noFill/>
                </a:ln>
                <a:solidFill>
                  <a:srgbClr val="FF0000"/>
                </a:solidFill>
                <a:effectLst/>
                <a:latin typeface="Arial" panose="020B0604020202020204" pitchFamily="34" charset="0"/>
              </a:rPr>
              <a:t>平均 SHAP 值</a:t>
            </a:r>
            <a:r>
              <a:rPr kumimoji="0" lang="zh-TW" altLang="zh-TW" sz="1800" b="0" i="0" u="none" strike="noStrike" cap="none" normalizeH="0" baseline="0" dirty="0">
                <a:ln>
                  <a:noFill/>
                </a:ln>
                <a:solidFill>
                  <a:schemeClr val="tx1"/>
                </a:solidFill>
                <a:effectLst/>
                <a:latin typeface="Arial" panose="020B0604020202020204" pitchFamily="34" charset="0"/>
              </a:rPr>
              <a:t>代表了該基因對模型做決策時的</a:t>
            </a:r>
            <a:r>
              <a:rPr kumimoji="0" lang="zh-TW" altLang="zh-TW" sz="1800" b="0" i="0" u="none" strike="noStrike" cap="none" normalizeH="0" baseline="0" dirty="0">
                <a:ln>
                  <a:noFill/>
                </a:ln>
                <a:solidFill>
                  <a:srgbClr val="FF0000"/>
                </a:solidFill>
                <a:effectLst/>
                <a:latin typeface="Arial" panose="020B0604020202020204" pitchFamily="34" charset="0"/>
              </a:rPr>
              <a:t>平均貢獻權重</a:t>
            </a:r>
            <a:r>
              <a:rPr kumimoji="0" lang="zh-TW" altLang="zh-TW" sz="1800" b="0" i="0" u="none" strike="noStrike" cap="none" normalizeH="0" baseline="0" dirty="0">
                <a:ln>
                  <a:noFill/>
                </a:ln>
                <a:solidFill>
                  <a:schemeClr val="tx1"/>
                </a:solidFill>
                <a:effectLst/>
                <a:latin typeface="Arial" panose="020B0604020202020204" pitchFamily="34" charset="0"/>
              </a:rPr>
              <a:t>。我們可以看到排名第一的是 </a:t>
            </a:r>
            <a:r>
              <a:rPr kumimoji="0" lang="zh-TW" altLang="zh-TW" sz="1800" b="0" i="0" u="none" strike="noStrike" cap="none" normalizeH="0" baseline="0" dirty="0">
                <a:ln>
                  <a:noFill/>
                </a:ln>
                <a:solidFill>
                  <a:schemeClr val="tx1"/>
                </a:solidFill>
                <a:effectLst/>
                <a:latin typeface="Arial Unicode MS" panose="020B0604020202020204" pitchFamily="34" charset="-120"/>
              </a:rPr>
              <a:t>SLC34A2</a:t>
            </a:r>
            <a:r>
              <a:rPr kumimoji="0" lang="zh-TW" altLang="zh-TW" sz="1800" b="0" i="0" u="none" strike="noStrike" cap="none" normalizeH="0" baseline="0" dirty="0">
                <a:ln>
                  <a:noFill/>
                </a:ln>
                <a:solidFill>
                  <a:schemeClr val="tx1"/>
                </a:solidFill>
                <a:effectLst/>
              </a:rPr>
              <a:t>（SHAP 1.248），其次是 </a:t>
            </a:r>
            <a:r>
              <a:rPr kumimoji="0" lang="zh-TW" altLang="zh-TW" sz="1800" b="0" i="0" u="none" strike="noStrike" cap="none" normalizeH="0" baseline="0" dirty="0">
                <a:ln>
                  <a:noFill/>
                </a:ln>
                <a:solidFill>
                  <a:schemeClr val="tx1"/>
                </a:solidFill>
                <a:effectLst/>
                <a:latin typeface="Arial Unicode MS" panose="020B0604020202020204" pitchFamily="34" charset="-120"/>
              </a:rPr>
              <a:t>MUC16</a:t>
            </a:r>
            <a:r>
              <a:rPr kumimoji="0" lang="zh-TW" altLang="zh-TW" sz="1800" b="0" i="0" u="none" strike="noStrike" cap="none" normalizeH="0" baseline="0" dirty="0">
                <a:ln>
                  <a:noFill/>
                </a:ln>
                <a:solidFill>
                  <a:schemeClr val="tx1"/>
                </a:solidFill>
                <a:effectLst/>
              </a:rPr>
              <a:t>（SHAP 1.102）。這張表將資工的『權重』與生物學的『功能描述』（如細胞週期調控、黏蛋白逃逸等）對齊，讓臨床醫師在使用這套 AI 工具時，不只是看一個冷冰冰的預測數字，還能知道背後堅實的分子生物學機轉依據。</a:t>
            </a:r>
            <a:endParaRPr kumimoji="0" lang="zh-TW" altLang="zh-TW" sz="1800" b="0" i="0" u="none" strike="noStrike" cap="none" normalizeH="0" baseline="0" dirty="0">
              <a:ln>
                <a:noFill/>
              </a:ln>
              <a:solidFill>
                <a:schemeClr val="tx1"/>
              </a:solidFill>
              <a:effectLst/>
              <a:latin typeface="Arial" panose="020B0604020202020204" pitchFamily="34" charset="0"/>
            </a:endParaRPr>
          </a:p>
        </p:txBody>
      </p:sp>
      <p:pic>
        <p:nvPicPr>
          <p:cNvPr id="7" name="圖片 6"/>
          <p:cNvPicPr>
            <a:picLocks noChangeAspect="1"/>
          </p:cNvPicPr>
          <p:nvPr/>
        </p:nvPicPr>
        <p:blipFill>
          <a:blip r:embed="rId2"/>
          <a:stretch>
            <a:fillRect/>
          </a:stretch>
        </p:blipFill>
        <p:spPr>
          <a:xfrm>
            <a:off x="2347372" y="4055550"/>
            <a:ext cx="7543077" cy="2358586"/>
          </a:xfrm>
          <a:prstGeom prst="rect">
            <a:avLst/>
          </a:prstGeom>
        </p:spPr>
      </p:pic>
    </p:spTree>
    <p:extLst>
      <p:ext uri="{BB962C8B-B14F-4D97-AF65-F5344CB8AC3E}">
        <p14:creationId xmlns:p14="http://schemas.microsoft.com/office/powerpoint/2010/main" val="30518710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097902" y="2432838"/>
            <a:ext cx="4920343" cy="3139321"/>
          </a:xfrm>
          <a:prstGeom prst="rect">
            <a:avLst/>
          </a:prstGeom>
        </p:spPr>
        <p:txBody>
          <a:bodyPr wrap="square">
            <a:spAutoFit/>
          </a:bodyPr>
          <a:lstStyle/>
          <a:p>
            <a:r>
              <a:rPr lang="zh-TW" altLang="en-US" sz="1800" dirty="0"/>
              <a:t>總結來說，本專題成功將 </a:t>
            </a:r>
            <a:r>
              <a:rPr lang="en-US" altLang="zh-TW" sz="1800" b="1" dirty="0">
                <a:solidFill>
                  <a:srgbClr val="FF0000"/>
                </a:solidFill>
              </a:rPr>
              <a:t>535 </a:t>
            </a:r>
            <a:r>
              <a:rPr lang="zh-TW" altLang="en-US" sz="1800" b="1" dirty="0">
                <a:solidFill>
                  <a:srgbClr val="FF0000"/>
                </a:solidFill>
              </a:rPr>
              <a:t>例大數據分析</a:t>
            </a:r>
            <a:r>
              <a:rPr lang="zh-TW" altLang="en-US" sz="1800" dirty="0">
                <a:solidFill>
                  <a:srgbClr val="FF0000"/>
                </a:solidFill>
              </a:rPr>
              <a:t>、</a:t>
            </a:r>
            <a:r>
              <a:rPr lang="zh-TW" altLang="en-US" sz="1800" b="1" dirty="0">
                <a:solidFill>
                  <a:srgbClr val="FF0000"/>
                </a:solidFill>
              </a:rPr>
              <a:t>機器學習模型</a:t>
            </a:r>
            <a:r>
              <a:rPr lang="zh-TW" altLang="en-US" sz="1800" dirty="0"/>
              <a:t>，與 </a:t>
            </a:r>
            <a:r>
              <a:rPr lang="en-US" altLang="zh-TW" sz="1800" b="1" dirty="0">
                <a:solidFill>
                  <a:srgbClr val="FF0000"/>
                </a:solidFill>
              </a:rPr>
              <a:t>Web </a:t>
            </a:r>
            <a:r>
              <a:rPr lang="zh-TW" altLang="en-US" sz="1800" b="1" dirty="0">
                <a:solidFill>
                  <a:srgbClr val="FF0000"/>
                </a:solidFill>
              </a:rPr>
              <a:t>前端交互技術</a:t>
            </a:r>
            <a:r>
              <a:rPr lang="zh-TW" altLang="en-US" sz="1800" dirty="0">
                <a:solidFill>
                  <a:srgbClr val="FF0000"/>
                </a:solidFill>
              </a:rPr>
              <a:t> </a:t>
            </a:r>
            <a:r>
              <a:rPr lang="zh-TW" altLang="en-US" sz="1800" dirty="0"/>
              <a:t>進行跨領域整合。</a:t>
            </a:r>
          </a:p>
          <a:p>
            <a:r>
              <a:rPr lang="zh-TW" altLang="en-US" sz="1800" dirty="0"/>
              <a:t>傳統上生物資訊分析完往往只停留在幾張靜態圖表（如 </a:t>
            </a:r>
            <a:r>
              <a:rPr lang="en-US" altLang="zh-TW" sz="1800" dirty="0"/>
              <a:t>PCA</a:t>
            </a:r>
            <a:r>
              <a:rPr lang="zh-TW" altLang="en-US" sz="1800" dirty="0"/>
              <a:t>、熱圖），而我這項研究的</a:t>
            </a:r>
            <a:r>
              <a:rPr lang="zh-TW" altLang="en-US" sz="1800" b="1" dirty="0">
                <a:solidFill>
                  <a:srgbClr val="FF0000"/>
                </a:solidFill>
              </a:rPr>
              <a:t>最大貢獻，就是成功將模型部署到了雲端伺服器上</a:t>
            </a:r>
            <a:r>
              <a:rPr lang="zh-TW" altLang="en-US" sz="1800" b="1" dirty="0"/>
              <a:t>，</a:t>
            </a:r>
            <a:r>
              <a:rPr lang="zh-TW" altLang="en-US" sz="1800" b="1" dirty="0">
                <a:solidFill>
                  <a:srgbClr val="FF0000"/>
                </a:solidFill>
              </a:rPr>
              <a:t>實現了醫療資訊的</a:t>
            </a:r>
            <a:r>
              <a:rPr lang="en-US" altLang="zh-TW" sz="1800" b="1" dirty="0">
                <a:solidFill>
                  <a:srgbClr val="FF0000"/>
                </a:solidFill>
              </a:rPr>
              <a:t>『</a:t>
            </a:r>
            <a:r>
              <a:rPr lang="zh-TW" altLang="en-US" sz="1800" b="1" dirty="0">
                <a:solidFill>
                  <a:srgbClr val="FF0000"/>
                </a:solidFill>
              </a:rPr>
              <a:t>臨床工具化</a:t>
            </a:r>
            <a:r>
              <a:rPr lang="en-US" altLang="zh-TW" sz="1800" b="1" dirty="0">
                <a:solidFill>
                  <a:srgbClr val="FF0000"/>
                </a:solidFill>
              </a:rPr>
              <a:t>』</a:t>
            </a:r>
            <a:r>
              <a:rPr lang="zh-TW" altLang="en-US" sz="1800" b="1" dirty="0">
                <a:solidFill>
                  <a:srgbClr val="FF0000"/>
                </a:solidFill>
              </a:rPr>
              <a:t>與</a:t>
            </a:r>
            <a:r>
              <a:rPr lang="en-US" altLang="zh-TW" sz="1800" b="1" dirty="0">
                <a:solidFill>
                  <a:srgbClr val="FF0000"/>
                </a:solidFill>
              </a:rPr>
              <a:t>『</a:t>
            </a:r>
            <a:r>
              <a:rPr lang="zh-TW" altLang="en-US" sz="1800" b="1" dirty="0">
                <a:solidFill>
                  <a:srgbClr val="FF0000"/>
                </a:solidFill>
              </a:rPr>
              <a:t>落地應用</a:t>
            </a:r>
            <a:r>
              <a:rPr lang="en-US" altLang="zh-TW" sz="1800" b="1" dirty="0">
                <a:solidFill>
                  <a:srgbClr val="FF0000"/>
                </a:solidFill>
              </a:rPr>
              <a:t>』</a:t>
            </a:r>
            <a:r>
              <a:rPr lang="zh-TW" altLang="en-US" sz="1800" dirty="0"/>
              <a:t>。</a:t>
            </a:r>
          </a:p>
          <a:p>
            <a:r>
              <a:rPr lang="zh-TW" altLang="en-US" sz="1800" dirty="0"/>
              <a:t>簡報螢幕上與海報上的 </a:t>
            </a:r>
            <a:r>
              <a:rPr lang="en-US" altLang="zh-TW" sz="1800" dirty="0"/>
              <a:t>QR Code </a:t>
            </a:r>
            <a:r>
              <a:rPr lang="zh-TW" altLang="en-US" sz="1800" dirty="0"/>
              <a:t>已經正式上線運作，歡迎大家隨時用手機掃碼，親自體驗這套預測系統。謝謝大家</a:t>
            </a:r>
          </a:p>
        </p:txBody>
      </p:sp>
      <p:pic>
        <p:nvPicPr>
          <p:cNvPr id="6" name="Google Shape;243;p20" descr="一張含有 樣式, 正方形, 像素, 設計 的圖片&#10;&#10;自動產生的描述"/>
          <p:cNvPicPr preferRelativeResize="0">
            <a:picLocks noGrp="1"/>
          </p:cNvPicPr>
          <p:nvPr>
            <p:ph type="body" idx="1"/>
          </p:nvPr>
        </p:nvPicPr>
        <p:blipFill rotWithShape="1">
          <a:blip r:embed="rId2">
            <a:alphaModFix/>
          </a:blip>
          <a:srcRect/>
          <a:stretch/>
        </p:blipFill>
        <p:spPr>
          <a:xfrm>
            <a:off x="7166250" y="2258007"/>
            <a:ext cx="3760788" cy="3657633"/>
          </a:xfrm>
          <a:prstGeom prst="rect">
            <a:avLst/>
          </a:prstGeom>
          <a:noFill/>
          <a:ln>
            <a:noFill/>
          </a:ln>
        </p:spPr>
      </p:pic>
      <p:sp>
        <p:nvSpPr>
          <p:cNvPr id="7" name="矩形 6"/>
          <p:cNvSpPr/>
          <p:nvPr/>
        </p:nvSpPr>
        <p:spPr>
          <a:xfrm>
            <a:off x="1097902" y="1166393"/>
            <a:ext cx="1210588" cy="707886"/>
          </a:xfrm>
          <a:prstGeom prst="rect">
            <a:avLst/>
          </a:prstGeom>
        </p:spPr>
        <p:txBody>
          <a:bodyPr wrap="none">
            <a:spAutoFit/>
          </a:bodyPr>
          <a:lstStyle/>
          <a:p>
            <a:r>
              <a:rPr lang="zh-TW" altLang="en-US" sz="4000" dirty="0"/>
              <a:t>結尾</a:t>
            </a:r>
          </a:p>
        </p:txBody>
      </p:sp>
      <p:sp>
        <p:nvSpPr>
          <p:cNvPr id="8" name="矩形 7"/>
          <p:cNvSpPr/>
          <p:nvPr/>
        </p:nvSpPr>
        <p:spPr>
          <a:xfrm>
            <a:off x="7368139" y="5915641"/>
            <a:ext cx="3357009" cy="307777"/>
          </a:xfrm>
          <a:prstGeom prst="rect">
            <a:avLst/>
          </a:prstGeom>
        </p:spPr>
        <p:txBody>
          <a:bodyPr wrap="none">
            <a:spAutoFit/>
          </a:bodyPr>
          <a:lstStyle/>
          <a:p>
            <a:r>
              <a:rPr lang="zh-TW" altLang="en-US" b="1" dirty="0">
                <a:solidFill>
                  <a:srgbClr val="FF0000"/>
                </a:solidFill>
                <a:latin typeface="Source Sans"/>
              </a:rPr>
              <a:t>肺腺癌 </a:t>
            </a:r>
            <a:r>
              <a:rPr lang="en-US" altLang="zh-TW" b="1" dirty="0">
                <a:solidFill>
                  <a:srgbClr val="FF0000"/>
                </a:solidFill>
                <a:latin typeface="Source Sans"/>
              </a:rPr>
              <a:t>(LUAD) </a:t>
            </a:r>
            <a:r>
              <a:rPr lang="zh-TW" altLang="en-US" b="1" dirty="0">
                <a:solidFill>
                  <a:srgbClr val="FF0000"/>
                </a:solidFill>
                <a:latin typeface="Source Sans"/>
              </a:rPr>
              <a:t>分類與關鍵基因預測系統</a:t>
            </a:r>
          </a:p>
        </p:txBody>
      </p:sp>
      <p:sp>
        <p:nvSpPr>
          <p:cNvPr id="9" name="矩形 8"/>
          <p:cNvSpPr/>
          <p:nvPr/>
        </p:nvSpPr>
        <p:spPr>
          <a:xfrm>
            <a:off x="7166249" y="2258006"/>
            <a:ext cx="3853203" cy="3657635"/>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774438760"/>
      </p:ext>
    </p:extLst>
  </p:cSld>
  <p:clrMapOvr>
    <a:masterClrMapping/>
  </p:clrMapOvr>
</p:sld>
</file>

<file path=ppt/theme/theme1.xml><?xml version="1.0" encoding="utf-8"?>
<a:theme xmlns:a="http://schemas.openxmlformats.org/drawingml/2006/main" name="1_RetrospectVTI">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TotalTime>
  <Words>2502</Words>
  <Application>Microsoft Office PowerPoint</Application>
  <PresentationFormat>寬螢幕</PresentationFormat>
  <Paragraphs>184</Paragraphs>
  <Slides>29</Slides>
  <Notes>21</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29</vt:i4>
      </vt:variant>
    </vt:vector>
  </HeadingPairs>
  <TitlesOfParts>
    <vt:vector size="38" baseType="lpstr">
      <vt:lpstr>Libre Franklin</vt:lpstr>
      <vt:lpstr>Source Sans</vt:lpstr>
      <vt:lpstr>Calibri</vt:lpstr>
      <vt:lpstr>Arial</vt:lpstr>
      <vt:lpstr>Times New Roman</vt:lpstr>
      <vt:lpstr>Arial Unicode MS</vt:lpstr>
      <vt:lpstr>MingLiu</vt:lpstr>
      <vt:lpstr>Bookman Old Style</vt:lpstr>
      <vt:lpstr>1_RetrospectVTI</vt:lpstr>
      <vt:lpstr>利用基因表達資料的機器學習分析–肺腺癌分類與關鍵基因探索</vt:lpstr>
      <vt:lpstr>PowerPoint 簡報</vt:lpstr>
      <vt:lpstr>研究背景與動機</vt:lpstr>
      <vt:lpstr>資料來源與資料集說明</vt:lpstr>
      <vt:lpstr>標籤定義（分類目標）</vt:lpstr>
      <vt:lpstr>研究方法流程</vt:lpstr>
      <vt:lpstr>資料前處理</vt:lpstr>
      <vt:lpstr>差異基因分析（DEG）</vt:lpstr>
      <vt:lpstr>PCA降維分析</vt:lpstr>
      <vt:lpstr>Heatmap（熱圖分析）</vt:lpstr>
      <vt:lpstr>Volcano Plot（火山圖）</vt:lpstr>
      <vt:lpstr>機器學習模型（Random Forest）</vt:lpstr>
      <vt:lpstr>模型評估（ROC與AUC）</vt:lpstr>
      <vt:lpstr>混淆矩陣（Confusion Matrix）</vt:lpstr>
      <vt:lpstr>SHAP模型解釋(本研究重點)</vt:lpstr>
      <vt:lpstr>關鍵基因</vt:lpstr>
      <vt:lpstr>研究發現</vt:lpstr>
      <vt:lpstr>結論</vt:lpstr>
      <vt:lpstr>未來展望</vt:lpstr>
      <vt:lpstr> 肺腺癌分類與關鍵基因預測系統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利用基因表達資料的機器學習分析–肺腺癌分類與關鍵基因探索</dc:title>
  <dc:creator>康聖 劉</dc:creator>
  <cp:lastModifiedBy>康聖 劉</cp:lastModifiedBy>
  <cp:revision>10</cp:revision>
  <dcterms:created xsi:type="dcterms:W3CDTF">2026-05-02T08:56:08Z</dcterms:created>
  <dcterms:modified xsi:type="dcterms:W3CDTF">2026-05-24T16:22:35Z</dcterms:modified>
</cp:coreProperties>
</file>