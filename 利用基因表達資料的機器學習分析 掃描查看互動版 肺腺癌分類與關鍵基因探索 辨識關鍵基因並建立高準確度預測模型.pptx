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5113000" cy="21374100"/>
  <p:notesSz cx="6858000" cy="9144000"/>
  <p:embeddedFontLst>
    <p:embeddedFont>
      <p:font typeface="Noto Sans T Chinese" panose="02020500000000000000" charset="-120"/>
      <p:regular r:id="rId4"/>
    </p:embeddedFont>
    <p:embeddedFont>
      <p:font typeface="Noto Sans T Chinese Bold" panose="02020500000000000000" charset="-120"/>
      <p:regular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Poppins" panose="00000500000000000000" pitchFamily="2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2" d="100"/>
          <a:sy n="102" d="100"/>
        </p:scale>
        <p:origin x="-1138" y="-168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F1BBEA-F7E3-40C9-9C2E-6B4F0D4F99E2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6F3FF-99F8-47DB-9F95-064982CAD7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4800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F6F3FF-99F8-47DB-9F95-064982CAD70B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3136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16354" y="3026755"/>
            <a:ext cx="3329447" cy="4839011"/>
            <a:chOff x="0" y="0"/>
            <a:chExt cx="747741" cy="10203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7741" cy="1020329"/>
            </a:xfrm>
            <a:custGeom>
              <a:avLst/>
              <a:gdLst/>
              <a:ahLst/>
              <a:cxnLst/>
              <a:rect l="l" t="t" r="r" b="b"/>
              <a:pathLst>
                <a:path w="747741" h="1020329">
                  <a:moveTo>
                    <a:pt x="55929" y="0"/>
                  </a:moveTo>
                  <a:lnTo>
                    <a:pt x="691812" y="0"/>
                  </a:lnTo>
                  <a:cubicBezTo>
                    <a:pt x="706645" y="0"/>
                    <a:pt x="720871" y="5892"/>
                    <a:pt x="731360" y="16381"/>
                  </a:cubicBezTo>
                  <a:cubicBezTo>
                    <a:pt x="741848" y="26870"/>
                    <a:pt x="747741" y="41096"/>
                    <a:pt x="747741" y="55929"/>
                  </a:cubicBezTo>
                  <a:lnTo>
                    <a:pt x="747741" y="964400"/>
                  </a:lnTo>
                  <a:cubicBezTo>
                    <a:pt x="747741" y="995289"/>
                    <a:pt x="722701" y="1020329"/>
                    <a:pt x="691812" y="1020329"/>
                  </a:cubicBezTo>
                  <a:lnTo>
                    <a:pt x="55929" y="1020329"/>
                  </a:lnTo>
                  <a:cubicBezTo>
                    <a:pt x="25040" y="1020329"/>
                    <a:pt x="0" y="995289"/>
                    <a:pt x="0" y="964400"/>
                  </a:cubicBezTo>
                  <a:lnTo>
                    <a:pt x="0" y="55929"/>
                  </a:lnTo>
                  <a:cubicBezTo>
                    <a:pt x="0" y="25040"/>
                    <a:pt x="25040" y="0"/>
                    <a:pt x="55929" y="0"/>
                  </a:cubicBezTo>
                  <a:close/>
                </a:path>
              </a:pathLst>
            </a:custGeom>
            <a:ln w="47625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47741" cy="1077479"/>
            </a:xfrm>
            <a:prstGeom prst="rect">
              <a:avLst/>
            </a:prstGeom>
          </p:spPr>
          <p:txBody>
            <a:bodyPr lIns="40760" tIns="40760" rIns="40760" bIns="4076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0" name="Group 5">
            <a:extLst>
              <a:ext uri="{FF2B5EF4-FFF2-40B4-BE49-F238E27FC236}">
                <a16:creationId xmlns:a16="http://schemas.microsoft.com/office/drawing/2014/main" id="{0BC5FE96-932A-4A72-A80C-B6E92BCF05BA}"/>
              </a:ext>
            </a:extLst>
          </p:cNvPr>
          <p:cNvGrpSpPr/>
          <p:nvPr/>
        </p:nvGrpSpPr>
        <p:grpSpPr>
          <a:xfrm>
            <a:off x="149609" y="16889110"/>
            <a:ext cx="4183490" cy="3301300"/>
            <a:chOff x="0" y="0"/>
            <a:chExt cx="747741" cy="1020329"/>
          </a:xfrm>
        </p:grpSpPr>
        <p:sp>
          <p:nvSpPr>
            <p:cNvPr id="201" name="Freeform 6">
              <a:extLst>
                <a:ext uri="{FF2B5EF4-FFF2-40B4-BE49-F238E27FC236}">
                  <a16:creationId xmlns:a16="http://schemas.microsoft.com/office/drawing/2014/main" id="{5F6308CC-2868-4EF7-85A4-95FFD27B02D1}"/>
                </a:ext>
              </a:extLst>
            </p:cNvPr>
            <p:cNvSpPr/>
            <p:nvPr/>
          </p:nvSpPr>
          <p:spPr>
            <a:xfrm>
              <a:off x="0" y="0"/>
              <a:ext cx="747741" cy="1020329"/>
            </a:xfrm>
            <a:custGeom>
              <a:avLst/>
              <a:gdLst/>
              <a:ahLst/>
              <a:cxnLst/>
              <a:rect l="l" t="t" r="r" b="b"/>
              <a:pathLst>
                <a:path w="747741" h="1020329">
                  <a:moveTo>
                    <a:pt x="55929" y="0"/>
                  </a:moveTo>
                  <a:lnTo>
                    <a:pt x="691812" y="0"/>
                  </a:lnTo>
                  <a:cubicBezTo>
                    <a:pt x="706645" y="0"/>
                    <a:pt x="720871" y="5892"/>
                    <a:pt x="731360" y="16381"/>
                  </a:cubicBezTo>
                  <a:cubicBezTo>
                    <a:pt x="741848" y="26870"/>
                    <a:pt x="747741" y="41096"/>
                    <a:pt x="747741" y="55929"/>
                  </a:cubicBezTo>
                  <a:lnTo>
                    <a:pt x="747741" y="964400"/>
                  </a:lnTo>
                  <a:cubicBezTo>
                    <a:pt x="747741" y="995289"/>
                    <a:pt x="722701" y="1020329"/>
                    <a:pt x="691812" y="1020329"/>
                  </a:cubicBezTo>
                  <a:lnTo>
                    <a:pt x="55929" y="1020329"/>
                  </a:lnTo>
                  <a:cubicBezTo>
                    <a:pt x="25040" y="1020329"/>
                    <a:pt x="0" y="995289"/>
                    <a:pt x="0" y="964400"/>
                  </a:cubicBezTo>
                  <a:lnTo>
                    <a:pt x="0" y="55929"/>
                  </a:lnTo>
                  <a:cubicBezTo>
                    <a:pt x="0" y="25040"/>
                    <a:pt x="25040" y="0"/>
                    <a:pt x="55929" y="0"/>
                  </a:cubicBezTo>
                  <a:close/>
                </a:path>
              </a:pathLst>
            </a:custGeom>
            <a:ln w="47625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id="202" name="TextBox 7">
              <a:extLst>
                <a:ext uri="{FF2B5EF4-FFF2-40B4-BE49-F238E27FC236}">
                  <a16:creationId xmlns:a16="http://schemas.microsoft.com/office/drawing/2014/main" id="{D3081422-1468-4A82-A925-32F5873A496E}"/>
                </a:ext>
              </a:extLst>
            </p:cNvPr>
            <p:cNvSpPr txBox="1"/>
            <p:nvPr/>
          </p:nvSpPr>
          <p:spPr>
            <a:xfrm>
              <a:off x="0" y="-57150"/>
              <a:ext cx="747741" cy="1077479"/>
            </a:xfrm>
            <a:prstGeom prst="rect">
              <a:avLst/>
            </a:prstGeom>
          </p:spPr>
          <p:txBody>
            <a:bodyPr lIns="40760" tIns="40760" rIns="40760" bIns="4076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6" name="Group 5">
            <a:extLst>
              <a:ext uri="{FF2B5EF4-FFF2-40B4-BE49-F238E27FC236}">
                <a16:creationId xmlns:a16="http://schemas.microsoft.com/office/drawing/2014/main" id="{DE946A18-5FB5-4647-8B24-7BF9DF5EF748}"/>
              </a:ext>
            </a:extLst>
          </p:cNvPr>
          <p:cNvGrpSpPr/>
          <p:nvPr/>
        </p:nvGrpSpPr>
        <p:grpSpPr>
          <a:xfrm>
            <a:off x="9868059" y="16832667"/>
            <a:ext cx="4968216" cy="3793904"/>
            <a:chOff x="0" y="0"/>
            <a:chExt cx="747741" cy="1020329"/>
          </a:xfrm>
        </p:grpSpPr>
        <p:sp>
          <p:nvSpPr>
            <p:cNvPr id="217" name="Freeform 6">
              <a:extLst>
                <a:ext uri="{FF2B5EF4-FFF2-40B4-BE49-F238E27FC236}">
                  <a16:creationId xmlns:a16="http://schemas.microsoft.com/office/drawing/2014/main" id="{E7914D55-9081-4DE7-A20F-D99A9DC00462}"/>
                </a:ext>
              </a:extLst>
            </p:cNvPr>
            <p:cNvSpPr/>
            <p:nvPr/>
          </p:nvSpPr>
          <p:spPr>
            <a:xfrm>
              <a:off x="0" y="0"/>
              <a:ext cx="747741" cy="1020329"/>
            </a:xfrm>
            <a:custGeom>
              <a:avLst/>
              <a:gdLst/>
              <a:ahLst/>
              <a:cxnLst/>
              <a:rect l="l" t="t" r="r" b="b"/>
              <a:pathLst>
                <a:path w="747741" h="1020329">
                  <a:moveTo>
                    <a:pt x="55929" y="0"/>
                  </a:moveTo>
                  <a:lnTo>
                    <a:pt x="691812" y="0"/>
                  </a:lnTo>
                  <a:cubicBezTo>
                    <a:pt x="706645" y="0"/>
                    <a:pt x="720871" y="5892"/>
                    <a:pt x="731360" y="16381"/>
                  </a:cubicBezTo>
                  <a:cubicBezTo>
                    <a:pt x="741848" y="26870"/>
                    <a:pt x="747741" y="41096"/>
                    <a:pt x="747741" y="55929"/>
                  </a:cubicBezTo>
                  <a:lnTo>
                    <a:pt x="747741" y="964400"/>
                  </a:lnTo>
                  <a:cubicBezTo>
                    <a:pt x="747741" y="995289"/>
                    <a:pt x="722701" y="1020329"/>
                    <a:pt x="691812" y="1020329"/>
                  </a:cubicBezTo>
                  <a:lnTo>
                    <a:pt x="55929" y="1020329"/>
                  </a:lnTo>
                  <a:cubicBezTo>
                    <a:pt x="25040" y="1020329"/>
                    <a:pt x="0" y="995289"/>
                    <a:pt x="0" y="964400"/>
                  </a:cubicBezTo>
                  <a:lnTo>
                    <a:pt x="0" y="55929"/>
                  </a:lnTo>
                  <a:cubicBezTo>
                    <a:pt x="0" y="25040"/>
                    <a:pt x="25040" y="0"/>
                    <a:pt x="55929" y="0"/>
                  </a:cubicBezTo>
                  <a:close/>
                </a:path>
              </a:pathLst>
            </a:custGeom>
            <a:ln w="47625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id="218" name="TextBox 7">
              <a:extLst>
                <a:ext uri="{FF2B5EF4-FFF2-40B4-BE49-F238E27FC236}">
                  <a16:creationId xmlns:a16="http://schemas.microsoft.com/office/drawing/2014/main" id="{4177E917-8201-4132-9C05-252A2F0B52F2}"/>
                </a:ext>
              </a:extLst>
            </p:cNvPr>
            <p:cNvSpPr txBox="1"/>
            <p:nvPr/>
          </p:nvSpPr>
          <p:spPr>
            <a:xfrm>
              <a:off x="0" y="-57150"/>
              <a:ext cx="747741" cy="1077479"/>
            </a:xfrm>
            <a:prstGeom prst="rect">
              <a:avLst/>
            </a:prstGeom>
          </p:spPr>
          <p:txBody>
            <a:bodyPr lIns="40760" tIns="40760" rIns="40760" bIns="4076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3" name="Group 5">
            <a:extLst>
              <a:ext uri="{FF2B5EF4-FFF2-40B4-BE49-F238E27FC236}">
                <a16:creationId xmlns:a16="http://schemas.microsoft.com/office/drawing/2014/main" id="{282EC96B-BB51-4C79-BB63-26C35927890B}"/>
              </a:ext>
            </a:extLst>
          </p:cNvPr>
          <p:cNvGrpSpPr/>
          <p:nvPr/>
        </p:nvGrpSpPr>
        <p:grpSpPr>
          <a:xfrm>
            <a:off x="4518694" y="16585735"/>
            <a:ext cx="5130069" cy="4401647"/>
            <a:chOff x="0" y="-57150"/>
            <a:chExt cx="747741" cy="1077479"/>
          </a:xfrm>
        </p:grpSpPr>
        <p:sp>
          <p:nvSpPr>
            <p:cNvPr id="214" name="Freeform 6">
              <a:extLst>
                <a:ext uri="{FF2B5EF4-FFF2-40B4-BE49-F238E27FC236}">
                  <a16:creationId xmlns:a16="http://schemas.microsoft.com/office/drawing/2014/main" id="{F9F1199A-A8B5-4AB0-968B-403AD9A8F2BF}"/>
                </a:ext>
              </a:extLst>
            </p:cNvPr>
            <p:cNvSpPr/>
            <p:nvPr/>
          </p:nvSpPr>
          <p:spPr>
            <a:xfrm>
              <a:off x="0" y="0"/>
              <a:ext cx="747741" cy="1020329"/>
            </a:xfrm>
            <a:custGeom>
              <a:avLst/>
              <a:gdLst/>
              <a:ahLst/>
              <a:cxnLst/>
              <a:rect l="l" t="t" r="r" b="b"/>
              <a:pathLst>
                <a:path w="747741" h="1020329">
                  <a:moveTo>
                    <a:pt x="55929" y="0"/>
                  </a:moveTo>
                  <a:lnTo>
                    <a:pt x="691812" y="0"/>
                  </a:lnTo>
                  <a:cubicBezTo>
                    <a:pt x="706645" y="0"/>
                    <a:pt x="720871" y="5892"/>
                    <a:pt x="731360" y="16381"/>
                  </a:cubicBezTo>
                  <a:cubicBezTo>
                    <a:pt x="741848" y="26870"/>
                    <a:pt x="747741" y="41096"/>
                    <a:pt x="747741" y="55929"/>
                  </a:cubicBezTo>
                  <a:lnTo>
                    <a:pt x="747741" y="964400"/>
                  </a:lnTo>
                  <a:cubicBezTo>
                    <a:pt x="747741" y="995289"/>
                    <a:pt x="722701" y="1020329"/>
                    <a:pt x="691812" y="1020329"/>
                  </a:cubicBezTo>
                  <a:lnTo>
                    <a:pt x="55929" y="1020329"/>
                  </a:lnTo>
                  <a:cubicBezTo>
                    <a:pt x="25040" y="1020329"/>
                    <a:pt x="0" y="995289"/>
                    <a:pt x="0" y="964400"/>
                  </a:cubicBezTo>
                  <a:lnTo>
                    <a:pt x="0" y="55929"/>
                  </a:lnTo>
                  <a:cubicBezTo>
                    <a:pt x="0" y="25040"/>
                    <a:pt x="25040" y="0"/>
                    <a:pt x="55929" y="0"/>
                  </a:cubicBezTo>
                  <a:close/>
                </a:path>
              </a:pathLst>
            </a:custGeom>
            <a:ln w="47625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id="215" name="TextBox 7">
              <a:extLst>
                <a:ext uri="{FF2B5EF4-FFF2-40B4-BE49-F238E27FC236}">
                  <a16:creationId xmlns:a16="http://schemas.microsoft.com/office/drawing/2014/main" id="{864F09DC-F30E-4742-9326-5669E742A525}"/>
                </a:ext>
              </a:extLst>
            </p:cNvPr>
            <p:cNvSpPr txBox="1"/>
            <p:nvPr/>
          </p:nvSpPr>
          <p:spPr>
            <a:xfrm>
              <a:off x="0" y="-57150"/>
              <a:ext cx="738336" cy="1077479"/>
            </a:xfrm>
            <a:prstGeom prst="rect">
              <a:avLst/>
            </a:prstGeom>
          </p:spPr>
          <p:txBody>
            <a:bodyPr lIns="40760" tIns="40760" rIns="40760" bIns="4076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3788" y="2315896"/>
            <a:ext cx="15112999" cy="441534"/>
            <a:chOff x="0" y="0"/>
            <a:chExt cx="2709333" cy="1200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120076"/>
            </a:xfrm>
            <a:custGeom>
              <a:avLst/>
              <a:gdLst/>
              <a:ahLst/>
              <a:cxnLst/>
              <a:rect l="l" t="t" r="r" b="b"/>
              <a:pathLst>
                <a:path w="2709333" h="120076">
                  <a:moveTo>
                    <a:pt x="0" y="0"/>
                  </a:moveTo>
                  <a:lnTo>
                    <a:pt x="2709333" y="0"/>
                  </a:lnTo>
                  <a:lnTo>
                    <a:pt x="2709333" y="120076"/>
                  </a:lnTo>
                  <a:lnTo>
                    <a:pt x="0" y="120076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09333" cy="1772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16355" y="2914482"/>
            <a:ext cx="3343675" cy="633744"/>
            <a:chOff x="0" y="0"/>
            <a:chExt cx="1405105" cy="26596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05105" cy="265966"/>
            </a:xfrm>
            <a:prstGeom prst="round2SameRect">
              <a:avLst/>
            </a:prstGeom>
            <a:solidFill>
              <a:srgbClr val="004AAD"/>
            </a:soli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405105" cy="323116"/>
            </a:xfrm>
            <a:prstGeom prst="round2SameRect">
              <a:avLst/>
            </a:prstGeom>
          </p:spPr>
          <p:txBody>
            <a:bodyPr lIns="40760" tIns="40760" rIns="40760" bIns="4076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 spc="9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1.研究背景與動機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359179" y="2722052"/>
            <a:ext cx="8536142" cy="5024076"/>
            <a:chOff x="0" y="-189347"/>
            <a:chExt cx="10130614" cy="6569466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800382" cy="6380119"/>
              <a:chOff x="0" y="0"/>
              <a:chExt cx="1119785" cy="91589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119785" cy="915899"/>
              </a:xfrm>
              <a:custGeom>
                <a:avLst/>
                <a:gdLst/>
                <a:ahLst/>
                <a:cxnLst/>
                <a:rect l="l" t="t" r="r" b="b"/>
                <a:pathLst>
                  <a:path w="1119785" h="915899">
                    <a:moveTo>
                      <a:pt x="31012" y="0"/>
                    </a:moveTo>
                    <a:lnTo>
                      <a:pt x="1088773" y="0"/>
                    </a:lnTo>
                    <a:cubicBezTo>
                      <a:pt x="1096998" y="0"/>
                      <a:pt x="1104886" y="3267"/>
                      <a:pt x="1110702" y="9083"/>
                    </a:cubicBezTo>
                    <a:cubicBezTo>
                      <a:pt x="1116518" y="14899"/>
                      <a:pt x="1119785" y="22787"/>
                      <a:pt x="1119785" y="31012"/>
                    </a:cubicBezTo>
                    <a:lnTo>
                      <a:pt x="1119785" y="884887"/>
                    </a:lnTo>
                    <a:cubicBezTo>
                      <a:pt x="1119785" y="902015"/>
                      <a:pt x="1105900" y="915899"/>
                      <a:pt x="1088773" y="915899"/>
                    </a:cubicBezTo>
                    <a:lnTo>
                      <a:pt x="31012" y="915899"/>
                    </a:lnTo>
                    <a:cubicBezTo>
                      <a:pt x="22787" y="915899"/>
                      <a:pt x="14899" y="912632"/>
                      <a:pt x="9083" y="906816"/>
                    </a:cubicBezTo>
                    <a:cubicBezTo>
                      <a:pt x="3267" y="901000"/>
                      <a:pt x="0" y="893112"/>
                      <a:pt x="0" y="884887"/>
                    </a:cubicBezTo>
                    <a:lnTo>
                      <a:pt x="0" y="31012"/>
                    </a:lnTo>
                    <a:cubicBezTo>
                      <a:pt x="0" y="13885"/>
                      <a:pt x="13885" y="0"/>
                      <a:pt x="31012" y="0"/>
                    </a:cubicBezTo>
                    <a:close/>
                  </a:path>
                </a:pathLst>
              </a:custGeom>
              <a:ln w="47625" cap="rnd">
                <a:solidFill>
                  <a:srgbClr val="20569B"/>
                </a:solidFill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57150"/>
                <a:ext cx="1119785" cy="9730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4059"/>
                  </a:lnSpc>
                  <a:spcBef>
                    <a:spcPct val="0"/>
                  </a:spcBef>
                </a:pPr>
                <a:endParaRPr dirty="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-189347"/>
              <a:ext cx="10130614" cy="1236467"/>
              <a:chOff x="0" y="-51078"/>
              <a:chExt cx="2732828" cy="333548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6307"/>
                <a:ext cx="2104226" cy="276163"/>
              </a:xfrm>
              <a:prstGeom prst="round2SameRect">
                <a:avLst/>
              </a:prstGeom>
              <a:solidFill>
                <a:srgbClr val="004AAD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28602" y="-51078"/>
                <a:ext cx="2104226" cy="333313"/>
              </a:xfrm>
              <a:prstGeom prst="round2Same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220"/>
                  </a:lnSpc>
                </a:pPr>
                <a:r>
                  <a:rPr lang="en-US" sz="2300" spc="92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3. </a:t>
                </a:r>
                <a:r>
                  <a:rPr lang="en-US" sz="2300" spc="92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研究方法流程</a:t>
                </a:r>
                <a:endParaRPr lang="en-US" sz="2300" spc="9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171201" y="7759802"/>
            <a:ext cx="12693929" cy="643783"/>
            <a:chOff x="21141" y="156127"/>
            <a:chExt cx="1445821" cy="148546"/>
          </a:xfrm>
        </p:grpSpPr>
        <p:sp>
          <p:nvSpPr>
            <p:cNvPr id="19" name="Freeform 19"/>
            <p:cNvSpPr/>
            <p:nvPr/>
          </p:nvSpPr>
          <p:spPr>
            <a:xfrm>
              <a:off x="61857" y="198874"/>
              <a:ext cx="1405105" cy="91396"/>
            </a:xfrm>
            <a:prstGeom prst="round2SameRect">
              <a:avLst/>
            </a:prstGeom>
            <a:solidFill>
              <a:srgbClr val="004AAD"/>
            </a:soli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141" y="156127"/>
              <a:ext cx="1405105" cy="148546"/>
            </a:xfrm>
            <a:prstGeom prst="round2Same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 spc="9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4.結果與視覺化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940945" y="5925749"/>
            <a:ext cx="225128" cy="194819"/>
          </a:xfrm>
          <a:custGeom>
            <a:avLst/>
            <a:gdLst/>
            <a:ahLst/>
            <a:cxnLst/>
            <a:rect l="l" t="t" r="r" b="b"/>
            <a:pathLst>
              <a:path w="225128" h="194819">
                <a:moveTo>
                  <a:pt x="0" y="0"/>
                </a:moveTo>
                <a:lnTo>
                  <a:pt x="225128" y="0"/>
                </a:lnTo>
                <a:lnTo>
                  <a:pt x="225128" y="194819"/>
                </a:lnTo>
                <a:lnTo>
                  <a:pt x="0" y="194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052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929197" y="6438419"/>
            <a:ext cx="225128" cy="212369"/>
          </a:xfrm>
          <a:custGeom>
            <a:avLst/>
            <a:gdLst/>
            <a:ahLst/>
            <a:cxnLst/>
            <a:rect l="l" t="t" r="r" b="b"/>
            <a:pathLst>
              <a:path w="225128" h="212369">
                <a:moveTo>
                  <a:pt x="0" y="0"/>
                </a:moveTo>
                <a:lnTo>
                  <a:pt x="225128" y="0"/>
                </a:lnTo>
                <a:lnTo>
                  <a:pt x="225128" y="212369"/>
                </a:lnTo>
                <a:lnTo>
                  <a:pt x="0" y="2123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82" r="-1882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941390" y="7233580"/>
            <a:ext cx="225128" cy="212369"/>
          </a:xfrm>
          <a:custGeom>
            <a:avLst/>
            <a:gdLst/>
            <a:ahLst/>
            <a:cxnLst/>
            <a:rect l="l" t="t" r="r" b="b"/>
            <a:pathLst>
              <a:path w="225128" h="212369">
                <a:moveTo>
                  <a:pt x="0" y="0"/>
                </a:moveTo>
                <a:lnTo>
                  <a:pt x="225128" y="0"/>
                </a:lnTo>
                <a:lnTo>
                  <a:pt x="225128" y="212369"/>
                </a:lnTo>
                <a:lnTo>
                  <a:pt x="0" y="2123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82" r="-1882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940945" y="6869821"/>
            <a:ext cx="225128" cy="212369"/>
          </a:xfrm>
          <a:custGeom>
            <a:avLst/>
            <a:gdLst/>
            <a:ahLst/>
            <a:cxnLst/>
            <a:rect l="l" t="t" r="r" b="b"/>
            <a:pathLst>
              <a:path w="225128" h="212369">
                <a:moveTo>
                  <a:pt x="0" y="0"/>
                </a:moveTo>
                <a:lnTo>
                  <a:pt x="225128" y="0"/>
                </a:lnTo>
                <a:lnTo>
                  <a:pt x="225128" y="212369"/>
                </a:lnTo>
                <a:lnTo>
                  <a:pt x="0" y="2123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82" r="-1882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958059" y="4213461"/>
            <a:ext cx="660676" cy="614571"/>
          </a:xfrm>
          <a:custGeom>
            <a:avLst/>
            <a:gdLst/>
            <a:ahLst/>
            <a:cxnLst/>
            <a:rect l="l" t="t" r="r" b="b"/>
            <a:pathLst>
              <a:path w="496027" h="564920">
                <a:moveTo>
                  <a:pt x="0" y="0"/>
                </a:moveTo>
                <a:lnTo>
                  <a:pt x="496028" y="0"/>
                </a:lnTo>
                <a:lnTo>
                  <a:pt x="496028" y="564921"/>
                </a:lnTo>
                <a:lnTo>
                  <a:pt x="0" y="56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9733000" y="4260165"/>
            <a:ext cx="4499825" cy="554456"/>
          </a:xfrm>
          <a:custGeom>
            <a:avLst/>
            <a:gdLst/>
            <a:ahLst/>
            <a:cxnLst/>
            <a:rect l="l" t="t" r="r" b="b"/>
            <a:pathLst>
              <a:path w="3997212" h="486034">
                <a:moveTo>
                  <a:pt x="0" y="0"/>
                </a:moveTo>
                <a:lnTo>
                  <a:pt x="3997212" y="0"/>
                </a:lnTo>
                <a:lnTo>
                  <a:pt x="3997212" y="486034"/>
                </a:lnTo>
                <a:lnTo>
                  <a:pt x="0" y="4860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852091" y="3751660"/>
            <a:ext cx="3600921" cy="1732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5"/>
              </a:lnSpc>
              <a:spcBef>
                <a:spcPct val="0"/>
              </a:spcBef>
            </a:pPr>
            <a:r>
              <a:rPr lang="en-US" sz="1100" spc="4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肺腺癌</a:t>
            </a:r>
            <a:r>
              <a:rPr lang="en-US" sz="1100" spc="4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(LUAD)</a:t>
            </a:r>
            <a:r>
              <a:rPr lang="en-US" sz="1100" spc="4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是非小細胞肺癌中最常見</a:t>
            </a:r>
            <a:endParaRPr lang="en-US" sz="1100" spc="4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715"/>
              </a:lnSpc>
              <a:spcBef>
                <a:spcPct val="0"/>
              </a:spcBef>
            </a:pPr>
            <a:r>
              <a:rPr lang="en-US" sz="1100" spc="4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的亞型</a:t>
            </a:r>
            <a:r>
              <a:rPr lang="zh-TW" altLang="en-US" sz="1100" spc="4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，</a:t>
            </a:r>
            <a:r>
              <a:rPr lang="en-US" sz="1100" spc="4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且具有高致死率</a:t>
            </a:r>
            <a:r>
              <a:rPr lang="zh-TW" altLang="en-US" sz="1100" spc="4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，</a:t>
            </a:r>
            <a:r>
              <a:rPr lang="en-US" sz="1100" spc="4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高通量基因定序</a:t>
            </a:r>
            <a:endParaRPr lang="en-US" sz="1100" spc="4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715"/>
              </a:lnSpc>
              <a:spcBef>
                <a:spcPct val="0"/>
              </a:spcBef>
            </a:pPr>
            <a:r>
              <a:rPr lang="en-US" sz="1100" spc="4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技術產生大量基因表連資料</a:t>
            </a:r>
            <a:r>
              <a:rPr lang="zh-TW" altLang="en-US" sz="1100" spc="4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，</a:t>
            </a:r>
            <a:r>
              <a:rPr lang="en-US" sz="1100" spc="4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能揭示疾病</a:t>
            </a:r>
            <a:endParaRPr lang="en-US" sz="1100" spc="4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715"/>
              </a:lnSpc>
              <a:spcBef>
                <a:spcPct val="0"/>
              </a:spcBef>
            </a:pPr>
            <a:r>
              <a:rPr lang="en-US" sz="1100" spc="4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分子機制並提供生物標誌</a:t>
            </a:r>
            <a:r>
              <a:rPr lang="en-US" sz="1100" spc="4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。</a:t>
            </a:r>
          </a:p>
          <a:p>
            <a:pPr algn="l">
              <a:lnSpc>
                <a:spcPts val="1715"/>
              </a:lnSpc>
              <a:spcBef>
                <a:spcPct val="0"/>
              </a:spcBef>
            </a:pPr>
            <a:endParaRPr lang="en-US" sz="1100" spc="4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715"/>
              </a:lnSpc>
              <a:spcBef>
                <a:spcPct val="0"/>
              </a:spcBef>
            </a:pPr>
            <a:r>
              <a:rPr lang="en-US" sz="1100" spc="4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本研究整合差異基因分析與機器學習方法</a:t>
            </a:r>
            <a:r>
              <a:rPr lang="zh-TW" altLang="en-US" sz="1100" spc="4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，</a:t>
            </a:r>
            <a:endParaRPr lang="en-US" sz="1100" spc="4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715"/>
              </a:lnSpc>
              <a:spcBef>
                <a:spcPct val="0"/>
              </a:spcBef>
            </a:pPr>
            <a:r>
              <a:rPr lang="en-US" sz="1100" spc="4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將肺腺</a:t>
            </a:r>
            <a:r>
              <a:rPr lang="zh-TW" altLang="en-US" sz="1100" spc="4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癌</a:t>
            </a:r>
            <a:r>
              <a:rPr lang="en-US" sz="1100" spc="4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病人依基因</a:t>
            </a:r>
            <a:r>
              <a:rPr lang="zh-TW" altLang="en-US" sz="1100" spc="4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表達</a:t>
            </a:r>
            <a:r>
              <a:rPr lang="en-US" sz="1100" spc="4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特徵分為高風險組</a:t>
            </a:r>
            <a:endParaRPr lang="en-US" sz="1100" spc="4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715"/>
              </a:lnSpc>
              <a:spcBef>
                <a:spcPct val="0"/>
              </a:spcBef>
            </a:pPr>
            <a:r>
              <a:rPr lang="en-US" sz="1100" spc="4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與低風險組</a:t>
            </a:r>
            <a:r>
              <a:rPr lang="zh-TW" altLang="en-US" sz="1100" spc="4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，</a:t>
            </a:r>
            <a:r>
              <a:rPr lang="en-US" sz="1100" spc="4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並建立高準確度的分類模型</a:t>
            </a:r>
            <a:r>
              <a:rPr lang="en-US" sz="1100" spc="4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8842" y="5910776"/>
            <a:ext cx="2596960" cy="1527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  <a:spcBef>
                <a:spcPct val="0"/>
              </a:spcBef>
            </a:pPr>
            <a:r>
              <a:rPr lang="en-US" sz="1100" spc="4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鑑定高、低風險組之間的差異基因</a:t>
            </a:r>
            <a:r>
              <a:rPr lang="en-US" sz="1100" spc="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(DEGs)</a:t>
            </a:r>
          </a:p>
          <a:p>
            <a:pPr algn="l">
              <a:lnSpc>
                <a:spcPts val="1485"/>
              </a:lnSpc>
              <a:spcBef>
                <a:spcPct val="0"/>
              </a:spcBef>
            </a:pPr>
            <a:endParaRPr lang="en-US" sz="1100" spc="42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485"/>
              </a:lnSpc>
              <a:spcBef>
                <a:spcPct val="0"/>
              </a:spcBef>
            </a:pPr>
            <a:r>
              <a:rPr lang="en-US" sz="1100" spc="4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利用PCA與熱</a:t>
            </a:r>
            <a:r>
              <a:rPr lang="zh-TW" altLang="en-US" sz="1100" spc="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圖揭</a:t>
            </a:r>
            <a:r>
              <a:rPr lang="en-US" sz="1100" spc="4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示樣本聚類</a:t>
            </a:r>
            <a:r>
              <a:rPr lang="zh-TW" altLang="en-US" sz="1100" spc="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構</a:t>
            </a:r>
            <a:r>
              <a:rPr lang="en-US" sz="1100" spc="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式</a:t>
            </a:r>
          </a:p>
          <a:p>
            <a:pPr algn="l">
              <a:lnSpc>
                <a:spcPts val="1485"/>
              </a:lnSpc>
              <a:spcBef>
                <a:spcPct val="0"/>
              </a:spcBef>
            </a:pPr>
            <a:endParaRPr lang="en-US" sz="1100" spc="42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485"/>
              </a:lnSpc>
              <a:spcBef>
                <a:spcPct val="0"/>
              </a:spcBef>
            </a:pPr>
            <a:r>
              <a:rPr lang="en-US" sz="1100" spc="4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建立隨機森林模型並</a:t>
            </a:r>
            <a:r>
              <a:rPr lang="zh-TW" altLang="en-US" sz="1100" spc="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達</a:t>
            </a:r>
            <a:r>
              <a:rPr lang="en-US" sz="1100" spc="4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到高預測效能</a:t>
            </a:r>
            <a:endParaRPr lang="en-US" sz="1100" spc="42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485"/>
              </a:lnSpc>
              <a:spcBef>
                <a:spcPct val="0"/>
              </a:spcBef>
            </a:pPr>
            <a:endParaRPr lang="en-US" sz="1100" spc="42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485"/>
              </a:lnSpc>
              <a:spcBef>
                <a:spcPct val="0"/>
              </a:spcBef>
            </a:pPr>
            <a:r>
              <a:rPr lang="en-US" sz="1100" spc="4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利用SHAP</a:t>
            </a:r>
            <a:r>
              <a:rPr lang="en-US" sz="1100" spc="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解</a:t>
            </a:r>
            <a:r>
              <a:rPr lang="zh-TW" altLang="en-US" sz="1100" spc="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釋</a:t>
            </a:r>
            <a:r>
              <a:rPr lang="en-US" sz="1100" spc="4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模型</a:t>
            </a:r>
            <a:r>
              <a:rPr lang="zh-TW" altLang="en-US" sz="1100" spc="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並</a:t>
            </a:r>
            <a:r>
              <a:rPr lang="en-US" sz="1100" spc="4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找出</a:t>
            </a:r>
            <a:r>
              <a:rPr lang="zh-TW" altLang="en-US" sz="1100" spc="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關</a:t>
            </a:r>
            <a:r>
              <a:rPr lang="en-US" sz="1100" spc="4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鍵基因</a:t>
            </a:r>
            <a:endParaRPr lang="en-US" sz="1100" spc="42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3212603" y="2719864"/>
            <a:ext cx="5877825" cy="5111370"/>
            <a:chOff x="0" y="-197200"/>
            <a:chExt cx="7856040" cy="6338078"/>
          </a:xfrm>
        </p:grpSpPr>
        <p:grpSp>
          <p:nvGrpSpPr>
            <p:cNvPr id="30" name="Group 30"/>
            <p:cNvGrpSpPr/>
            <p:nvPr/>
          </p:nvGrpSpPr>
          <p:grpSpPr>
            <a:xfrm>
              <a:off x="1435440" y="-197200"/>
              <a:ext cx="4848412" cy="1114932"/>
              <a:chOff x="0" y="-57150"/>
              <a:chExt cx="1405105" cy="32311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22615" y="-755"/>
                <a:ext cx="1340202" cy="263190"/>
              </a:xfrm>
              <a:prstGeom prst="round2SameRect">
                <a:avLst/>
              </a:prstGeom>
              <a:solidFill>
                <a:srgbClr val="004AAD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57150"/>
                <a:ext cx="1405105" cy="323116"/>
              </a:xfrm>
              <a:prstGeom prst="round2SameRect">
                <a:avLst/>
              </a:prstGeom>
            </p:spPr>
            <p:txBody>
              <a:bodyPr lIns="44325" tIns="44325" rIns="44325" bIns="44325" rtlCol="0" anchor="ctr"/>
              <a:lstStyle/>
              <a:p>
                <a:pPr algn="ctr">
                  <a:lnSpc>
                    <a:spcPts val="3220"/>
                  </a:lnSpc>
                </a:pPr>
                <a:r>
                  <a:rPr lang="en-US" sz="2300" spc="92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2.資料集</a:t>
                </a:r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3294959" y="4564512"/>
              <a:ext cx="1129373" cy="1012943"/>
            </a:xfrm>
            <a:custGeom>
              <a:avLst/>
              <a:gdLst/>
              <a:ahLst/>
              <a:cxnLst/>
              <a:rect l="l" t="t" r="r" b="b"/>
              <a:pathLst>
                <a:path w="1129373" h="1012943">
                  <a:moveTo>
                    <a:pt x="0" y="0"/>
                  </a:moveTo>
                  <a:lnTo>
                    <a:pt x="1129374" y="0"/>
                  </a:lnTo>
                  <a:lnTo>
                    <a:pt x="1129374" y="1012943"/>
                  </a:lnTo>
                  <a:lnTo>
                    <a:pt x="0" y="1012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1435439" y="4083254"/>
              <a:ext cx="4848412" cy="2544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spc="48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標籤</a:t>
              </a:r>
              <a:r>
                <a:rPr lang="zh-TW" altLang="en-US" sz="1200" spc="48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定義</a:t>
              </a:r>
              <a:endParaRPr lang="en-US" sz="1200" spc="4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4651816"/>
              <a:ext cx="4848412" cy="8261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spc="48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47.9%</a:t>
              </a:r>
            </a:p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spc="48" dirty="0" err="1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低風險組</a:t>
              </a:r>
              <a:endParaRPr lang="en-US" sz="1200" spc="48" dirty="0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spc="48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(n=256)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07628" y="4667342"/>
              <a:ext cx="4848412" cy="8261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spc="48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52.1%</a:t>
              </a:r>
            </a:p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spc="48" dirty="0" err="1">
                  <a:solidFill>
                    <a:srgbClr val="FF0000"/>
                  </a:solidFill>
                  <a:latin typeface="Poppins"/>
                  <a:ea typeface="Poppins"/>
                  <a:cs typeface="Poppins"/>
                  <a:sym typeface="Poppins"/>
                </a:rPr>
                <a:t>高風險組</a:t>
              </a:r>
              <a:endParaRPr lang="en-US" sz="1200" spc="48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spc="48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(n=279)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1494573" y="354"/>
              <a:ext cx="4648248" cy="6140524"/>
            </a:xfrm>
            <a:custGeom>
              <a:avLst/>
              <a:gdLst/>
              <a:ahLst/>
              <a:cxnLst/>
              <a:rect l="l" t="t" r="r" b="b"/>
              <a:pathLst>
                <a:path w="747741" h="989063">
                  <a:moveTo>
                    <a:pt x="53227" y="0"/>
                  </a:moveTo>
                  <a:lnTo>
                    <a:pt x="694514" y="0"/>
                  </a:lnTo>
                  <a:cubicBezTo>
                    <a:pt x="708631" y="0"/>
                    <a:pt x="722169" y="5608"/>
                    <a:pt x="732151" y="15590"/>
                  </a:cubicBezTo>
                  <a:cubicBezTo>
                    <a:pt x="742133" y="25572"/>
                    <a:pt x="747741" y="39110"/>
                    <a:pt x="747741" y="53227"/>
                  </a:cubicBezTo>
                  <a:lnTo>
                    <a:pt x="747741" y="935837"/>
                  </a:lnTo>
                  <a:cubicBezTo>
                    <a:pt x="747741" y="965233"/>
                    <a:pt x="723911" y="989063"/>
                    <a:pt x="694514" y="989063"/>
                  </a:cubicBezTo>
                  <a:lnTo>
                    <a:pt x="53227" y="989063"/>
                  </a:lnTo>
                  <a:cubicBezTo>
                    <a:pt x="39110" y="989063"/>
                    <a:pt x="25572" y="983455"/>
                    <a:pt x="15590" y="973474"/>
                  </a:cubicBezTo>
                  <a:cubicBezTo>
                    <a:pt x="5608" y="963492"/>
                    <a:pt x="0" y="949953"/>
                    <a:pt x="0" y="935837"/>
                  </a:cubicBezTo>
                  <a:lnTo>
                    <a:pt x="0" y="53227"/>
                  </a:lnTo>
                  <a:cubicBezTo>
                    <a:pt x="0" y="39110"/>
                    <a:pt x="5608" y="25572"/>
                    <a:pt x="15590" y="15590"/>
                  </a:cubicBezTo>
                  <a:cubicBezTo>
                    <a:pt x="25572" y="5608"/>
                    <a:pt x="39110" y="0"/>
                    <a:pt x="53227" y="0"/>
                  </a:cubicBezTo>
                  <a:close/>
                </a:path>
              </a:pathLst>
            </a:custGeom>
            <a:ln w="47625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id="40" name="Freeform 40"/>
            <p:cNvSpPr/>
            <p:nvPr/>
          </p:nvSpPr>
          <p:spPr>
            <a:xfrm>
              <a:off x="2182071" y="1172915"/>
              <a:ext cx="526094" cy="2585253"/>
            </a:xfrm>
            <a:custGeom>
              <a:avLst/>
              <a:gdLst/>
              <a:ahLst/>
              <a:cxnLst/>
              <a:rect l="l" t="t" r="r" b="b"/>
              <a:pathLst>
                <a:path w="518863" h="2714054">
                  <a:moveTo>
                    <a:pt x="0" y="0"/>
                  </a:moveTo>
                  <a:lnTo>
                    <a:pt x="518864" y="0"/>
                  </a:lnTo>
                  <a:lnTo>
                    <a:pt x="518864" y="2714054"/>
                  </a:lnTo>
                  <a:lnTo>
                    <a:pt x="0" y="2714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3007628" y="1251625"/>
              <a:ext cx="2794214" cy="27109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019"/>
                </a:lnSpc>
                <a:spcBef>
                  <a:spcPct val="0"/>
                </a:spcBef>
              </a:pPr>
              <a:r>
                <a:rPr lang="en-US" sz="1100" spc="29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資料來源</a:t>
              </a:r>
              <a:endParaRPr lang="en-US" sz="1100" spc="29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1019"/>
                </a:lnSpc>
                <a:spcBef>
                  <a:spcPct val="0"/>
                </a:spcBef>
              </a:pPr>
              <a:r>
                <a:rPr lang="en-US" sz="1100" spc="2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TCGA-LUAD</a:t>
              </a:r>
            </a:p>
            <a:p>
              <a:pPr algn="l">
                <a:lnSpc>
                  <a:spcPts val="1019"/>
                </a:lnSpc>
                <a:spcBef>
                  <a:spcPct val="0"/>
                </a:spcBef>
              </a:pPr>
              <a:r>
                <a:rPr lang="en-US" sz="1100" spc="2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(The Cancer Genome Atlas)</a:t>
              </a:r>
            </a:p>
            <a:p>
              <a:pPr algn="l">
                <a:lnSpc>
                  <a:spcPts val="1019"/>
                </a:lnSpc>
                <a:spcBef>
                  <a:spcPct val="0"/>
                </a:spcBef>
              </a:pPr>
              <a:endParaRPr lang="en-US" sz="1100" spc="2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1019"/>
                </a:lnSpc>
                <a:spcBef>
                  <a:spcPct val="0"/>
                </a:spcBef>
              </a:pPr>
              <a:r>
                <a:rPr lang="en-US" sz="1100" spc="29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資料平台</a:t>
              </a:r>
              <a:endParaRPr lang="en-US" sz="1100" spc="29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1019"/>
                </a:lnSpc>
                <a:spcBef>
                  <a:spcPct val="0"/>
                </a:spcBef>
              </a:pPr>
              <a:r>
                <a:rPr lang="en-US" sz="1100" spc="2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RNA-seq (</a:t>
              </a:r>
              <a:r>
                <a:rPr lang="en-US" sz="1100" spc="29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HTSeq</a:t>
              </a:r>
              <a:r>
                <a:rPr lang="en-US" sz="1100" spc="2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- FPKM)</a:t>
              </a:r>
            </a:p>
            <a:p>
              <a:pPr algn="l">
                <a:lnSpc>
                  <a:spcPts val="1019"/>
                </a:lnSpc>
                <a:spcBef>
                  <a:spcPct val="0"/>
                </a:spcBef>
              </a:pPr>
              <a:endParaRPr lang="en-US" sz="1100" spc="2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1019"/>
                </a:lnSpc>
                <a:spcBef>
                  <a:spcPct val="0"/>
                </a:spcBef>
              </a:pPr>
              <a:r>
                <a:rPr lang="zh-TW" altLang="en-US" sz="1100" spc="29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樣</a:t>
              </a:r>
              <a:r>
                <a:rPr lang="en-US" sz="1100" spc="29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本數</a:t>
              </a:r>
              <a:endParaRPr lang="en-US" sz="1100" spc="29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1019"/>
                </a:lnSpc>
                <a:spcBef>
                  <a:spcPct val="0"/>
                </a:spcBef>
              </a:pPr>
              <a:r>
                <a:rPr lang="en-US" sz="1100" spc="2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535 </a:t>
              </a:r>
              <a:r>
                <a:rPr lang="en-US" sz="1100" spc="29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位病人樣本</a:t>
              </a:r>
              <a:endParaRPr lang="en-US" sz="1100" spc="2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1019"/>
                </a:lnSpc>
                <a:spcBef>
                  <a:spcPct val="0"/>
                </a:spcBef>
              </a:pPr>
              <a:endParaRPr lang="en-US" sz="1100" spc="2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1019"/>
                </a:lnSpc>
                <a:spcBef>
                  <a:spcPct val="0"/>
                </a:spcBef>
              </a:pPr>
              <a:r>
                <a:rPr lang="en-US" sz="1100" spc="29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基因數</a:t>
              </a:r>
              <a:endParaRPr lang="en-US" sz="1100" spc="29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1019"/>
                </a:lnSpc>
                <a:spcBef>
                  <a:spcPct val="0"/>
                </a:spcBef>
              </a:pPr>
              <a:r>
                <a:rPr lang="en-US" sz="1100" spc="2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20,531 </a:t>
              </a:r>
              <a:r>
                <a:rPr lang="en-US" sz="1100" spc="29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個基因</a:t>
              </a:r>
              <a:endParaRPr lang="en-US" sz="1100" spc="2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1019"/>
                </a:lnSpc>
                <a:spcBef>
                  <a:spcPct val="0"/>
                </a:spcBef>
              </a:pPr>
              <a:endParaRPr lang="en-US" sz="1100" spc="2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1019"/>
                </a:lnSpc>
                <a:spcBef>
                  <a:spcPct val="0"/>
                </a:spcBef>
              </a:pPr>
              <a:r>
                <a:rPr lang="en-US" sz="1100" spc="29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標</a:t>
              </a:r>
              <a:r>
                <a:rPr lang="zh-TW" altLang="en-US" sz="1100" spc="29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籤</a:t>
              </a:r>
              <a:r>
                <a:rPr lang="en-US" sz="1100" spc="29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定義</a:t>
              </a:r>
              <a:endParaRPr lang="en-US" sz="1100" spc="29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1019"/>
                </a:lnSpc>
                <a:spcBef>
                  <a:spcPct val="0"/>
                </a:spcBef>
              </a:pPr>
              <a:r>
                <a:rPr lang="en-US" sz="1100" spc="29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高風險</a:t>
              </a:r>
              <a:r>
                <a:rPr lang="en-US" sz="1100" spc="2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100" spc="29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vs.低風險組</a:t>
              </a:r>
              <a:endParaRPr lang="en-US" sz="1100" spc="2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1019"/>
                </a:lnSpc>
                <a:spcBef>
                  <a:spcPct val="0"/>
                </a:spcBef>
              </a:pPr>
              <a:endParaRPr lang="en-US" sz="1100" spc="2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1019"/>
                </a:lnSpc>
                <a:spcBef>
                  <a:spcPct val="0"/>
                </a:spcBef>
              </a:pPr>
              <a:r>
                <a:rPr lang="en-US" sz="1100" spc="2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(</a:t>
              </a:r>
              <a:r>
                <a:rPr lang="en-US" sz="1100" spc="29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依整體存活</a:t>
              </a:r>
              <a:r>
                <a:rPr lang="zh-TW" altLang="en-US" sz="1100" spc="2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時間</a:t>
              </a:r>
              <a:r>
                <a:rPr lang="en-US" sz="1100" spc="29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中位數分組</a:t>
              </a:r>
              <a:r>
                <a:rPr lang="en-US" sz="1100" spc="2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416937" y="5700842"/>
              <a:ext cx="4848412" cy="2544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spc="48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·</a:t>
              </a:r>
              <a:r>
                <a:rPr lang="en-US" sz="1100" spc="48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分組比例相近</a:t>
              </a:r>
              <a:r>
                <a:rPr lang="zh-TW" altLang="en-US" sz="1100" spc="48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，適</a:t>
              </a:r>
              <a:r>
                <a:rPr lang="en-US" sz="1100" spc="48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合模型</a:t>
              </a:r>
              <a:r>
                <a:rPr lang="zh-TW" altLang="en-US" sz="1100" spc="48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訓練</a:t>
              </a:r>
              <a:endParaRPr lang="en-US" sz="1100" spc="4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3" name="Freeform 43"/>
          <p:cNvSpPr/>
          <p:nvPr/>
        </p:nvSpPr>
        <p:spPr>
          <a:xfrm>
            <a:off x="713267" y="66477"/>
            <a:ext cx="2569043" cy="2033645"/>
          </a:xfrm>
          <a:custGeom>
            <a:avLst/>
            <a:gdLst/>
            <a:ahLst/>
            <a:cxnLst/>
            <a:rect l="l" t="t" r="r" b="b"/>
            <a:pathLst>
              <a:path w="2376954" h="2234743">
                <a:moveTo>
                  <a:pt x="0" y="0"/>
                </a:moveTo>
                <a:lnTo>
                  <a:pt x="2376954" y="0"/>
                </a:lnTo>
                <a:lnTo>
                  <a:pt x="2376954" y="2234744"/>
                </a:lnTo>
                <a:lnTo>
                  <a:pt x="0" y="22347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339" t="-9" r="-1265" b="9"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2437810" y="-45678"/>
            <a:ext cx="10681290" cy="2189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26"/>
              </a:lnSpc>
              <a:spcBef>
                <a:spcPct val="0"/>
              </a:spcBef>
            </a:pPr>
            <a:r>
              <a:rPr lang="en-US" sz="4000" b="1" dirty="0" err="1">
                <a:solidFill>
                  <a:srgbClr val="004AAD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利用基因表達資料的機器學習分析</a:t>
            </a:r>
            <a:endParaRPr lang="en-US" sz="4000" b="1" dirty="0">
              <a:solidFill>
                <a:srgbClr val="004AAD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  <a:p>
            <a:pPr algn="ctr">
              <a:lnSpc>
                <a:spcPts val="6326"/>
              </a:lnSpc>
              <a:spcBef>
                <a:spcPct val="0"/>
              </a:spcBef>
            </a:pPr>
            <a:r>
              <a:rPr lang="en-US" sz="4000" b="1" dirty="0" err="1">
                <a:solidFill>
                  <a:srgbClr val="004AAD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肺腺癌分類與關鍵基因探索</a:t>
            </a:r>
            <a:endParaRPr lang="en-US" sz="4000" b="1" dirty="0">
              <a:solidFill>
                <a:srgbClr val="004AAD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  <a:p>
            <a:pPr algn="ctr">
              <a:lnSpc>
                <a:spcPts val="5206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辨識關鍵基因並建立高準確度預測模型</a:t>
            </a:r>
            <a:endParaRPr lang="en-US" sz="2400" b="1" dirty="0">
              <a:solidFill>
                <a:srgbClr val="000000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487272" y="2214227"/>
            <a:ext cx="12023681" cy="503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altLang="zh-TW" sz="2000" dirty="0">
                <a:solidFill>
                  <a:srgbClr val="FFFFFF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1.</a:t>
            </a:r>
            <a:r>
              <a:rPr lang="en-US" sz="2000" dirty="0">
                <a:solidFill>
                  <a:srgbClr val="FFFFFF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長榮大學生物科技學系 2A 113B11762 </a:t>
            </a:r>
            <a:r>
              <a:rPr lang="en-US" sz="2000" dirty="0" err="1">
                <a:solidFill>
                  <a:srgbClr val="FFFFFF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劉康聖</a:t>
            </a:r>
            <a:r>
              <a:rPr lang="zh-TW" altLang="en-US" sz="2000" dirty="0">
                <a:solidFill>
                  <a:srgbClr val="FFFFFF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    </a:t>
            </a:r>
            <a:r>
              <a:rPr lang="en-US" altLang="zh-TW" sz="2000" dirty="0">
                <a:solidFill>
                  <a:srgbClr val="FFFFFF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2.</a:t>
            </a:r>
            <a:r>
              <a:rPr lang="zh-TW" altLang="en-US" sz="2000" dirty="0">
                <a:solidFill>
                  <a:srgbClr val="FFFFFF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長榮大學土地管理與開發學系教授 謝舜傑</a:t>
            </a:r>
            <a:endParaRPr lang="en-US" sz="2000" dirty="0">
              <a:solidFill>
                <a:srgbClr val="FFFFFF"/>
              </a:solidFill>
              <a:latin typeface="Noto Sans T Chinese"/>
              <a:ea typeface="Noto Sans T Chinese"/>
              <a:cs typeface="Noto Sans T Chinese"/>
              <a:sym typeface="Noto Sans T Chinese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-649175" y="5635541"/>
            <a:ext cx="3527394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 spc="48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研究貢獻</a:t>
            </a:r>
            <a:endParaRPr lang="en-US" sz="1200" b="1" spc="48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8896976" y="4965471"/>
            <a:ext cx="928635" cy="34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69"/>
              </a:lnSpc>
              <a:spcBef>
                <a:spcPct val="0"/>
              </a:spcBef>
            </a:pPr>
            <a:r>
              <a:rPr lang="en-US" sz="900" spc="3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原始</a:t>
            </a:r>
            <a:r>
              <a:rPr lang="en-US" sz="9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RNA-seq</a:t>
            </a:r>
          </a:p>
          <a:p>
            <a:pPr algn="ctr">
              <a:lnSpc>
                <a:spcPts val="1369"/>
              </a:lnSpc>
              <a:spcBef>
                <a:spcPct val="0"/>
              </a:spcBef>
            </a:pPr>
            <a:r>
              <a:rPr lang="en-US" sz="900" spc="3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基因表</a:t>
            </a:r>
            <a:r>
              <a:rPr lang="zh-TW" altLang="en-US" sz="9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達</a:t>
            </a:r>
            <a:r>
              <a:rPr lang="en-US" sz="900" spc="3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矩陣</a:t>
            </a:r>
            <a:endParaRPr lang="en-US" sz="900" spc="3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7570288" y="3892827"/>
            <a:ext cx="5850286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100" spc="4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資料前處理</a:t>
            </a:r>
            <a:endParaRPr lang="en-US" sz="1100" spc="48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8738120" y="3880618"/>
            <a:ext cx="5850286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100" spc="4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差異基因分析</a:t>
            </a:r>
            <a:endParaRPr lang="en-US" sz="1100" spc="48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9914301" y="3860704"/>
            <a:ext cx="5850286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100" spc="4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模型</a:t>
            </a:r>
            <a:r>
              <a:rPr lang="zh-TW" altLang="en-US" sz="1100" spc="4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建</a:t>
            </a:r>
            <a:r>
              <a:rPr lang="en-US" sz="1100" spc="4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立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952411" y="3866393"/>
            <a:ext cx="5850286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100" spc="4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模型評估</a:t>
            </a:r>
            <a:endParaRPr lang="en-US" sz="1100" spc="48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144133" y="4949254"/>
            <a:ext cx="873062" cy="48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7"/>
              </a:lnSpc>
              <a:spcBef>
                <a:spcPct val="0"/>
              </a:spcBef>
            </a:pPr>
            <a:r>
              <a:rPr lang="en-US" sz="912" spc="3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·</a:t>
            </a:r>
            <a:r>
              <a:rPr lang="en-US" sz="900" spc="36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低表</a:t>
            </a:r>
            <a:r>
              <a:rPr lang="zh-TW" altLang="en-US" sz="900" spc="3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達</a:t>
            </a:r>
            <a:r>
              <a:rPr lang="en-US" sz="900" spc="36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基因過濾</a:t>
            </a:r>
            <a:endParaRPr lang="en-US" sz="900" spc="36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277"/>
              </a:lnSpc>
              <a:spcBef>
                <a:spcPct val="0"/>
              </a:spcBef>
            </a:pPr>
            <a:r>
              <a:rPr lang="en-US" sz="900" spc="3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·Log2(x+1)</a:t>
            </a:r>
            <a:r>
              <a:rPr lang="en-US" sz="900" spc="36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轉換</a:t>
            </a:r>
            <a:endParaRPr lang="en-US" sz="900" spc="36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277"/>
              </a:lnSpc>
              <a:spcBef>
                <a:spcPct val="0"/>
              </a:spcBef>
            </a:pPr>
            <a:r>
              <a:rPr lang="en-US" sz="900" spc="3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·</a:t>
            </a:r>
            <a:r>
              <a:rPr lang="en-US" sz="900" spc="36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正規化處理</a:t>
            </a:r>
            <a:endParaRPr lang="en-US" sz="900" spc="36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1443508" y="4965471"/>
            <a:ext cx="746719" cy="489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7"/>
              </a:lnSpc>
              <a:spcBef>
                <a:spcPct val="0"/>
              </a:spcBef>
            </a:pPr>
            <a:r>
              <a:rPr lang="en-US" sz="905" spc="3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·</a:t>
            </a:r>
            <a:r>
              <a:rPr lang="en-US" sz="900" spc="3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zh-TW" altLang="en-US" sz="900" spc="3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檢</a:t>
            </a:r>
            <a:r>
              <a:rPr lang="en-US" sz="900" spc="3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定</a:t>
            </a:r>
          </a:p>
          <a:p>
            <a:pPr algn="l">
              <a:lnSpc>
                <a:spcPts val="1267"/>
              </a:lnSpc>
              <a:spcBef>
                <a:spcPct val="0"/>
              </a:spcBef>
            </a:pPr>
            <a:r>
              <a:rPr lang="en-US" sz="900" spc="3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·</a:t>
            </a:r>
            <a:r>
              <a:rPr lang="en-US" sz="900" spc="36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調整P值</a:t>
            </a:r>
            <a:endParaRPr lang="en-US" sz="900" spc="36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267"/>
              </a:lnSpc>
              <a:spcBef>
                <a:spcPct val="0"/>
              </a:spcBef>
            </a:pPr>
            <a:r>
              <a:rPr lang="en-US" sz="900" spc="3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·</a:t>
            </a:r>
            <a:r>
              <a:rPr lang="en-US" sz="900" spc="36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選出</a:t>
            </a:r>
            <a:r>
              <a:rPr lang="zh-TW" altLang="en-US" sz="900" spc="3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顯著</a:t>
            </a:r>
            <a:r>
              <a:rPr lang="en-US" sz="900" spc="36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基因</a:t>
            </a:r>
            <a:endParaRPr lang="en-US" sz="900" spc="36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2627250" y="4935595"/>
            <a:ext cx="644249" cy="347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62"/>
              </a:lnSpc>
              <a:spcBef>
                <a:spcPct val="0"/>
              </a:spcBef>
            </a:pPr>
            <a:r>
              <a:rPr lang="zh-TW" altLang="en-US" sz="900" spc="3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隨</a:t>
            </a:r>
            <a:r>
              <a:rPr lang="en-US" sz="900" spc="3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機森林</a:t>
            </a:r>
            <a:endParaRPr lang="en-US" sz="900" spc="38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362"/>
              </a:lnSpc>
              <a:spcBef>
                <a:spcPct val="0"/>
              </a:spcBef>
            </a:pPr>
            <a:r>
              <a:rPr lang="en-US" sz="900" spc="3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分類器</a:t>
            </a:r>
            <a:endParaRPr lang="en-US" sz="900" spc="38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3639158" y="4927790"/>
            <a:ext cx="857488" cy="375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98"/>
              </a:lnSpc>
              <a:spcBef>
                <a:spcPct val="0"/>
              </a:spcBef>
            </a:pPr>
            <a:r>
              <a:rPr lang="en-US" sz="900" spc="4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效能評估與</a:t>
            </a:r>
            <a:endParaRPr lang="en-US" sz="900" spc="42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498"/>
              </a:lnSpc>
              <a:spcBef>
                <a:spcPct val="0"/>
              </a:spcBef>
            </a:pPr>
            <a:r>
              <a:rPr lang="en-US" sz="900" spc="4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結果解釋</a:t>
            </a:r>
            <a:endParaRPr lang="en-US" sz="900" spc="42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8629986" y="5676399"/>
            <a:ext cx="2096972" cy="17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2"/>
              </a:lnSpc>
              <a:spcBef>
                <a:spcPct val="0"/>
              </a:spcBef>
            </a:pPr>
            <a:r>
              <a:rPr lang="en-US" sz="1100" b="1" spc="39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分析流程</a:t>
            </a:r>
            <a:endParaRPr lang="en-US" sz="1100" b="1" spc="39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372"/>
              </a:lnSpc>
              <a:spcBef>
                <a:spcPct val="0"/>
              </a:spcBef>
            </a:pPr>
            <a:endParaRPr lang="en-US" sz="980" spc="39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372"/>
              </a:lnSpc>
              <a:spcBef>
                <a:spcPct val="0"/>
              </a:spcBef>
            </a:pPr>
            <a:r>
              <a:rPr lang="en-US" sz="11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1.資料前處理與正規化</a:t>
            </a:r>
          </a:p>
          <a:p>
            <a:pPr algn="l">
              <a:lnSpc>
                <a:spcPts val="1372"/>
              </a:lnSpc>
              <a:spcBef>
                <a:spcPct val="0"/>
              </a:spcBef>
            </a:pPr>
            <a:r>
              <a:rPr lang="en-US" sz="11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2.差</a:t>
            </a:r>
            <a:r>
              <a:rPr lang="zh-TW" altLang="en-US" sz="11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異</a:t>
            </a:r>
            <a:r>
              <a:rPr lang="en-US" sz="1100" spc="3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基因分析</a:t>
            </a:r>
            <a:r>
              <a:rPr lang="en-US" sz="11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(DEG)</a:t>
            </a:r>
          </a:p>
          <a:p>
            <a:pPr algn="l">
              <a:lnSpc>
                <a:spcPts val="1372"/>
              </a:lnSpc>
              <a:spcBef>
                <a:spcPct val="0"/>
              </a:spcBef>
            </a:pPr>
            <a:r>
              <a:rPr lang="en-US" sz="11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  <a:r>
              <a:rPr lang="zh-TW" altLang="en-US" sz="11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選</a:t>
            </a:r>
            <a:r>
              <a:rPr lang="en-US" sz="11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取前50個顯著基因</a:t>
            </a:r>
          </a:p>
          <a:p>
            <a:pPr algn="l">
              <a:lnSpc>
                <a:spcPts val="1372"/>
              </a:lnSpc>
              <a:spcBef>
                <a:spcPct val="0"/>
              </a:spcBef>
            </a:pPr>
            <a:r>
              <a:rPr lang="en-US" sz="11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4.降維分析(PCA)</a:t>
            </a:r>
          </a:p>
          <a:p>
            <a:pPr algn="l">
              <a:lnSpc>
                <a:spcPts val="1372"/>
              </a:lnSpc>
              <a:spcBef>
                <a:spcPct val="0"/>
              </a:spcBef>
            </a:pPr>
            <a:r>
              <a:rPr lang="en-US" sz="11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5.建立機器學習</a:t>
            </a:r>
            <a:r>
              <a:rPr lang="zh-TW" altLang="en-US" sz="11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模</a:t>
            </a:r>
            <a:r>
              <a:rPr lang="en-US" sz="11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型(</a:t>
            </a:r>
            <a:r>
              <a:rPr lang="en-US" sz="1100" spc="3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隨機</a:t>
            </a:r>
            <a:r>
              <a:rPr lang="zh-TW" altLang="en-US" sz="11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森</a:t>
            </a:r>
            <a:r>
              <a:rPr lang="en-US" sz="11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林)</a:t>
            </a:r>
          </a:p>
          <a:p>
            <a:pPr algn="l">
              <a:lnSpc>
                <a:spcPts val="1372"/>
              </a:lnSpc>
              <a:spcBef>
                <a:spcPct val="0"/>
              </a:spcBef>
            </a:pPr>
            <a:r>
              <a:rPr lang="en-US" sz="11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6.模型評估(</a:t>
            </a:r>
            <a:r>
              <a:rPr lang="en-US" sz="1100" spc="3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ROC、AUC、混</a:t>
            </a:r>
            <a:r>
              <a:rPr lang="zh-TW" altLang="en-US" sz="11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淆</a:t>
            </a:r>
            <a:r>
              <a:rPr lang="en-US" sz="1100" spc="3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矩陣</a:t>
            </a:r>
            <a:r>
              <a:rPr lang="en-US" sz="11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algn="l">
              <a:lnSpc>
                <a:spcPts val="1372"/>
              </a:lnSpc>
              <a:spcBef>
                <a:spcPct val="0"/>
              </a:spcBef>
            </a:pPr>
            <a:r>
              <a:rPr lang="en-US" sz="1100" spc="3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7.模型解釋(SHAP)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146149" y="5710073"/>
            <a:ext cx="2299640" cy="172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88"/>
              </a:lnSpc>
              <a:spcBef>
                <a:spcPct val="0"/>
              </a:spcBef>
            </a:pPr>
            <a:r>
              <a:rPr lang="en-US" sz="1100" b="1" spc="39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模型参數設定</a:t>
            </a:r>
            <a:r>
              <a:rPr lang="en-US" sz="1100" b="1" spc="39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1100" b="1" spc="39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最佳</a:t>
            </a:r>
            <a:r>
              <a:rPr lang="zh-TW" altLang="en-US" sz="1100" b="1" spc="39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模</a:t>
            </a:r>
            <a:r>
              <a:rPr lang="en-US" sz="1100" b="1" spc="39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型:隨機</a:t>
            </a:r>
            <a:r>
              <a:rPr lang="zh-TW" altLang="en-US" sz="1100" b="1" spc="39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森</a:t>
            </a:r>
            <a:r>
              <a:rPr lang="en-US" sz="1100" b="1" spc="39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林)</a:t>
            </a:r>
          </a:p>
        </p:txBody>
      </p:sp>
      <p:pic>
        <p:nvPicPr>
          <p:cNvPr id="66" name="圖片 65">
            <a:extLst>
              <a:ext uri="{FF2B5EF4-FFF2-40B4-BE49-F238E27FC236}">
                <a16:creationId xmlns:a16="http://schemas.microsoft.com/office/drawing/2014/main" id="{44E46C3D-DC14-47C5-BA0A-0BC6348944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6097" y="5944756"/>
            <a:ext cx="2605315" cy="1654083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B61FAA40-53ED-4954-95B5-8BBD229C68C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677" t="4490" r="18832" b="59"/>
          <a:stretch/>
        </p:blipFill>
        <p:spPr>
          <a:xfrm>
            <a:off x="671477" y="9140367"/>
            <a:ext cx="2640979" cy="2189589"/>
          </a:xfrm>
          <a:prstGeom prst="rect">
            <a:avLst/>
          </a:prstGeom>
        </p:spPr>
      </p:pic>
      <p:sp>
        <p:nvSpPr>
          <p:cNvPr id="79" name="文字方塊 78">
            <a:extLst>
              <a:ext uri="{FF2B5EF4-FFF2-40B4-BE49-F238E27FC236}">
                <a16:creationId xmlns:a16="http://schemas.microsoft.com/office/drawing/2014/main" id="{5D2A2D21-28BD-4B73-8F2C-EB8980D1D410}"/>
              </a:ext>
            </a:extLst>
          </p:cNvPr>
          <p:cNvSpPr txBox="1"/>
          <p:nvPr/>
        </p:nvSpPr>
        <p:spPr>
          <a:xfrm>
            <a:off x="503125" y="8395547"/>
            <a:ext cx="8106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tx2"/>
                </a:solidFill>
              </a:rPr>
              <a:t>4.1 PCA 降維視覺化(前兩主成分)</a:t>
            </a: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78C6F08C-D929-430E-B09F-2F57D925DDAA}"/>
              </a:ext>
            </a:extLst>
          </p:cNvPr>
          <p:cNvSpPr txBox="1"/>
          <p:nvPr/>
        </p:nvSpPr>
        <p:spPr>
          <a:xfrm>
            <a:off x="1246956" y="11316152"/>
            <a:ext cx="27815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100" dirty="0"/>
              <a:t>PC1(24.6% 變異解釋率)</a:t>
            </a: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6EF360FE-74F5-4367-B78E-2CD8764D8BA7}"/>
              </a:ext>
            </a:extLst>
          </p:cNvPr>
          <p:cNvSpPr txBox="1"/>
          <p:nvPr/>
        </p:nvSpPr>
        <p:spPr>
          <a:xfrm rot="16200000">
            <a:off x="-694136" y="9733197"/>
            <a:ext cx="24196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100" dirty="0"/>
              <a:t>PC2(13.2%變異解釋率)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93B1F3EF-0F6E-4DB3-8918-7A3D66A88890}"/>
              </a:ext>
            </a:extLst>
          </p:cNvPr>
          <p:cNvSpPr/>
          <p:nvPr/>
        </p:nvSpPr>
        <p:spPr>
          <a:xfrm>
            <a:off x="2754359" y="8889990"/>
            <a:ext cx="972067" cy="56710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49B9FDD1-9FB3-4CB5-87F1-C5978A98AA0C}"/>
              </a:ext>
            </a:extLst>
          </p:cNvPr>
          <p:cNvSpPr txBox="1"/>
          <p:nvPr/>
        </p:nvSpPr>
        <p:spPr>
          <a:xfrm>
            <a:off x="5541510" y="8402766"/>
            <a:ext cx="8106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chemeClr val="tx2"/>
                </a:solidFill>
              </a:rPr>
              <a:t>4.2</a:t>
            </a:r>
            <a:r>
              <a:rPr lang="zh-TW" altLang="en-US" b="1" dirty="0">
                <a:solidFill>
                  <a:schemeClr val="tx2"/>
                </a:solidFill>
              </a:rPr>
              <a:t>前</a:t>
            </a:r>
            <a:r>
              <a:rPr lang="en-US" altLang="zh-TW" b="1" dirty="0">
                <a:solidFill>
                  <a:schemeClr val="tx2"/>
                </a:solidFill>
              </a:rPr>
              <a:t>50</a:t>
            </a:r>
            <a:r>
              <a:rPr lang="zh-TW" altLang="en-US" b="1" dirty="0">
                <a:solidFill>
                  <a:schemeClr val="tx2"/>
                </a:solidFill>
              </a:rPr>
              <a:t>個差異基因熱圖</a:t>
            </a:r>
          </a:p>
        </p:txBody>
      </p:sp>
      <p:sp>
        <p:nvSpPr>
          <p:cNvPr id="88" name="橢圓 87">
            <a:extLst>
              <a:ext uri="{FF2B5EF4-FFF2-40B4-BE49-F238E27FC236}">
                <a16:creationId xmlns:a16="http://schemas.microsoft.com/office/drawing/2014/main" id="{78CF1123-9B40-4D68-A52B-251B124CAF88}"/>
              </a:ext>
            </a:extLst>
          </p:cNvPr>
          <p:cNvSpPr/>
          <p:nvPr/>
        </p:nvSpPr>
        <p:spPr>
          <a:xfrm>
            <a:off x="2785715" y="8979184"/>
            <a:ext cx="224568" cy="17803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C525A1AE-5FEC-4ED7-8B89-E410633873A4}"/>
              </a:ext>
            </a:extLst>
          </p:cNvPr>
          <p:cNvSpPr/>
          <p:nvPr/>
        </p:nvSpPr>
        <p:spPr>
          <a:xfrm>
            <a:off x="2793998" y="9213207"/>
            <a:ext cx="206118" cy="178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矩形: 圓角 89">
            <a:extLst>
              <a:ext uri="{FF2B5EF4-FFF2-40B4-BE49-F238E27FC236}">
                <a16:creationId xmlns:a16="http://schemas.microsoft.com/office/drawing/2014/main" id="{BCDF45B4-C880-4452-B691-0661FA28F38F}"/>
              </a:ext>
            </a:extLst>
          </p:cNvPr>
          <p:cNvSpPr/>
          <p:nvPr/>
        </p:nvSpPr>
        <p:spPr>
          <a:xfrm>
            <a:off x="347218" y="11595677"/>
            <a:ext cx="3545078" cy="89160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tx2"/>
                </a:solidFill>
              </a:rPr>
              <a:t>PCA</a:t>
            </a:r>
            <a:r>
              <a:rPr lang="zh-TW" altLang="en-US" sz="1600" b="1" dirty="0">
                <a:solidFill>
                  <a:schemeClr val="tx2"/>
                </a:solidFill>
              </a:rPr>
              <a:t>結果顧示高風險組與低風險組明顯分離，代表基因表現模式具有顯著差異</a:t>
            </a:r>
          </a:p>
        </p:txBody>
      </p:sp>
      <p:pic>
        <p:nvPicPr>
          <p:cNvPr id="97" name="圖片 96">
            <a:extLst>
              <a:ext uri="{FF2B5EF4-FFF2-40B4-BE49-F238E27FC236}">
                <a16:creationId xmlns:a16="http://schemas.microsoft.com/office/drawing/2014/main" id="{2B29F757-5CD8-443E-BC66-C50D87F9A7C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0258" y="9054539"/>
            <a:ext cx="3788931" cy="1993591"/>
          </a:xfrm>
          <a:prstGeom prst="rect">
            <a:avLst/>
          </a:prstGeom>
        </p:spPr>
      </p:pic>
      <p:sp>
        <p:nvSpPr>
          <p:cNvPr id="99" name="文字方塊 98">
            <a:extLst>
              <a:ext uri="{FF2B5EF4-FFF2-40B4-BE49-F238E27FC236}">
                <a16:creationId xmlns:a16="http://schemas.microsoft.com/office/drawing/2014/main" id="{7942342F-35BD-4636-8B20-7167263CC309}"/>
              </a:ext>
            </a:extLst>
          </p:cNvPr>
          <p:cNvSpPr txBox="1"/>
          <p:nvPr/>
        </p:nvSpPr>
        <p:spPr>
          <a:xfrm>
            <a:off x="2976365" y="8949429"/>
            <a:ext cx="11694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低風險組</a:t>
            </a:r>
            <a:endParaRPr lang="en-US" altLang="zh-TW" sz="1200" dirty="0"/>
          </a:p>
          <a:p>
            <a:r>
              <a:rPr lang="zh-TW" altLang="en-US" sz="1200" dirty="0"/>
              <a:t>高風險組</a:t>
            </a:r>
          </a:p>
        </p:txBody>
      </p:sp>
      <p:sp>
        <p:nvSpPr>
          <p:cNvPr id="100" name="矩形: 圓角化同側角落 99">
            <a:extLst>
              <a:ext uri="{FF2B5EF4-FFF2-40B4-BE49-F238E27FC236}">
                <a16:creationId xmlns:a16="http://schemas.microsoft.com/office/drawing/2014/main" id="{599BA143-9C97-4026-A502-40722262CE28}"/>
              </a:ext>
            </a:extLst>
          </p:cNvPr>
          <p:cNvSpPr/>
          <p:nvPr/>
        </p:nvSpPr>
        <p:spPr>
          <a:xfrm>
            <a:off x="5690060" y="8801017"/>
            <a:ext cx="1452983" cy="239175"/>
          </a:xfrm>
          <a:prstGeom prst="round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: 圓角化同側角落 100">
            <a:extLst>
              <a:ext uri="{FF2B5EF4-FFF2-40B4-BE49-F238E27FC236}">
                <a16:creationId xmlns:a16="http://schemas.microsoft.com/office/drawing/2014/main" id="{92B19759-8AC4-4813-8F82-AF682D7B6AB1}"/>
              </a:ext>
            </a:extLst>
          </p:cNvPr>
          <p:cNvSpPr/>
          <p:nvPr/>
        </p:nvSpPr>
        <p:spPr>
          <a:xfrm>
            <a:off x="7206358" y="8801017"/>
            <a:ext cx="1242096" cy="265153"/>
          </a:xfrm>
          <a:prstGeom prst="round2Same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84C5A041-ADB6-4FDB-A7AF-5A132CD77744}"/>
              </a:ext>
            </a:extLst>
          </p:cNvPr>
          <p:cNvSpPr txBox="1"/>
          <p:nvPr/>
        </p:nvSpPr>
        <p:spPr>
          <a:xfrm>
            <a:off x="5962869" y="8759041"/>
            <a:ext cx="11591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>
                <a:solidFill>
                  <a:schemeClr val="bg1"/>
                </a:solidFill>
              </a:rPr>
              <a:t>低風險組</a:t>
            </a:r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A6EE2CD7-D8C1-44DE-84DC-8663C133905B}"/>
              </a:ext>
            </a:extLst>
          </p:cNvPr>
          <p:cNvSpPr txBox="1"/>
          <p:nvPr/>
        </p:nvSpPr>
        <p:spPr>
          <a:xfrm>
            <a:off x="7322322" y="8764486"/>
            <a:ext cx="11858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>
                <a:solidFill>
                  <a:schemeClr val="bg1"/>
                </a:solidFill>
              </a:rPr>
              <a:t>高風險組</a:t>
            </a:r>
          </a:p>
        </p:txBody>
      </p:sp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1EAAC607-709F-4A19-B046-140AFF6B38EE}"/>
              </a:ext>
            </a:extLst>
          </p:cNvPr>
          <p:cNvSpPr/>
          <p:nvPr/>
        </p:nvSpPr>
        <p:spPr>
          <a:xfrm>
            <a:off x="4886534" y="10986267"/>
            <a:ext cx="4224689" cy="85371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b="1" dirty="0">
                <a:solidFill>
                  <a:schemeClr val="tx2"/>
                </a:solidFill>
              </a:rPr>
              <a:t>熱圖顯示前</a:t>
            </a:r>
            <a:r>
              <a:rPr lang="en-US" altLang="zh-TW" sz="1600" b="1" dirty="0">
                <a:solidFill>
                  <a:schemeClr val="tx2"/>
                </a:solidFill>
              </a:rPr>
              <a:t>50</a:t>
            </a:r>
            <a:r>
              <a:rPr lang="zh-TW" altLang="en-US" sz="1600" b="1" dirty="0">
                <a:solidFill>
                  <a:schemeClr val="tx2"/>
                </a:solidFill>
              </a:rPr>
              <a:t>個差異基因在不同樣本之間的表現變化，紅色代表高表達，藍色</a:t>
            </a:r>
            <a:endParaRPr lang="en-US" altLang="zh-TW" sz="1600" b="1" dirty="0">
              <a:solidFill>
                <a:schemeClr val="tx2"/>
              </a:solidFill>
            </a:endParaRPr>
          </a:p>
          <a:p>
            <a:r>
              <a:rPr lang="zh-TW" altLang="en-US" sz="1600" b="1" dirty="0">
                <a:solidFill>
                  <a:schemeClr val="tx2"/>
                </a:solidFill>
              </a:rPr>
              <a:t>代表低表達</a:t>
            </a:r>
          </a:p>
        </p:txBody>
      </p: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BD6C80D6-C2FF-4D57-81B7-A805C411A2A7}"/>
              </a:ext>
            </a:extLst>
          </p:cNvPr>
          <p:cNvSpPr txBox="1"/>
          <p:nvPr/>
        </p:nvSpPr>
        <p:spPr>
          <a:xfrm>
            <a:off x="10780323" y="8431685"/>
            <a:ext cx="2938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tx2"/>
                </a:solidFill>
              </a:rPr>
              <a:t>4.3火山圖(差異基因分析)</a:t>
            </a:r>
          </a:p>
        </p:txBody>
      </p:sp>
      <p:pic>
        <p:nvPicPr>
          <p:cNvPr id="111" name="圖片 110">
            <a:extLst>
              <a:ext uri="{FF2B5EF4-FFF2-40B4-BE49-F238E27FC236}">
                <a16:creationId xmlns:a16="http://schemas.microsoft.com/office/drawing/2014/main" id="{1B8BBAB1-A617-4BE5-9FEB-630A05F790D7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7274"/>
          <a:stretch/>
        </p:blipFill>
        <p:spPr>
          <a:xfrm>
            <a:off x="9973907" y="8974119"/>
            <a:ext cx="3952285" cy="2489435"/>
          </a:xfrm>
          <a:prstGeom prst="rect">
            <a:avLst/>
          </a:prstGeom>
        </p:spPr>
      </p:pic>
      <p:sp>
        <p:nvSpPr>
          <p:cNvPr id="112" name="矩形 111">
            <a:extLst>
              <a:ext uri="{FF2B5EF4-FFF2-40B4-BE49-F238E27FC236}">
                <a16:creationId xmlns:a16="http://schemas.microsoft.com/office/drawing/2014/main" id="{82B28975-9B94-482F-8E30-11C3A09958F8}"/>
              </a:ext>
            </a:extLst>
          </p:cNvPr>
          <p:cNvSpPr/>
          <p:nvPr/>
        </p:nvSpPr>
        <p:spPr>
          <a:xfrm>
            <a:off x="13648445" y="9355919"/>
            <a:ext cx="1105127" cy="69946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09EC652F-931E-4998-AD09-9E59C8CED1A7}"/>
              </a:ext>
            </a:extLst>
          </p:cNvPr>
          <p:cNvSpPr txBox="1"/>
          <p:nvPr/>
        </p:nvSpPr>
        <p:spPr>
          <a:xfrm>
            <a:off x="13837639" y="9394462"/>
            <a:ext cx="10556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下調(1218)</a:t>
            </a:r>
            <a:endParaRPr lang="en-US" altLang="zh-TW" sz="1200" dirty="0"/>
          </a:p>
          <a:p>
            <a:r>
              <a:rPr lang="zh-TW" altLang="en-US" sz="1200" dirty="0"/>
              <a:t>不顯著</a:t>
            </a:r>
            <a:endParaRPr lang="en-US" altLang="zh-TW" sz="1200" dirty="0"/>
          </a:p>
          <a:p>
            <a:r>
              <a:rPr lang="zh-TW" altLang="en-US" sz="1200" dirty="0"/>
              <a:t>上調(1437)</a:t>
            </a:r>
          </a:p>
        </p:txBody>
      </p:sp>
      <p:sp>
        <p:nvSpPr>
          <p:cNvPr id="115" name="橢圓 114">
            <a:extLst>
              <a:ext uri="{FF2B5EF4-FFF2-40B4-BE49-F238E27FC236}">
                <a16:creationId xmlns:a16="http://schemas.microsoft.com/office/drawing/2014/main" id="{F86B8CCC-6AFF-4657-B903-8BD210BC9244}"/>
              </a:ext>
            </a:extLst>
          </p:cNvPr>
          <p:cNvSpPr/>
          <p:nvPr/>
        </p:nvSpPr>
        <p:spPr>
          <a:xfrm>
            <a:off x="13736871" y="9447447"/>
            <a:ext cx="131699" cy="1206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CD6DD133-29C1-4AA7-B8DE-8920BF319602}"/>
              </a:ext>
            </a:extLst>
          </p:cNvPr>
          <p:cNvSpPr/>
          <p:nvPr/>
        </p:nvSpPr>
        <p:spPr>
          <a:xfrm>
            <a:off x="13733498" y="9659595"/>
            <a:ext cx="138446" cy="1216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55C9BFFC-E23F-4249-9A52-6BF0FD1C9228}"/>
              </a:ext>
            </a:extLst>
          </p:cNvPr>
          <p:cNvSpPr/>
          <p:nvPr/>
        </p:nvSpPr>
        <p:spPr>
          <a:xfrm>
            <a:off x="13733498" y="9845668"/>
            <a:ext cx="138446" cy="14915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BB0CE2D3-7136-483D-97E3-3F5290D2EEF4}"/>
              </a:ext>
            </a:extLst>
          </p:cNvPr>
          <p:cNvSpPr txBox="1"/>
          <p:nvPr/>
        </p:nvSpPr>
        <p:spPr>
          <a:xfrm rot="16200000">
            <a:off x="8886654" y="9815937"/>
            <a:ext cx="20004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-Log10(調整後</a:t>
            </a:r>
            <a:r>
              <a:rPr lang="en-US" altLang="zh-TW" sz="1200" dirty="0"/>
              <a:t>P</a:t>
            </a:r>
            <a:r>
              <a:rPr lang="zh-TW" altLang="en-US" sz="1200" dirty="0"/>
              <a:t>值)</a:t>
            </a:r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3C2EB44B-29DB-4B62-905D-33C0FA212525}"/>
              </a:ext>
            </a:extLst>
          </p:cNvPr>
          <p:cNvSpPr txBox="1"/>
          <p:nvPr/>
        </p:nvSpPr>
        <p:spPr>
          <a:xfrm>
            <a:off x="11484683" y="11407187"/>
            <a:ext cx="22342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Log2 Fold Change</a:t>
            </a:r>
          </a:p>
        </p:txBody>
      </p:sp>
      <p:sp>
        <p:nvSpPr>
          <p:cNvPr id="126" name="矩形: 圓角 125">
            <a:extLst>
              <a:ext uri="{FF2B5EF4-FFF2-40B4-BE49-F238E27FC236}">
                <a16:creationId xmlns:a16="http://schemas.microsoft.com/office/drawing/2014/main" id="{A4752A1B-F455-4926-BACE-D3B9FDD13622}"/>
              </a:ext>
            </a:extLst>
          </p:cNvPr>
          <p:cNvSpPr/>
          <p:nvPr/>
        </p:nvSpPr>
        <p:spPr>
          <a:xfrm>
            <a:off x="9779416" y="11740541"/>
            <a:ext cx="4966414" cy="565367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b="1" dirty="0">
                <a:solidFill>
                  <a:schemeClr val="tx2"/>
                </a:solidFill>
              </a:rPr>
              <a:t>火山圖顯示顯著上調</a:t>
            </a:r>
            <a:r>
              <a:rPr lang="en-US" altLang="zh-TW" sz="1600" b="1" dirty="0">
                <a:solidFill>
                  <a:schemeClr val="tx2"/>
                </a:solidFill>
              </a:rPr>
              <a:t>(</a:t>
            </a:r>
            <a:r>
              <a:rPr lang="zh-TW" altLang="en-US" sz="1600" b="1" dirty="0">
                <a:solidFill>
                  <a:schemeClr val="tx2"/>
                </a:solidFill>
              </a:rPr>
              <a:t>紅</a:t>
            </a:r>
            <a:r>
              <a:rPr lang="en-US" altLang="zh-TW" sz="1600" b="1" dirty="0">
                <a:solidFill>
                  <a:schemeClr val="tx2"/>
                </a:solidFill>
              </a:rPr>
              <a:t>)</a:t>
            </a:r>
            <a:r>
              <a:rPr lang="zh-TW" altLang="en-US" sz="1600" b="1" dirty="0">
                <a:solidFill>
                  <a:schemeClr val="tx2"/>
                </a:solidFill>
              </a:rPr>
              <a:t>與下調</a:t>
            </a:r>
            <a:r>
              <a:rPr lang="en-US" altLang="zh-TW" sz="1600" b="1" dirty="0">
                <a:solidFill>
                  <a:schemeClr val="tx2"/>
                </a:solidFill>
              </a:rPr>
              <a:t>(</a:t>
            </a:r>
            <a:r>
              <a:rPr lang="zh-TW" altLang="en-US" sz="1600" b="1" dirty="0">
                <a:solidFill>
                  <a:schemeClr val="tx2"/>
                </a:solidFill>
              </a:rPr>
              <a:t>藍</a:t>
            </a:r>
            <a:r>
              <a:rPr lang="en-US" altLang="zh-TW" sz="1600" b="1" dirty="0">
                <a:solidFill>
                  <a:schemeClr val="tx2"/>
                </a:solidFill>
              </a:rPr>
              <a:t>)</a:t>
            </a:r>
            <a:r>
              <a:rPr lang="zh-TW" altLang="en-US" sz="1600" b="1" dirty="0">
                <a:solidFill>
                  <a:schemeClr val="tx2"/>
                </a:solidFill>
              </a:rPr>
              <a:t>的基因以 </a:t>
            </a:r>
            <a:r>
              <a:rPr lang="en-US" altLang="zh-TW" sz="1600" b="1" dirty="0">
                <a:solidFill>
                  <a:schemeClr val="tx2"/>
                </a:solidFill>
              </a:rPr>
              <a:t>Jlog2FC|&gt;1 </a:t>
            </a:r>
            <a:r>
              <a:rPr lang="zh-TW" altLang="en-US" sz="1600" b="1" dirty="0">
                <a:solidFill>
                  <a:schemeClr val="tx2"/>
                </a:solidFill>
              </a:rPr>
              <a:t>且調整後 </a:t>
            </a:r>
            <a:r>
              <a:rPr lang="en-US" altLang="zh-TW" sz="1600" b="1" dirty="0">
                <a:solidFill>
                  <a:schemeClr val="tx2"/>
                </a:solidFill>
              </a:rPr>
              <a:t>p-value&lt;0.05 </a:t>
            </a:r>
            <a:r>
              <a:rPr lang="zh-TW" altLang="en-US" sz="1600" b="1" dirty="0">
                <a:solidFill>
                  <a:schemeClr val="tx2"/>
                </a:solidFill>
              </a:rPr>
              <a:t>為篩選標準</a:t>
            </a:r>
          </a:p>
        </p:txBody>
      </p: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58222E3E-3D85-4120-85D2-B033141F6DD3}"/>
              </a:ext>
            </a:extLst>
          </p:cNvPr>
          <p:cNvSpPr txBox="1"/>
          <p:nvPr/>
        </p:nvSpPr>
        <p:spPr>
          <a:xfrm>
            <a:off x="1314852" y="12698078"/>
            <a:ext cx="1439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tx2"/>
                </a:solidFill>
              </a:rPr>
              <a:t>4.4 ROC 曲線</a:t>
            </a:r>
          </a:p>
        </p:txBody>
      </p:sp>
      <p:pic>
        <p:nvPicPr>
          <p:cNvPr id="132" name="圖片 131">
            <a:extLst>
              <a:ext uri="{FF2B5EF4-FFF2-40B4-BE49-F238E27FC236}">
                <a16:creationId xmlns:a16="http://schemas.microsoft.com/office/drawing/2014/main" id="{BCC156BC-3816-4444-A95A-5CCD1708173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186" y="13079491"/>
            <a:ext cx="2677268" cy="2149727"/>
          </a:xfrm>
          <a:prstGeom prst="rect">
            <a:avLst/>
          </a:prstGeom>
        </p:spPr>
      </p:pic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B5538C7A-7B54-43CD-802B-628C7EED4538}"/>
              </a:ext>
            </a:extLst>
          </p:cNvPr>
          <p:cNvSpPr txBox="1"/>
          <p:nvPr/>
        </p:nvSpPr>
        <p:spPr>
          <a:xfrm>
            <a:off x="1642931" y="15198674"/>
            <a:ext cx="11459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/>
              <a:t>1-特異度</a:t>
            </a:r>
          </a:p>
        </p:txBody>
      </p:sp>
      <p:sp>
        <p:nvSpPr>
          <p:cNvPr id="135" name="矩形: 圓角 134">
            <a:extLst>
              <a:ext uri="{FF2B5EF4-FFF2-40B4-BE49-F238E27FC236}">
                <a16:creationId xmlns:a16="http://schemas.microsoft.com/office/drawing/2014/main" id="{17F60DAC-DC1B-4217-A490-6CF810266682}"/>
              </a:ext>
            </a:extLst>
          </p:cNvPr>
          <p:cNvSpPr/>
          <p:nvPr/>
        </p:nvSpPr>
        <p:spPr>
          <a:xfrm>
            <a:off x="673819" y="15561009"/>
            <a:ext cx="2689400" cy="55780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b="1" dirty="0">
                <a:solidFill>
                  <a:schemeClr val="tx2"/>
                </a:solidFill>
              </a:rPr>
              <a:t>模型具有優異的區分能力，</a:t>
            </a:r>
            <a:r>
              <a:rPr lang="en-US" altLang="zh-TW" sz="1600" b="1" dirty="0">
                <a:solidFill>
                  <a:schemeClr val="tx2"/>
                </a:solidFill>
              </a:rPr>
              <a:t>AUC</a:t>
            </a:r>
            <a:r>
              <a:rPr lang="zh-TW" altLang="en-US" sz="1600" b="1" dirty="0">
                <a:solidFill>
                  <a:schemeClr val="tx2"/>
                </a:solidFill>
              </a:rPr>
              <a:t>達</a:t>
            </a:r>
            <a:r>
              <a:rPr lang="en-US" altLang="zh-TW" sz="1600" b="1" dirty="0">
                <a:solidFill>
                  <a:schemeClr val="tx2"/>
                </a:solidFill>
              </a:rPr>
              <a:t>0.942</a:t>
            </a:r>
            <a:endParaRPr lang="zh-TW" altLang="en-US" sz="1600" dirty="0"/>
          </a:p>
        </p:txBody>
      </p:sp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CA23E5D3-8C6F-4CD1-98A8-D48D1F09FDF0}"/>
              </a:ext>
            </a:extLst>
          </p:cNvPr>
          <p:cNvSpPr txBox="1"/>
          <p:nvPr/>
        </p:nvSpPr>
        <p:spPr>
          <a:xfrm>
            <a:off x="4464056" y="12066386"/>
            <a:ext cx="3433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tx2"/>
                </a:solidFill>
              </a:rPr>
              <a:t>4.5混淆矩陣(測試集)與效能指標</a:t>
            </a:r>
          </a:p>
        </p:txBody>
      </p:sp>
      <p:graphicFrame>
        <p:nvGraphicFramePr>
          <p:cNvPr id="140" name="表格 140">
            <a:extLst>
              <a:ext uri="{FF2B5EF4-FFF2-40B4-BE49-F238E27FC236}">
                <a16:creationId xmlns:a16="http://schemas.microsoft.com/office/drawing/2014/main" id="{1A36AEDC-4BE6-4004-AE93-8584E4CFD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681761"/>
              </p:ext>
            </p:extLst>
          </p:nvPr>
        </p:nvGraphicFramePr>
        <p:xfrm>
          <a:off x="5716491" y="13302801"/>
          <a:ext cx="2191906" cy="95149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95953">
                  <a:extLst>
                    <a:ext uri="{9D8B030D-6E8A-4147-A177-3AD203B41FA5}">
                      <a16:colId xmlns:a16="http://schemas.microsoft.com/office/drawing/2014/main" val="2464101126"/>
                    </a:ext>
                  </a:extLst>
                </a:gridCol>
                <a:gridCol w="1095953">
                  <a:extLst>
                    <a:ext uri="{9D8B030D-6E8A-4147-A177-3AD203B41FA5}">
                      <a16:colId xmlns:a16="http://schemas.microsoft.com/office/drawing/2014/main" val="3635899520"/>
                    </a:ext>
                  </a:extLst>
                </a:gridCol>
              </a:tblGrid>
              <a:tr h="509844">
                <a:tc>
                  <a:txBody>
                    <a:bodyPr/>
                    <a:lstStyle/>
                    <a:p>
                      <a:r>
                        <a:rPr lang="en-US" altLang="zh-TW" dirty="0"/>
                        <a:t>50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933413"/>
                  </a:ext>
                </a:extLst>
              </a:tr>
              <a:tr h="441652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64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709011"/>
                  </a:ext>
                </a:extLst>
              </a:tr>
            </a:tbl>
          </a:graphicData>
        </a:graphic>
      </p:graphicFrame>
      <p:sp>
        <p:nvSpPr>
          <p:cNvPr id="141" name="矩形 140">
            <a:extLst>
              <a:ext uri="{FF2B5EF4-FFF2-40B4-BE49-F238E27FC236}">
                <a16:creationId xmlns:a16="http://schemas.microsoft.com/office/drawing/2014/main" id="{711F200C-4F54-4C17-8530-2E3BA5603581}"/>
              </a:ext>
            </a:extLst>
          </p:cNvPr>
          <p:cNvSpPr/>
          <p:nvPr/>
        </p:nvSpPr>
        <p:spPr>
          <a:xfrm>
            <a:off x="5677159" y="12979858"/>
            <a:ext cx="1112302" cy="33316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2"/>
                </a:solidFill>
              </a:rPr>
              <a:t>低風險組</a:t>
            </a: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884530CB-592F-4B3C-92BB-4FF343499DC6}"/>
              </a:ext>
            </a:extLst>
          </p:cNvPr>
          <p:cNvSpPr/>
          <p:nvPr/>
        </p:nvSpPr>
        <p:spPr>
          <a:xfrm>
            <a:off x="6791978" y="12975088"/>
            <a:ext cx="1123278" cy="31933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rgbClr val="FF0000"/>
                </a:solidFill>
              </a:rPr>
              <a:t>高風險組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350AFB13-B79C-42F7-83E0-65293D47A424}"/>
              </a:ext>
            </a:extLst>
          </p:cNvPr>
          <p:cNvSpPr/>
          <p:nvPr/>
        </p:nvSpPr>
        <p:spPr>
          <a:xfrm>
            <a:off x="4572000" y="13315292"/>
            <a:ext cx="1117397" cy="456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低風險組</a:t>
            </a: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F5D49E59-5FD1-450E-A221-FCBAFB30FD43}"/>
              </a:ext>
            </a:extLst>
          </p:cNvPr>
          <p:cNvSpPr/>
          <p:nvPr/>
        </p:nvSpPr>
        <p:spPr>
          <a:xfrm>
            <a:off x="4574347" y="13801008"/>
            <a:ext cx="1115050" cy="44999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高風險組</a:t>
            </a:r>
          </a:p>
        </p:txBody>
      </p: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35B95B7E-DF5E-42F7-80CA-8CFBCBA94847}"/>
              </a:ext>
            </a:extLst>
          </p:cNvPr>
          <p:cNvSpPr txBox="1"/>
          <p:nvPr/>
        </p:nvSpPr>
        <p:spPr>
          <a:xfrm>
            <a:off x="6358613" y="12665041"/>
            <a:ext cx="14463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1" dirty="0"/>
              <a:t>預測標籤</a:t>
            </a:r>
          </a:p>
        </p:txBody>
      </p:sp>
      <p:sp>
        <p:nvSpPr>
          <p:cNvPr id="148" name="文字方塊 147">
            <a:extLst>
              <a:ext uri="{FF2B5EF4-FFF2-40B4-BE49-F238E27FC236}">
                <a16:creationId xmlns:a16="http://schemas.microsoft.com/office/drawing/2014/main" id="{B3F85579-C58E-4F12-A4DB-714B6C1618A4}"/>
              </a:ext>
            </a:extLst>
          </p:cNvPr>
          <p:cNvSpPr txBox="1"/>
          <p:nvPr/>
        </p:nvSpPr>
        <p:spPr>
          <a:xfrm rot="16200000">
            <a:off x="3850898" y="13540863"/>
            <a:ext cx="11056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1" dirty="0"/>
              <a:t>真實標籤</a:t>
            </a:r>
          </a:p>
        </p:txBody>
      </p: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582FAE33-659E-4F3B-ABB0-5006294E989F}"/>
              </a:ext>
            </a:extLst>
          </p:cNvPr>
          <p:cNvSpPr txBox="1"/>
          <p:nvPr/>
        </p:nvSpPr>
        <p:spPr>
          <a:xfrm>
            <a:off x="5338032" y="14404833"/>
            <a:ext cx="8109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tx2"/>
                </a:solidFill>
              </a:rPr>
              <a:t>測試集效能指標</a:t>
            </a:r>
          </a:p>
        </p:txBody>
      </p:sp>
      <p:pic>
        <p:nvPicPr>
          <p:cNvPr id="153" name="圖片 152">
            <a:extLst>
              <a:ext uri="{FF2B5EF4-FFF2-40B4-BE49-F238E27FC236}">
                <a16:creationId xmlns:a16="http://schemas.microsoft.com/office/drawing/2014/main" id="{47A7D4BB-7594-43DA-8339-BE9CB0C80D3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7870" y="14762986"/>
            <a:ext cx="3433575" cy="1113143"/>
          </a:xfrm>
          <a:prstGeom prst="rect">
            <a:avLst/>
          </a:prstGeom>
        </p:spPr>
      </p:pic>
      <p:sp>
        <p:nvSpPr>
          <p:cNvPr id="154" name="矩形: 圓角 153">
            <a:extLst>
              <a:ext uri="{FF2B5EF4-FFF2-40B4-BE49-F238E27FC236}">
                <a16:creationId xmlns:a16="http://schemas.microsoft.com/office/drawing/2014/main" id="{FA5122A9-1689-4E19-AE87-091107647FEA}"/>
              </a:ext>
            </a:extLst>
          </p:cNvPr>
          <p:cNvSpPr/>
          <p:nvPr/>
        </p:nvSpPr>
        <p:spPr>
          <a:xfrm>
            <a:off x="4367110" y="15930125"/>
            <a:ext cx="3484335" cy="56069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b="1" dirty="0">
                <a:solidFill>
                  <a:schemeClr val="tx2"/>
                </a:solidFill>
              </a:rPr>
              <a:t>模型在測試集上顯示高準確度 且各項指標表現均衡</a:t>
            </a:r>
          </a:p>
        </p:txBody>
      </p: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376883B5-3B26-4431-B119-CE3C8D37563B}"/>
              </a:ext>
            </a:extLst>
          </p:cNvPr>
          <p:cNvSpPr txBox="1"/>
          <p:nvPr/>
        </p:nvSpPr>
        <p:spPr>
          <a:xfrm>
            <a:off x="8448454" y="12574785"/>
            <a:ext cx="3192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tx2"/>
                </a:solidFill>
              </a:rPr>
              <a:t>4.6 SHAP 摘要圖(前20個基因)</a:t>
            </a:r>
          </a:p>
        </p:txBody>
      </p:sp>
      <p:pic>
        <p:nvPicPr>
          <p:cNvPr id="159" name="圖片 158">
            <a:extLst>
              <a:ext uri="{FF2B5EF4-FFF2-40B4-BE49-F238E27FC236}">
                <a16:creationId xmlns:a16="http://schemas.microsoft.com/office/drawing/2014/main" id="{20AD9338-200B-403F-80C7-DFE998A2564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00881" y="12968227"/>
            <a:ext cx="2533163" cy="2301067"/>
          </a:xfrm>
          <a:prstGeom prst="rect">
            <a:avLst/>
          </a:prstGeom>
        </p:spPr>
      </p:pic>
      <p:sp>
        <p:nvSpPr>
          <p:cNvPr id="161" name="文字方塊 160">
            <a:extLst>
              <a:ext uri="{FF2B5EF4-FFF2-40B4-BE49-F238E27FC236}">
                <a16:creationId xmlns:a16="http://schemas.microsoft.com/office/drawing/2014/main" id="{C05D577E-DE7B-4957-BCD9-0BDABB1F5626}"/>
              </a:ext>
            </a:extLst>
          </p:cNvPr>
          <p:cNvSpPr txBox="1"/>
          <p:nvPr/>
        </p:nvSpPr>
        <p:spPr>
          <a:xfrm>
            <a:off x="9148541" y="15265551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100" dirty="0"/>
              <a:t>SHAP 值(對模型輸出的影響)</a:t>
            </a:r>
          </a:p>
        </p:txBody>
      </p: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0B82E0BE-08B7-486F-9343-01C48C3DAF46}"/>
              </a:ext>
            </a:extLst>
          </p:cNvPr>
          <p:cNvSpPr txBox="1"/>
          <p:nvPr/>
        </p:nvSpPr>
        <p:spPr>
          <a:xfrm>
            <a:off x="10996706" y="13620267"/>
            <a:ext cx="40822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1" dirty="0"/>
              <a:t>特徵值</a:t>
            </a:r>
          </a:p>
        </p:txBody>
      </p:sp>
      <p:sp>
        <p:nvSpPr>
          <p:cNvPr id="164" name="文字方塊 163">
            <a:extLst>
              <a:ext uri="{FF2B5EF4-FFF2-40B4-BE49-F238E27FC236}">
                <a16:creationId xmlns:a16="http://schemas.microsoft.com/office/drawing/2014/main" id="{4A02045D-E7C0-46CA-A684-C1B85B4C5FC0}"/>
              </a:ext>
            </a:extLst>
          </p:cNvPr>
          <p:cNvSpPr txBox="1"/>
          <p:nvPr/>
        </p:nvSpPr>
        <p:spPr>
          <a:xfrm>
            <a:off x="10970073" y="129533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高</a:t>
            </a:r>
          </a:p>
        </p:txBody>
      </p:sp>
      <p:sp>
        <p:nvSpPr>
          <p:cNvPr id="165" name="文字方塊 164">
            <a:extLst>
              <a:ext uri="{FF2B5EF4-FFF2-40B4-BE49-F238E27FC236}">
                <a16:creationId xmlns:a16="http://schemas.microsoft.com/office/drawing/2014/main" id="{3685A0F7-F735-4BFD-8B92-E6EF5F3BED6F}"/>
              </a:ext>
            </a:extLst>
          </p:cNvPr>
          <p:cNvSpPr txBox="1"/>
          <p:nvPr/>
        </p:nvSpPr>
        <p:spPr>
          <a:xfrm>
            <a:off x="10970073" y="1473784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低</a:t>
            </a:r>
          </a:p>
        </p:txBody>
      </p:sp>
      <p:sp>
        <p:nvSpPr>
          <p:cNvPr id="166" name="矩形: 圓角 165">
            <a:extLst>
              <a:ext uri="{FF2B5EF4-FFF2-40B4-BE49-F238E27FC236}">
                <a16:creationId xmlns:a16="http://schemas.microsoft.com/office/drawing/2014/main" id="{89698A90-E9CF-42A0-8386-6E3C24D1E870}"/>
              </a:ext>
            </a:extLst>
          </p:cNvPr>
          <p:cNvSpPr/>
          <p:nvPr/>
        </p:nvSpPr>
        <p:spPr>
          <a:xfrm>
            <a:off x="8230495" y="15516931"/>
            <a:ext cx="3421138" cy="73408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tx2"/>
                </a:solidFill>
              </a:rPr>
              <a:t>SHAP</a:t>
            </a:r>
            <a:r>
              <a:rPr lang="zh-TW" altLang="en-US" sz="1600" b="1" dirty="0">
                <a:solidFill>
                  <a:schemeClr val="tx2"/>
                </a:solidFill>
              </a:rPr>
              <a:t>分析可解釋模型預測，紅色代表基因表達高時對預測結果的影響，藍色代表表達低</a:t>
            </a:r>
          </a:p>
        </p:txBody>
      </p:sp>
      <p:sp>
        <p:nvSpPr>
          <p:cNvPr id="169" name="文字方塊 168">
            <a:extLst>
              <a:ext uri="{FF2B5EF4-FFF2-40B4-BE49-F238E27FC236}">
                <a16:creationId xmlns:a16="http://schemas.microsoft.com/office/drawing/2014/main" id="{98F8AE45-E985-42C9-BA6C-B6DCBFB138AF}"/>
              </a:ext>
            </a:extLst>
          </p:cNvPr>
          <p:cNvSpPr txBox="1"/>
          <p:nvPr/>
        </p:nvSpPr>
        <p:spPr>
          <a:xfrm>
            <a:off x="11966675" y="12576063"/>
            <a:ext cx="2965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tx2"/>
                </a:solidFill>
              </a:rPr>
              <a:t>4.7 特徵重要性(前15個基因)</a:t>
            </a:r>
          </a:p>
        </p:txBody>
      </p:sp>
      <p:pic>
        <p:nvPicPr>
          <p:cNvPr id="171" name="圖片 170">
            <a:extLst>
              <a:ext uri="{FF2B5EF4-FFF2-40B4-BE49-F238E27FC236}">
                <a16:creationId xmlns:a16="http://schemas.microsoft.com/office/drawing/2014/main" id="{5DFCC574-DC09-4918-BE25-83FC9F9CED8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198443" y="12968227"/>
            <a:ext cx="2543252" cy="2444622"/>
          </a:xfrm>
          <a:prstGeom prst="rect">
            <a:avLst/>
          </a:prstGeom>
        </p:spPr>
      </p:pic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AA0639BA-FA8A-4ECB-AB31-3DB5254872D5}"/>
              </a:ext>
            </a:extLst>
          </p:cNvPr>
          <p:cNvSpPr txBox="1"/>
          <p:nvPr/>
        </p:nvSpPr>
        <p:spPr>
          <a:xfrm>
            <a:off x="12642726" y="15407120"/>
            <a:ext cx="18685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/>
              <a:t>平均基尼重要性</a:t>
            </a:r>
          </a:p>
        </p:txBody>
      </p:sp>
      <p:sp>
        <p:nvSpPr>
          <p:cNvPr id="174" name="矩形: 圓角 173">
            <a:extLst>
              <a:ext uri="{FF2B5EF4-FFF2-40B4-BE49-F238E27FC236}">
                <a16:creationId xmlns:a16="http://schemas.microsoft.com/office/drawing/2014/main" id="{DE4D9E17-4190-454B-A6F1-1764AB512ABE}"/>
              </a:ext>
            </a:extLst>
          </p:cNvPr>
          <p:cNvSpPr/>
          <p:nvPr/>
        </p:nvSpPr>
        <p:spPr>
          <a:xfrm>
            <a:off x="12069555" y="15698236"/>
            <a:ext cx="2660242" cy="57324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b="1" dirty="0">
                <a:solidFill>
                  <a:schemeClr val="tx2"/>
                </a:solidFill>
              </a:rPr>
              <a:t>隨機森林模型中，前</a:t>
            </a:r>
            <a:r>
              <a:rPr lang="en-US" altLang="zh-TW" sz="1600" b="1" dirty="0">
                <a:solidFill>
                  <a:schemeClr val="tx2"/>
                </a:solidFill>
              </a:rPr>
              <a:t>15</a:t>
            </a:r>
            <a:r>
              <a:rPr lang="zh-TW" altLang="en-US" sz="1600" b="1" dirty="0">
                <a:solidFill>
                  <a:schemeClr val="tx2"/>
                </a:solidFill>
              </a:rPr>
              <a:t>個基因對分類影響最大</a:t>
            </a:r>
          </a:p>
        </p:txBody>
      </p:sp>
      <p:sp>
        <p:nvSpPr>
          <p:cNvPr id="176" name="Freeform 6">
            <a:extLst>
              <a:ext uri="{FF2B5EF4-FFF2-40B4-BE49-F238E27FC236}">
                <a16:creationId xmlns:a16="http://schemas.microsoft.com/office/drawing/2014/main" id="{EB93D7CF-F037-41A5-AF0B-055A9F5277C0}"/>
              </a:ext>
            </a:extLst>
          </p:cNvPr>
          <p:cNvSpPr/>
          <p:nvPr/>
        </p:nvSpPr>
        <p:spPr>
          <a:xfrm>
            <a:off x="221994" y="8397662"/>
            <a:ext cx="3827729" cy="4177123"/>
          </a:xfrm>
          <a:custGeom>
            <a:avLst/>
            <a:gdLst/>
            <a:ahLst/>
            <a:cxnLst/>
            <a:rect l="l" t="t" r="r" b="b"/>
            <a:pathLst>
              <a:path w="747741" h="1020329">
                <a:moveTo>
                  <a:pt x="55929" y="0"/>
                </a:moveTo>
                <a:lnTo>
                  <a:pt x="691812" y="0"/>
                </a:lnTo>
                <a:cubicBezTo>
                  <a:pt x="706645" y="0"/>
                  <a:pt x="720871" y="5892"/>
                  <a:pt x="731360" y="16381"/>
                </a:cubicBezTo>
                <a:cubicBezTo>
                  <a:pt x="741848" y="26870"/>
                  <a:pt x="747741" y="41096"/>
                  <a:pt x="747741" y="55929"/>
                </a:cubicBezTo>
                <a:lnTo>
                  <a:pt x="747741" y="964400"/>
                </a:lnTo>
                <a:cubicBezTo>
                  <a:pt x="747741" y="995289"/>
                  <a:pt x="722701" y="1020329"/>
                  <a:pt x="691812" y="1020329"/>
                </a:cubicBezTo>
                <a:lnTo>
                  <a:pt x="55929" y="1020329"/>
                </a:lnTo>
                <a:cubicBezTo>
                  <a:pt x="25040" y="1020329"/>
                  <a:pt x="0" y="995289"/>
                  <a:pt x="0" y="964400"/>
                </a:cubicBezTo>
                <a:lnTo>
                  <a:pt x="0" y="55929"/>
                </a:lnTo>
                <a:cubicBezTo>
                  <a:pt x="0" y="25040"/>
                  <a:pt x="25040" y="0"/>
                  <a:pt x="55929" y="0"/>
                </a:cubicBezTo>
                <a:close/>
              </a:path>
            </a:pathLst>
          </a:custGeom>
          <a:ln w="47625" cap="rnd">
            <a:solidFill>
              <a:srgbClr val="20569B"/>
            </a:solidFill>
            <a:prstDash val="solid"/>
            <a:round/>
          </a:ln>
        </p:spPr>
      </p:sp>
      <p:grpSp>
        <p:nvGrpSpPr>
          <p:cNvPr id="178" name="Group 5">
            <a:extLst>
              <a:ext uri="{FF2B5EF4-FFF2-40B4-BE49-F238E27FC236}">
                <a16:creationId xmlns:a16="http://schemas.microsoft.com/office/drawing/2014/main" id="{DF1859AD-0D1E-4BBE-9682-974E6AD0C5F2}"/>
              </a:ext>
            </a:extLst>
          </p:cNvPr>
          <p:cNvGrpSpPr/>
          <p:nvPr/>
        </p:nvGrpSpPr>
        <p:grpSpPr>
          <a:xfrm>
            <a:off x="4491888" y="8400915"/>
            <a:ext cx="4866637" cy="3527607"/>
            <a:chOff x="0" y="0"/>
            <a:chExt cx="747741" cy="1020329"/>
          </a:xfrm>
        </p:grpSpPr>
        <p:sp>
          <p:nvSpPr>
            <p:cNvPr id="179" name="Freeform 6">
              <a:extLst>
                <a:ext uri="{FF2B5EF4-FFF2-40B4-BE49-F238E27FC236}">
                  <a16:creationId xmlns:a16="http://schemas.microsoft.com/office/drawing/2014/main" id="{DF1C436B-7FC6-4793-A334-5657E43637D7}"/>
                </a:ext>
              </a:extLst>
            </p:cNvPr>
            <p:cNvSpPr/>
            <p:nvPr/>
          </p:nvSpPr>
          <p:spPr>
            <a:xfrm>
              <a:off x="0" y="0"/>
              <a:ext cx="747741" cy="1020329"/>
            </a:xfrm>
            <a:custGeom>
              <a:avLst/>
              <a:gdLst/>
              <a:ahLst/>
              <a:cxnLst/>
              <a:rect l="l" t="t" r="r" b="b"/>
              <a:pathLst>
                <a:path w="747741" h="1020329">
                  <a:moveTo>
                    <a:pt x="55929" y="0"/>
                  </a:moveTo>
                  <a:lnTo>
                    <a:pt x="691812" y="0"/>
                  </a:lnTo>
                  <a:cubicBezTo>
                    <a:pt x="706645" y="0"/>
                    <a:pt x="720871" y="5892"/>
                    <a:pt x="731360" y="16381"/>
                  </a:cubicBezTo>
                  <a:cubicBezTo>
                    <a:pt x="741848" y="26870"/>
                    <a:pt x="747741" y="41096"/>
                    <a:pt x="747741" y="55929"/>
                  </a:cubicBezTo>
                  <a:lnTo>
                    <a:pt x="747741" y="964400"/>
                  </a:lnTo>
                  <a:cubicBezTo>
                    <a:pt x="747741" y="995289"/>
                    <a:pt x="722701" y="1020329"/>
                    <a:pt x="691812" y="1020329"/>
                  </a:cubicBezTo>
                  <a:lnTo>
                    <a:pt x="55929" y="1020329"/>
                  </a:lnTo>
                  <a:cubicBezTo>
                    <a:pt x="25040" y="1020329"/>
                    <a:pt x="0" y="995289"/>
                    <a:pt x="0" y="964400"/>
                  </a:cubicBezTo>
                  <a:lnTo>
                    <a:pt x="0" y="55929"/>
                  </a:lnTo>
                  <a:cubicBezTo>
                    <a:pt x="0" y="25040"/>
                    <a:pt x="25040" y="0"/>
                    <a:pt x="55929" y="0"/>
                  </a:cubicBezTo>
                  <a:close/>
                </a:path>
              </a:pathLst>
            </a:custGeom>
            <a:ln w="47625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id="180" name="TextBox 7">
              <a:extLst>
                <a:ext uri="{FF2B5EF4-FFF2-40B4-BE49-F238E27FC236}">
                  <a16:creationId xmlns:a16="http://schemas.microsoft.com/office/drawing/2014/main" id="{6A4BA3AD-467B-48FC-9461-EA5EC6135A34}"/>
                </a:ext>
              </a:extLst>
            </p:cNvPr>
            <p:cNvSpPr txBox="1"/>
            <p:nvPr/>
          </p:nvSpPr>
          <p:spPr>
            <a:xfrm>
              <a:off x="0" y="-57150"/>
              <a:ext cx="747741" cy="1077479"/>
            </a:xfrm>
            <a:prstGeom prst="rect">
              <a:avLst/>
            </a:prstGeom>
          </p:spPr>
          <p:txBody>
            <a:bodyPr lIns="40760" tIns="40760" rIns="40760" bIns="4076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1" name="Group 5">
            <a:extLst>
              <a:ext uri="{FF2B5EF4-FFF2-40B4-BE49-F238E27FC236}">
                <a16:creationId xmlns:a16="http://schemas.microsoft.com/office/drawing/2014/main" id="{503D0236-70B3-4226-9CC9-42760070F042}"/>
              </a:ext>
            </a:extLst>
          </p:cNvPr>
          <p:cNvGrpSpPr/>
          <p:nvPr/>
        </p:nvGrpSpPr>
        <p:grpSpPr>
          <a:xfrm>
            <a:off x="9577614" y="8418175"/>
            <a:ext cx="5313392" cy="3987896"/>
            <a:chOff x="0" y="0"/>
            <a:chExt cx="747741" cy="1020329"/>
          </a:xfrm>
        </p:grpSpPr>
        <p:sp>
          <p:nvSpPr>
            <p:cNvPr id="182" name="Freeform 6">
              <a:extLst>
                <a:ext uri="{FF2B5EF4-FFF2-40B4-BE49-F238E27FC236}">
                  <a16:creationId xmlns:a16="http://schemas.microsoft.com/office/drawing/2014/main" id="{F6DE8003-138C-4A62-8C75-B848B8CB5620}"/>
                </a:ext>
              </a:extLst>
            </p:cNvPr>
            <p:cNvSpPr/>
            <p:nvPr/>
          </p:nvSpPr>
          <p:spPr>
            <a:xfrm>
              <a:off x="0" y="0"/>
              <a:ext cx="747741" cy="1020329"/>
            </a:xfrm>
            <a:custGeom>
              <a:avLst/>
              <a:gdLst/>
              <a:ahLst/>
              <a:cxnLst/>
              <a:rect l="l" t="t" r="r" b="b"/>
              <a:pathLst>
                <a:path w="747741" h="1020329">
                  <a:moveTo>
                    <a:pt x="55929" y="0"/>
                  </a:moveTo>
                  <a:lnTo>
                    <a:pt x="691812" y="0"/>
                  </a:lnTo>
                  <a:cubicBezTo>
                    <a:pt x="706645" y="0"/>
                    <a:pt x="720871" y="5892"/>
                    <a:pt x="731360" y="16381"/>
                  </a:cubicBezTo>
                  <a:cubicBezTo>
                    <a:pt x="741848" y="26870"/>
                    <a:pt x="747741" y="41096"/>
                    <a:pt x="747741" y="55929"/>
                  </a:cubicBezTo>
                  <a:lnTo>
                    <a:pt x="747741" y="964400"/>
                  </a:lnTo>
                  <a:cubicBezTo>
                    <a:pt x="747741" y="995289"/>
                    <a:pt x="722701" y="1020329"/>
                    <a:pt x="691812" y="1020329"/>
                  </a:cubicBezTo>
                  <a:lnTo>
                    <a:pt x="55929" y="1020329"/>
                  </a:lnTo>
                  <a:cubicBezTo>
                    <a:pt x="25040" y="1020329"/>
                    <a:pt x="0" y="995289"/>
                    <a:pt x="0" y="964400"/>
                  </a:cubicBezTo>
                  <a:lnTo>
                    <a:pt x="0" y="55929"/>
                  </a:lnTo>
                  <a:cubicBezTo>
                    <a:pt x="0" y="25040"/>
                    <a:pt x="25040" y="0"/>
                    <a:pt x="55929" y="0"/>
                  </a:cubicBezTo>
                  <a:close/>
                </a:path>
              </a:pathLst>
            </a:custGeom>
            <a:ln w="47625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id="183" name="TextBox 7">
              <a:extLst>
                <a:ext uri="{FF2B5EF4-FFF2-40B4-BE49-F238E27FC236}">
                  <a16:creationId xmlns:a16="http://schemas.microsoft.com/office/drawing/2014/main" id="{951C42A9-CBB4-4371-9923-4131B7037C66}"/>
                </a:ext>
              </a:extLst>
            </p:cNvPr>
            <p:cNvSpPr txBox="1"/>
            <p:nvPr/>
          </p:nvSpPr>
          <p:spPr>
            <a:xfrm>
              <a:off x="0" y="-57150"/>
              <a:ext cx="747741" cy="1077479"/>
            </a:xfrm>
            <a:prstGeom prst="rect">
              <a:avLst/>
            </a:prstGeom>
          </p:spPr>
          <p:txBody>
            <a:bodyPr lIns="40760" tIns="40760" rIns="40760" bIns="4076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4" name="Group 5">
            <a:extLst>
              <a:ext uri="{FF2B5EF4-FFF2-40B4-BE49-F238E27FC236}">
                <a16:creationId xmlns:a16="http://schemas.microsoft.com/office/drawing/2014/main" id="{82E6E747-0EB8-4535-B58C-554D3102589C}"/>
              </a:ext>
            </a:extLst>
          </p:cNvPr>
          <p:cNvGrpSpPr/>
          <p:nvPr/>
        </p:nvGrpSpPr>
        <p:grpSpPr>
          <a:xfrm>
            <a:off x="196279" y="12661882"/>
            <a:ext cx="3788803" cy="3511567"/>
            <a:chOff x="0" y="0"/>
            <a:chExt cx="747741" cy="1020329"/>
          </a:xfrm>
        </p:grpSpPr>
        <p:sp>
          <p:nvSpPr>
            <p:cNvPr id="185" name="Freeform 6">
              <a:extLst>
                <a:ext uri="{FF2B5EF4-FFF2-40B4-BE49-F238E27FC236}">
                  <a16:creationId xmlns:a16="http://schemas.microsoft.com/office/drawing/2014/main" id="{7CF613E7-5287-446D-BA8D-9EDECC7BA96C}"/>
                </a:ext>
              </a:extLst>
            </p:cNvPr>
            <p:cNvSpPr/>
            <p:nvPr/>
          </p:nvSpPr>
          <p:spPr>
            <a:xfrm>
              <a:off x="0" y="0"/>
              <a:ext cx="747741" cy="1020329"/>
            </a:xfrm>
            <a:custGeom>
              <a:avLst/>
              <a:gdLst/>
              <a:ahLst/>
              <a:cxnLst/>
              <a:rect l="l" t="t" r="r" b="b"/>
              <a:pathLst>
                <a:path w="747741" h="1020329">
                  <a:moveTo>
                    <a:pt x="55929" y="0"/>
                  </a:moveTo>
                  <a:lnTo>
                    <a:pt x="691812" y="0"/>
                  </a:lnTo>
                  <a:cubicBezTo>
                    <a:pt x="706645" y="0"/>
                    <a:pt x="720871" y="5892"/>
                    <a:pt x="731360" y="16381"/>
                  </a:cubicBezTo>
                  <a:cubicBezTo>
                    <a:pt x="741848" y="26870"/>
                    <a:pt x="747741" y="41096"/>
                    <a:pt x="747741" y="55929"/>
                  </a:cubicBezTo>
                  <a:lnTo>
                    <a:pt x="747741" y="964400"/>
                  </a:lnTo>
                  <a:cubicBezTo>
                    <a:pt x="747741" y="995289"/>
                    <a:pt x="722701" y="1020329"/>
                    <a:pt x="691812" y="1020329"/>
                  </a:cubicBezTo>
                  <a:lnTo>
                    <a:pt x="55929" y="1020329"/>
                  </a:lnTo>
                  <a:cubicBezTo>
                    <a:pt x="25040" y="1020329"/>
                    <a:pt x="0" y="995289"/>
                    <a:pt x="0" y="964400"/>
                  </a:cubicBezTo>
                  <a:lnTo>
                    <a:pt x="0" y="55929"/>
                  </a:lnTo>
                  <a:cubicBezTo>
                    <a:pt x="0" y="25040"/>
                    <a:pt x="25040" y="0"/>
                    <a:pt x="55929" y="0"/>
                  </a:cubicBezTo>
                  <a:close/>
                </a:path>
              </a:pathLst>
            </a:custGeom>
            <a:ln w="47625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id="186" name="TextBox 7">
              <a:extLst>
                <a:ext uri="{FF2B5EF4-FFF2-40B4-BE49-F238E27FC236}">
                  <a16:creationId xmlns:a16="http://schemas.microsoft.com/office/drawing/2014/main" id="{A1EEBAD9-6D25-4941-8204-83A7357D67E8}"/>
                </a:ext>
              </a:extLst>
            </p:cNvPr>
            <p:cNvSpPr txBox="1"/>
            <p:nvPr/>
          </p:nvSpPr>
          <p:spPr>
            <a:xfrm>
              <a:off x="0" y="-57150"/>
              <a:ext cx="747741" cy="1077479"/>
            </a:xfrm>
            <a:prstGeom prst="rect">
              <a:avLst/>
            </a:prstGeom>
          </p:spPr>
          <p:txBody>
            <a:bodyPr lIns="40760" tIns="40760" rIns="40760" bIns="4076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7" name="Group 5">
            <a:extLst>
              <a:ext uri="{FF2B5EF4-FFF2-40B4-BE49-F238E27FC236}">
                <a16:creationId xmlns:a16="http://schemas.microsoft.com/office/drawing/2014/main" id="{0BDC138F-EE6D-49D5-84C0-A096DF5965B6}"/>
              </a:ext>
            </a:extLst>
          </p:cNvPr>
          <p:cNvGrpSpPr/>
          <p:nvPr/>
        </p:nvGrpSpPr>
        <p:grpSpPr>
          <a:xfrm>
            <a:off x="4195069" y="12082355"/>
            <a:ext cx="3847941" cy="4501039"/>
            <a:chOff x="0" y="0"/>
            <a:chExt cx="747741" cy="1020329"/>
          </a:xfrm>
        </p:grpSpPr>
        <p:sp>
          <p:nvSpPr>
            <p:cNvPr id="188" name="Freeform 6">
              <a:extLst>
                <a:ext uri="{FF2B5EF4-FFF2-40B4-BE49-F238E27FC236}">
                  <a16:creationId xmlns:a16="http://schemas.microsoft.com/office/drawing/2014/main" id="{D0DA42F0-F672-4824-B78B-1929BF31AC74}"/>
                </a:ext>
              </a:extLst>
            </p:cNvPr>
            <p:cNvSpPr/>
            <p:nvPr/>
          </p:nvSpPr>
          <p:spPr>
            <a:xfrm>
              <a:off x="0" y="0"/>
              <a:ext cx="747741" cy="1020329"/>
            </a:xfrm>
            <a:custGeom>
              <a:avLst/>
              <a:gdLst/>
              <a:ahLst/>
              <a:cxnLst/>
              <a:rect l="l" t="t" r="r" b="b"/>
              <a:pathLst>
                <a:path w="747741" h="1020329">
                  <a:moveTo>
                    <a:pt x="55929" y="0"/>
                  </a:moveTo>
                  <a:lnTo>
                    <a:pt x="691812" y="0"/>
                  </a:lnTo>
                  <a:cubicBezTo>
                    <a:pt x="706645" y="0"/>
                    <a:pt x="720871" y="5892"/>
                    <a:pt x="731360" y="16381"/>
                  </a:cubicBezTo>
                  <a:cubicBezTo>
                    <a:pt x="741848" y="26870"/>
                    <a:pt x="747741" y="41096"/>
                    <a:pt x="747741" y="55929"/>
                  </a:cubicBezTo>
                  <a:lnTo>
                    <a:pt x="747741" y="964400"/>
                  </a:lnTo>
                  <a:cubicBezTo>
                    <a:pt x="747741" y="995289"/>
                    <a:pt x="722701" y="1020329"/>
                    <a:pt x="691812" y="1020329"/>
                  </a:cubicBezTo>
                  <a:lnTo>
                    <a:pt x="55929" y="1020329"/>
                  </a:lnTo>
                  <a:cubicBezTo>
                    <a:pt x="25040" y="1020329"/>
                    <a:pt x="0" y="995289"/>
                    <a:pt x="0" y="964400"/>
                  </a:cubicBezTo>
                  <a:lnTo>
                    <a:pt x="0" y="55929"/>
                  </a:lnTo>
                  <a:cubicBezTo>
                    <a:pt x="0" y="25040"/>
                    <a:pt x="25040" y="0"/>
                    <a:pt x="55929" y="0"/>
                  </a:cubicBezTo>
                  <a:close/>
                </a:path>
              </a:pathLst>
            </a:custGeom>
            <a:ln w="47625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id="189" name="TextBox 7">
              <a:extLst>
                <a:ext uri="{FF2B5EF4-FFF2-40B4-BE49-F238E27FC236}">
                  <a16:creationId xmlns:a16="http://schemas.microsoft.com/office/drawing/2014/main" id="{DA8949CF-0D37-47DC-87F6-D5BD816D4C66}"/>
                </a:ext>
              </a:extLst>
            </p:cNvPr>
            <p:cNvSpPr txBox="1"/>
            <p:nvPr/>
          </p:nvSpPr>
          <p:spPr>
            <a:xfrm>
              <a:off x="0" y="-57150"/>
              <a:ext cx="747741" cy="1077479"/>
            </a:xfrm>
            <a:prstGeom prst="rect">
              <a:avLst/>
            </a:prstGeom>
          </p:spPr>
          <p:txBody>
            <a:bodyPr lIns="40760" tIns="40760" rIns="40760" bIns="4076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0" name="Group 5">
            <a:extLst>
              <a:ext uri="{FF2B5EF4-FFF2-40B4-BE49-F238E27FC236}">
                <a16:creationId xmlns:a16="http://schemas.microsoft.com/office/drawing/2014/main" id="{5A0E8FC1-78A5-4ABD-831B-BD3364D55D57}"/>
              </a:ext>
            </a:extLst>
          </p:cNvPr>
          <p:cNvGrpSpPr/>
          <p:nvPr/>
        </p:nvGrpSpPr>
        <p:grpSpPr>
          <a:xfrm>
            <a:off x="8141460" y="12512751"/>
            <a:ext cx="3637731" cy="3895878"/>
            <a:chOff x="0" y="0"/>
            <a:chExt cx="747741" cy="1020329"/>
          </a:xfrm>
        </p:grpSpPr>
        <p:sp>
          <p:nvSpPr>
            <p:cNvPr id="191" name="Freeform 6">
              <a:extLst>
                <a:ext uri="{FF2B5EF4-FFF2-40B4-BE49-F238E27FC236}">
                  <a16:creationId xmlns:a16="http://schemas.microsoft.com/office/drawing/2014/main" id="{A2DED27B-E985-45E1-BBD8-F20AE841F0B6}"/>
                </a:ext>
              </a:extLst>
            </p:cNvPr>
            <p:cNvSpPr/>
            <p:nvPr/>
          </p:nvSpPr>
          <p:spPr>
            <a:xfrm>
              <a:off x="0" y="0"/>
              <a:ext cx="747741" cy="1020329"/>
            </a:xfrm>
            <a:custGeom>
              <a:avLst/>
              <a:gdLst/>
              <a:ahLst/>
              <a:cxnLst/>
              <a:rect l="l" t="t" r="r" b="b"/>
              <a:pathLst>
                <a:path w="747741" h="1020329">
                  <a:moveTo>
                    <a:pt x="55929" y="0"/>
                  </a:moveTo>
                  <a:lnTo>
                    <a:pt x="691812" y="0"/>
                  </a:lnTo>
                  <a:cubicBezTo>
                    <a:pt x="706645" y="0"/>
                    <a:pt x="720871" y="5892"/>
                    <a:pt x="731360" y="16381"/>
                  </a:cubicBezTo>
                  <a:cubicBezTo>
                    <a:pt x="741848" y="26870"/>
                    <a:pt x="747741" y="41096"/>
                    <a:pt x="747741" y="55929"/>
                  </a:cubicBezTo>
                  <a:lnTo>
                    <a:pt x="747741" y="964400"/>
                  </a:lnTo>
                  <a:cubicBezTo>
                    <a:pt x="747741" y="995289"/>
                    <a:pt x="722701" y="1020329"/>
                    <a:pt x="691812" y="1020329"/>
                  </a:cubicBezTo>
                  <a:lnTo>
                    <a:pt x="55929" y="1020329"/>
                  </a:lnTo>
                  <a:cubicBezTo>
                    <a:pt x="25040" y="1020329"/>
                    <a:pt x="0" y="995289"/>
                    <a:pt x="0" y="964400"/>
                  </a:cubicBezTo>
                  <a:lnTo>
                    <a:pt x="0" y="55929"/>
                  </a:lnTo>
                  <a:cubicBezTo>
                    <a:pt x="0" y="25040"/>
                    <a:pt x="25040" y="0"/>
                    <a:pt x="55929" y="0"/>
                  </a:cubicBezTo>
                  <a:close/>
                </a:path>
              </a:pathLst>
            </a:custGeom>
            <a:ln w="47625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id="192" name="TextBox 7">
              <a:extLst>
                <a:ext uri="{FF2B5EF4-FFF2-40B4-BE49-F238E27FC236}">
                  <a16:creationId xmlns:a16="http://schemas.microsoft.com/office/drawing/2014/main" id="{60C34195-DEFA-4C34-89E3-27ACECA0F0F4}"/>
                </a:ext>
              </a:extLst>
            </p:cNvPr>
            <p:cNvSpPr txBox="1"/>
            <p:nvPr/>
          </p:nvSpPr>
          <p:spPr>
            <a:xfrm>
              <a:off x="0" y="-57150"/>
              <a:ext cx="747741" cy="1077479"/>
            </a:xfrm>
            <a:prstGeom prst="rect">
              <a:avLst/>
            </a:prstGeom>
          </p:spPr>
          <p:txBody>
            <a:bodyPr lIns="40760" tIns="40760" rIns="40760" bIns="4076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3" name="Group 5">
            <a:extLst>
              <a:ext uri="{FF2B5EF4-FFF2-40B4-BE49-F238E27FC236}">
                <a16:creationId xmlns:a16="http://schemas.microsoft.com/office/drawing/2014/main" id="{6B8E04AA-F9B6-4C14-B813-9A6065EB8414}"/>
              </a:ext>
            </a:extLst>
          </p:cNvPr>
          <p:cNvGrpSpPr/>
          <p:nvPr/>
        </p:nvGrpSpPr>
        <p:grpSpPr>
          <a:xfrm>
            <a:off x="11950051" y="12512751"/>
            <a:ext cx="2979092" cy="3895878"/>
            <a:chOff x="0" y="0"/>
            <a:chExt cx="747741" cy="1020329"/>
          </a:xfrm>
        </p:grpSpPr>
        <p:sp>
          <p:nvSpPr>
            <p:cNvPr id="194" name="Freeform 6">
              <a:extLst>
                <a:ext uri="{FF2B5EF4-FFF2-40B4-BE49-F238E27FC236}">
                  <a16:creationId xmlns:a16="http://schemas.microsoft.com/office/drawing/2014/main" id="{48F520CE-8E46-4F81-A5A7-6BCCE9E6A896}"/>
                </a:ext>
              </a:extLst>
            </p:cNvPr>
            <p:cNvSpPr/>
            <p:nvPr/>
          </p:nvSpPr>
          <p:spPr>
            <a:xfrm>
              <a:off x="0" y="0"/>
              <a:ext cx="747741" cy="1020329"/>
            </a:xfrm>
            <a:custGeom>
              <a:avLst/>
              <a:gdLst/>
              <a:ahLst/>
              <a:cxnLst/>
              <a:rect l="l" t="t" r="r" b="b"/>
              <a:pathLst>
                <a:path w="747741" h="1020329">
                  <a:moveTo>
                    <a:pt x="55929" y="0"/>
                  </a:moveTo>
                  <a:lnTo>
                    <a:pt x="691812" y="0"/>
                  </a:lnTo>
                  <a:cubicBezTo>
                    <a:pt x="706645" y="0"/>
                    <a:pt x="720871" y="5892"/>
                    <a:pt x="731360" y="16381"/>
                  </a:cubicBezTo>
                  <a:cubicBezTo>
                    <a:pt x="741848" y="26870"/>
                    <a:pt x="747741" y="41096"/>
                    <a:pt x="747741" y="55929"/>
                  </a:cubicBezTo>
                  <a:lnTo>
                    <a:pt x="747741" y="964400"/>
                  </a:lnTo>
                  <a:cubicBezTo>
                    <a:pt x="747741" y="995289"/>
                    <a:pt x="722701" y="1020329"/>
                    <a:pt x="691812" y="1020329"/>
                  </a:cubicBezTo>
                  <a:lnTo>
                    <a:pt x="55929" y="1020329"/>
                  </a:lnTo>
                  <a:cubicBezTo>
                    <a:pt x="25040" y="1020329"/>
                    <a:pt x="0" y="995289"/>
                    <a:pt x="0" y="964400"/>
                  </a:cubicBezTo>
                  <a:lnTo>
                    <a:pt x="0" y="55929"/>
                  </a:lnTo>
                  <a:cubicBezTo>
                    <a:pt x="0" y="25040"/>
                    <a:pt x="25040" y="0"/>
                    <a:pt x="55929" y="0"/>
                  </a:cubicBezTo>
                  <a:close/>
                </a:path>
              </a:pathLst>
            </a:custGeom>
            <a:ln w="47625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id="195" name="TextBox 7">
              <a:extLst>
                <a:ext uri="{FF2B5EF4-FFF2-40B4-BE49-F238E27FC236}">
                  <a16:creationId xmlns:a16="http://schemas.microsoft.com/office/drawing/2014/main" id="{5CA6FDE7-7DC1-43B6-8A70-5D0404C95EB7}"/>
                </a:ext>
              </a:extLst>
            </p:cNvPr>
            <p:cNvSpPr txBox="1"/>
            <p:nvPr/>
          </p:nvSpPr>
          <p:spPr>
            <a:xfrm>
              <a:off x="0" y="-57150"/>
              <a:ext cx="747741" cy="1077479"/>
            </a:xfrm>
            <a:prstGeom prst="rect">
              <a:avLst/>
            </a:prstGeom>
          </p:spPr>
          <p:txBody>
            <a:bodyPr lIns="40760" tIns="40760" rIns="40760" bIns="4076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7" name="Group 18">
            <a:extLst>
              <a:ext uri="{FF2B5EF4-FFF2-40B4-BE49-F238E27FC236}">
                <a16:creationId xmlns:a16="http://schemas.microsoft.com/office/drawing/2014/main" id="{D3718357-59F5-46FA-8DE0-E0F3BE4EE914}"/>
              </a:ext>
            </a:extLst>
          </p:cNvPr>
          <p:cNvGrpSpPr/>
          <p:nvPr/>
        </p:nvGrpSpPr>
        <p:grpSpPr>
          <a:xfrm>
            <a:off x="0" y="16535440"/>
            <a:ext cx="4487096" cy="966283"/>
            <a:chOff x="21141" y="156127"/>
            <a:chExt cx="1405105" cy="148546"/>
          </a:xfrm>
        </p:grpSpPr>
        <p:sp>
          <p:nvSpPr>
            <p:cNvPr id="198" name="Freeform 19">
              <a:extLst>
                <a:ext uri="{FF2B5EF4-FFF2-40B4-BE49-F238E27FC236}">
                  <a16:creationId xmlns:a16="http://schemas.microsoft.com/office/drawing/2014/main" id="{2FD526BA-D2FB-4C05-B687-47F355F4D6A4}"/>
                </a:ext>
              </a:extLst>
            </p:cNvPr>
            <p:cNvSpPr/>
            <p:nvPr/>
          </p:nvSpPr>
          <p:spPr>
            <a:xfrm>
              <a:off x="67990" y="199946"/>
              <a:ext cx="1311406" cy="96863"/>
            </a:xfrm>
            <a:prstGeom prst="round2SameRect">
              <a:avLst/>
            </a:prstGeom>
            <a:solidFill>
              <a:srgbClr val="004AAD"/>
            </a:soli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199" name="TextBox 20">
              <a:extLst>
                <a:ext uri="{FF2B5EF4-FFF2-40B4-BE49-F238E27FC236}">
                  <a16:creationId xmlns:a16="http://schemas.microsoft.com/office/drawing/2014/main" id="{0912AE84-51B3-4D65-9BC5-53BDDC442F4C}"/>
                </a:ext>
              </a:extLst>
            </p:cNvPr>
            <p:cNvSpPr txBox="1"/>
            <p:nvPr/>
          </p:nvSpPr>
          <p:spPr>
            <a:xfrm>
              <a:off x="21141" y="156127"/>
              <a:ext cx="1405105" cy="148546"/>
            </a:xfrm>
            <a:prstGeom prst="round2Same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 spc="9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5.</a:t>
              </a:r>
              <a:r>
                <a:rPr lang="zh-TW" altLang="en-US" sz="2300" spc="9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研究發現</a:t>
              </a:r>
              <a:endParaRPr lang="en-US" sz="2300" spc="9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04" name="文字方塊 203">
            <a:extLst>
              <a:ext uri="{FF2B5EF4-FFF2-40B4-BE49-F238E27FC236}">
                <a16:creationId xmlns:a16="http://schemas.microsoft.com/office/drawing/2014/main" id="{13CFBFF6-CB41-4334-9003-806EB348B267}"/>
              </a:ext>
            </a:extLst>
          </p:cNvPr>
          <p:cNvSpPr txBox="1"/>
          <p:nvPr/>
        </p:nvSpPr>
        <p:spPr>
          <a:xfrm>
            <a:off x="654186" y="17753324"/>
            <a:ext cx="362975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共鑑定出 2,655 個顧著差異基 因(調整後 p-value&lt;0.05)。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PCA 與熱圖顧示高、低風險組具有明顯差異。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隨機森林模型達到高預測效能</a:t>
            </a:r>
            <a:endParaRPr lang="en-US" altLang="zh-TW" sz="1600" dirty="0"/>
          </a:p>
          <a:p>
            <a:r>
              <a:rPr lang="zh-TW" altLang="en-US" sz="1600" dirty="0"/>
              <a:t>     ，AUC為0.942。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SHAP 分析找出關鍵基因,例如SLC34A2 、MUC16 、ANLN、 CDC20等，為潛在生物標記。</a:t>
            </a:r>
          </a:p>
        </p:txBody>
      </p:sp>
      <p:pic>
        <p:nvPicPr>
          <p:cNvPr id="206" name="圖片 205">
            <a:extLst>
              <a:ext uri="{FF2B5EF4-FFF2-40B4-BE49-F238E27FC236}">
                <a16:creationId xmlns:a16="http://schemas.microsoft.com/office/drawing/2014/main" id="{4F1CBABB-9E60-412E-81EF-3055B351443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0733" y="17668147"/>
            <a:ext cx="472534" cy="1432370"/>
          </a:xfrm>
          <a:prstGeom prst="rect">
            <a:avLst/>
          </a:prstGeom>
        </p:spPr>
      </p:pic>
      <p:grpSp>
        <p:nvGrpSpPr>
          <p:cNvPr id="207" name="Group 18">
            <a:extLst>
              <a:ext uri="{FF2B5EF4-FFF2-40B4-BE49-F238E27FC236}">
                <a16:creationId xmlns:a16="http://schemas.microsoft.com/office/drawing/2014/main" id="{8F8B006D-1D15-43C8-BFA2-13F4B9AA3497}"/>
              </a:ext>
            </a:extLst>
          </p:cNvPr>
          <p:cNvGrpSpPr/>
          <p:nvPr/>
        </p:nvGrpSpPr>
        <p:grpSpPr>
          <a:xfrm>
            <a:off x="4453012" y="16651130"/>
            <a:ext cx="5178582" cy="702843"/>
            <a:chOff x="-66845" y="142997"/>
            <a:chExt cx="1425565" cy="148546"/>
          </a:xfrm>
        </p:grpSpPr>
        <p:sp>
          <p:nvSpPr>
            <p:cNvPr id="208" name="Freeform 19">
              <a:extLst>
                <a:ext uri="{FF2B5EF4-FFF2-40B4-BE49-F238E27FC236}">
                  <a16:creationId xmlns:a16="http://schemas.microsoft.com/office/drawing/2014/main" id="{A80EFED0-AA7C-4B6F-BF24-6B8483FAC329}"/>
                </a:ext>
              </a:extLst>
            </p:cNvPr>
            <p:cNvSpPr/>
            <p:nvPr/>
          </p:nvSpPr>
          <p:spPr>
            <a:xfrm>
              <a:off x="-49824" y="179541"/>
              <a:ext cx="1408544" cy="98751"/>
            </a:xfrm>
            <a:prstGeom prst="round2SameRect">
              <a:avLst/>
            </a:prstGeom>
            <a:solidFill>
              <a:srgbClr val="004AAD"/>
            </a:soli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209" name="TextBox 20">
              <a:extLst>
                <a:ext uri="{FF2B5EF4-FFF2-40B4-BE49-F238E27FC236}">
                  <a16:creationId xmlns:a16="http://schemas.microsoft.com/office/drawing/2014/main" id="{3986BF6C-A6A0-4863-B260-4CB1CF32AE56}"/>
                </a:ext>
              </a:extLst>
            </p:cNvPr>
            <p:cNvSpPr txBox="1"/>
            <p:nvPr/>
          </p:nvSpPr>
          <p:spPr>
            <a:xfrm>
              <a:off x="-66845" y="142997"/>
              <a:ext cx="1405105" cy="148546"/>
            </a:xfrm>
            <a:prstGeom prst="round2Same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altLang="zh-TW" sz="2300" spc="9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6.</a:t>
              </a:r>
              <a:r>
                <a:rPr lang="zh-TW" altLang="en-US" sz="2300" spc="9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前</a:t>
              </a:r>
              <a:r>
                <a:rPr lang="en-US" altLang="zh-TW" sz="2300" spc="9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10</a:t>
              </a:r>
              <a:r>
                <a:rPr lang="zh-TW" altLang="en-US" sz="2300" spc="9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個重要基因</a:t>
              </a:r>
              <a:r>
                <a:rPr lang="en-US" altLang="zh-TW" sz="2300" spc="9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(</a:t>
              </a:r>
              <a:r>
                <a:rPr lang="en-US" sz="2300" spc="9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SHAP)</a:t>
              </a:r>
            </a:p>
          </p:txBody>
        </p:sp>
      </p:grpSp>
      <p:pic>
        <p:nvPicPr>
          <p:cNvPr id="212" name="圖片 211">
            <a:extLst>
              <a:ext uri="{FF2B5EF4-FFF2-40B4-BE49-F238E27FC236}">
                <a16:creationId xmlns:a16="http://schemas.microsoft.com/office/drawing/2014/main" id="{0C350E69-F0AD-433F-A523-AAC605DE3EB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91028" y="17373068"/>
            <a:ext cx="4878263" cy="3520431"/>
          </a:xfrm>
          <a:prstGeom prst="rect">
            <a:avLst/>
          </a:prstGeom>
        </p:spPr>
      </p:pic>
      <p:grpSp>
        <p:nvGrpSpPr>
          <p:cNvPr id="219" name="Group 18">
            <a:extLst>
              <a:ext uri="{FF2B5EF4-FFF2-40B4-BE49-F238E27FC236}">
                <a16:creationId xmlns:a16="http://schemas.microsoft.com/office/drawing/2014/main" id="{F079332A-75E4-414C-9086-B9B816FD1B43}"/>
              </a:ext>
            </a:extLst>
          </p:cNvPr>
          <p:cNvGrpSpPr/>
          <p:nvPr/>
        </p:nvGrpSpPr>
        <p:grpSpPr>
          <a:xfrm>
            <a:off x="9791997" y="16634450"/>
            <a:ext cx="5065228" cy="887572"/>
            <a:chOff x="-57866" y="40826"/>
            <a:chExt cx="1427638" cy="148546"/>
          </a:xfrm>
        </p:grpSpPr>
        <p:sp>
          <p:nvSpPr>
            <p:cNvPr id="220" name="Freeform 19">
              <a:extLst>
                <a:ext uri="{FF2B5EF4-FFF2-40B4-BE49-F238E27FC236}">
                  <a16:creationId xmlns:a16="http://schemas.microsoft.com/office/drawing/2014/main" id="{201C8FFC-9E88-4342-800C-8EEC79C8AFD8}"/>
                </a:ext>
              </a:extLst>
            </p:cNvPr>
            <p:cNvSpPr/>
            <p:nvPr/>
          </p:nvSpPr>
          <p:spPr>
            <a:xfrm>
              <a:off x="-38772" y="70228"/>
              <a:ext cx="1408544" cy="98751"/>
            </a:xfrm>
            <a:prstGeom prst="round2SameRect">
              <a:avLst/>
            </a:prstGeom>
            <a:solidFill>
              <a:srgbClr val="004AAD"/>
            </a:soli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221" name="TextBox 20">
              <a:extLst>
                <a:ext uri="{FF2B5EF4-FFF2-40B4-BE49-F238E27FC236}">
                  <a16:creationId xmlns:a16="http://schemas.microsoft.com/office/drawing/2014/main" id="{D74E5F1E-6A51-48B9-A093-AF95535EAFF0}"/>
                </a:ext>
              </a:extLst>
            </p:cNvPr>
            <p:cNvSpPr txBox="1"/>
            <p:nvPr/>
          </p:nvSpPr>
          <p:spPr>
            <a:xfrm>
              <a:off x="-57866" y="40826"/>
              <a:ext cx="1405105" cy="148546"/>
            </a:xfrm>
            <a:prstGeom prst="round2Same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altLang="zh-TW" sz="2300" spc="9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7.</a:t>
              </a:r>
              <a:r>
                <a:rPr lang="zh-TW" altLang="en-US" sz="2300" spc="9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結論與未來展望</a:t>
              </a:r>
              <a:endParaRPr lang="en-US" sz="2300" spc="9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23" name="文字方塊 222">
            <a:extLst>
              <a:ext uri="{FF2B5EF4-FFF2-40B4-BE49-F238E27FC236}">
                <a16:creationId xmlns:a16="http://schemas.microsoft.com/office/drawing/2014/main" id="{2D72B2C4-171B-4E7D-AACC-B5F261D563A1}"/>
              </a:ext>
            </a:extLst>
          </p:cNvPr>
          <p:cNvSpPr txBox="1"/>
          <p:nvPr/>
        </p:nvSpPr>
        <p:spPr>
          <a:xfrm>
            <a:off x="10068267" y="17483758"/>
            <a:ext cx="46154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2"/>
                </a:solidFill>
              </a:rPr>
              <a:t>結論</a:t>
            </a:r>
            <a:endParaRPr lang="en-US" altLang="zh-TW" sz="1600" b="1" dirty="0">
              <a:solidFill>
                <a:schemeClr val="tx2"/>
              </a:solidFill>
            </a:endParaRPr>
          </a:p>
          <a:p>
            <a:r>
              <a:rPr lang="zh-TW" altLang="en-US" sz="1600" dirty="0"/>
              <a:t>本研究成功結合基因表達資料與機器學習方法，能有效將肺腺癌病人分類為高風險與低風險組，並達到高預測準確度。鑑定出的關鍵基因可作為肺腺癌診斷與後續治療的潛在生物標記。</a:t>
            </a:r>
          </a:p>
        </p:txBody>
      </p:sp>
      <p:sp>
        <p:nvSpPr>
          <p:cNvPr id="225" name="文字方塊 224">
            <a:extLst>
              <a:ext uri="{FF2B5EF4-FFF2-40B4-BE49-F238E27FC236}">
                <a16:creationId xmlns:a16="http://schemas.microsoft.com/office/drawing/2014/main" id="{1D46A296-A6CA-4503-8D19-FF19EA2ACDDF}"/>
              </a:ext>
            </a:extLst>
          </p:cNvPr>
          <p:cNvSpPr txBox="1"/>
          <p:nvPr/>
        </p:nvSpPr>
        <p:spPr>
          <a:xfrm>
            <a:off x="10091770" y="18920294"/>
            <a:ext cx="46012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2"/>
                </a:solidFill>
              </a:rPr>
              <a:t>未来展望</a:t>
            </a:r>
            <a:endParaRPr lang="en-US" altLang="zh-TW" sz="1600" b="1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整合多體學資料(miRNA、甲基化、突變)進行更全面分析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進行生存分析並建立預後模型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於獨立外部資料集驗證研究結果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開發臨床決策支援系統</a:t>
            </a:r>
          </a:p>
        </p:txBody>
      </p:sp>
      <p:pic>
        <p:nvPicPr>
          <p:cNvPr id="227" name="圖片 226">
            <a:extLst>
              <a:ext uri="{FF2B5EF4-FFF2-40B4-BE49-F238E27FC236}">
                <a16:creationId xmlns:a16="http://schemas.microsoft.com/office/drawing/2014/main" id="{043A7232-AEB8-46AC-82C3-927B5D58E00B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-114" t="-2682"/>
          <a:stretch/>
        </p:blipFill>
        <p:spPr>
          <a:xfrm>
            <a:off x="0" y="20985484"/>
            <a:ext cx="4572000" cy="388616"/>
          </a:xfrm>
          <a:prstGeom prst="rect">
            <a:avLst/>
          </a:prstGeom>
        </p:spPr>
      </p:pic>
      <p:pic>
        <p:nvPicPr>
          <p:cNvPr id="39" name="圖片 38" descr="一張含有 樣式, 正方形, 像素, 設計 的圖片&#10;&#10;自動產生的描述">
            <a:extLst>
              <a:ext uri="{FF2B5EF4-FFF2-40B4-BE49-F238E27FC236}">
                <a16:creationId xmlns:a16="http://schemas.microsoft.com/office/drawing/2014/main" id="{E0AC6FC0-FEC7-4CB6-BF18-35C8CBEB5963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1651" y="136000"/>
            <a:ext cx="1894509" cy="1894509"/>
          </a:xfrm>
          <a:prstGeom prst="rect">
            <a:avLst/>
          </a:prstGeom>
        </p:spPr>
      </p:pic>
      <p:sp>
        <p:nvSpPr>
          <p:cNvPr id="44" name="文字方塊 43">
            <a:extLst>
              <a:ext uri="{FF2B5EF4-FFF2-40B4-BE49-F238E27FC236}">
                <a16:creationId xmlns:a16="http://schemas.microsoft.com/office/drawing/2014/main" id="{95672ED5-069E-410E-8908-E3593627F51C}"/>
              </a:ext>
            </a:extLst>
          </p:cNvPr>
          <p:cNvSpPr txBox="1"/>
          <p:nvPr/>
        </p:nvSpPr>
        <p:spPr>
          <a:xfrm>
            <a:off x="12284637" y="2015405"/>
            <a:ext cx="2778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i="0" dirty="0">
                <a:solidFill>
                  <a:srgbClr val="FF0000"/>
                </a:solidFill>
                <a:effectLst/>
                <a:latin typeface="Source Sans"/>
              </a:rPr>
              <a:t> 肺腺癌分類與關鍵基因預測系統</a:t>
            </a:r>
          </a:p>
          <a:p>
            <a:endParaRPr lang="zh-TW" altLang="en-US" sz="1400" dirty="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3ECB56E-1804-4BCD-8E8A-8383126B3958}"/>
              </a:ext>
            </a:extLst>
          </p:cNvPr>
          <p:cNvSpPr/>
          <p:nvPr/>
        </p:nvSpPr>
        <p:spPr>
          <a:xfrm>
            <a:off x="12716954" y="120127"/>
            <a:ext cx="2003902" cy="1900712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rtlCol="0" anchor="ctr"/>
      <a:lstStyle>
        <a:defPPr algn="ctr">
          <a:defRPr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1761</TotalTime>
  <Words>773</Words>
  <Application>Microsoft Office PowerPoint</Application>
  <PresentationFormat>自訂</PresentationFormat>
  <Paragraphs>135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Calibri</vt:lpstr>
      <vt:lpstr>Noto Sans T Chinese</vt:lpstr>
      <vt:lpstr>Noto Sans T Chinese Bold</vt:lpstr>
      <vt:lpstr>Arial</vt:lpstr>
      <vt:lpstr>Poppins</vt:lpstr>
      <vt:lpstr>Source Sans</vt:lpstr>
      <vt:lpstr>Office Theme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利用基因表達資料的機器學習分析 掃描查看互動版 肺腺癌分類與關鍵基因探索 辨識關鍵基因並建立高準確度預測模型</dc:title>
  <cp:lastModifiedBy>康聖 劉</cp:lastModifiedBy>
  <cp:revision>8</cp:revision>
  <dcterms:created xsi:type="dcterms:W3CDTF">2006-08-16T00:00:00Z</dcterms:created>
  <dcterms:modified xsi:type="dcterms:W3CDTF">2026-05-11T14:24:09Z</dcterms:modified>
  <dc:identifier>DAHIQFXzyfQ</dc:identifier>
</cp:coreProperties>
</file>